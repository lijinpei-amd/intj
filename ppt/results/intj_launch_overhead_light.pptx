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host path</c:v>
                </c:pt>
              </c:strCache>
            </c:strRef>
          </c:tx>
          <c:spPr>
            <a:solidFill>
              <a:srgbClr val="2A78D6"/>
            </a:solidFill>
          </c:spPr>
          <c:invertIfNegative val="0"/>
          <c:cat>
            <c:strRef>
              <c:f>Sheet1!$A$2:$A$4</c:f>
              <c:strCache>
                <c:ptCount val="3"/>
                <c:pt idx="0">
                  <c:v>RTX 4080 SUPER</c:v>
                </c:pt>
                <c:pt idx="1">
                  <c:v>MI350X</c:v>
                </c:pt>
                <c:pt idx="2">
                  <c:v>MI308X</c:v>
                </c:pt>
              </c:strCache>
            </c:strRef>
          </c:cat>
          <c:val>
            <c:numRef>
              <c:f>Sheet1!$B$2:$B$4</c:f>
              <c:numCache>
                <c:formatCode>General</c:formatCode>
                <c:ptCount val="3"/>
                <c:pt idx="0">
                  <c:v>6.11</c:v>
                </c:pt>
                <c:pt idx="1">
                  <c:v>8.17</c:v>
                </c:pt>
                <c:pt idx="2">
                  <c:v>12.9</c:v>
                </c:pt>
              </c:numCache>
            </c:numRef>
          </c:val>
        </c:ser>
        <c:ser>
          <c:idx val="1"/>
          <c:order val="1"/>
          <c:tx>
            <c:strRef>
              <c:f>Sheet1!$C$1</c:f>
              <c:strCache>
                <c:ptCount val="1"/>
                <c:pt idx="0">
                  <c:v>driver launch + rest</c:v>
                </c:pt>
              </c:strCache>
            </c:strRef>
          </c:tx>
          <c:spPr>
            <a:solidFill>
              <a:srgbClr val="6B7079"/>
            </a:solidFill>
          </c:spPr>
          <c:invertIfNegative val="0"/>
          <c:cat>
            <c:strRef>
              <c:f>Sheet1!$A$2:$A$4</c:f>
              <c:strCache>
                <c:ptCount val="3"/>
                <c:pt idx="0">
                  <c:v>RTX 4080 SUPER</c:v>
                </c:pt>
                <c:pt idx="1">
                  <c:v>MI350X</c:v>
                </c:pt>
                <c:pt idx="2">
                  <c:v>MI308X</c:v>
                </c:pt>
              </c:strCache>
            </c:strRef>
          </c:cat>
          <c:val>
            <c:numRef>
              <c:f>Sheet1!$C$2:$C$4</c:f>
              <c:numCache>
                <c:formatCode>General</c:formatCode>
                <c:ptCount val="3"/>
                <c:pt idx="0">
                  <c:v>1.9899999999999993</c:v>
                </c:pt>
                <c:pt idx="1">
                  <c:v>2.790000000000001</c:v>
                </c:pt>
                <c:pt idx="2">
                  <c:v>3.6599999999999984</c:v>
                </c:pt>
              </c:numCache>
            </c:numRef>
          </c:val>
        </c:ser>
        <c:dLbls>
          <c:numFmt formatCode="0.0" sourceLinked="0"/>
          <c:txPr>
            <a:bodyPr/>
            <a:lstStyle/>
            <a:p>
              <a:pPr>
                <a:defRPr sz="12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l"/>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b"/>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Triton</c:v>
                </c:pt>
              </c:strCache>
            </c:strRef>
          </c:tx>
          <c:spPr>
            <a:solidFill>
              <a:srgbClr val="2A78D6"/>
            </a:solidFill>
          </c:spPr>
          <c:invertIfNegative val="0"/>
          <c:cat>
            <c:strRef>
              <c:f>Sheet1!$A$2:$A$4</c:f>
              <c:strCache>
                <c:ptCount val="3"/>
                <c:pt idx="0">
                  <c:v>MI308X</c:v>
                </c:pt>
                <c:pt idx="1">
                  <c:v>MI350X</c:v>
                </c:pt>
                <c:pt idx="2">
                  <c:v>RTX 4080 SUPER</c:v>
                </c:pt>
              </c:strCache>
            </c:strRef>
          </c:cat>
          <c:val>
            <c:numRef>
              <c:f>Sheet1!$B$2:$B$4</c:f>
              <c:numCache>
                <c:formatCode>General</c:formatCode>
                <c:ptCount val="3"/>
                <c:pt idx="0">
                  <c:v>16.56</c:v>
                </c:pt>
                <c:pt idx="1">
                  <c:v>10.96</c:v>
                </c:pt>
                <c:pt idx="2">
                  <c:v>8.1</c:v>
                </c:pt>
              </c:numCache>
            </c:numRef>
          </c:val>
        </c:ser>
        <c:ser>
          <c:idx val="1"/>
          <c:order val="1"/>
          <c:tx>
            <c:strRef>
              <c:f>Sheet1!$C$1</c:f>
              <c:strCache>
                <c:ptCount val="1"/>
                <c:pt idx="0">
                  <c:v>intj</c:v>
                </c:pt>
              </c:strCache>
            </c:strRef>
          </c:tx>
          <c:spPr>
            <a:solidFill>
              <a:srgbClr val="EB6834"/>
            </a:solidFill>
          </c:spPr>
          <c:invertIfNegative val="0"/>
          <c:cat>
            <c:strRef>
              <c:f>Sheet1!$A$2:$A$4</c:f>
              <c:strCache>
                <c:ptCount val="3"/>
                <c:pt idx="0">
                  <c:v>MI308X</c:v>
                </c:pt>
                <c:pt idx="1">
                  <c:v>MI350X</c:v>
                </c:pt>
                <c:pt idx="2">
                  <c:v>RTX 4080 SUPER</c:v>
                </c:pt>
              </c:strCache>
            </c:strRef>
          </c:cat>
          <c:val>
            <c:numRef>
              <c:f>Sheet1!$C$2:$C$4</c:f>
              <c:numCache>
                <c:formatCode>General</c:formatCode>
                <c:ptCount val="3"/>
                <c:pt idx="0">
                  <c:v>3.45</c:v>
                </c:pt>
                <c:pt idx="1">
                  <c:v>3.14</c:v>
                </c:pt>
                <c:pt idx="2">
                  <c:v>1.31</c:v>
                </c:pt>
              </c:numCache>
            </c:numRef>
          </c:val>
        </c:ser>
        <c:dLbls>
          <c:numFmt formatCode="0.00" sourceLinked="0"/>
          <c:txPr>
            <a:bodyPr/>
            <a:lstStyle/>
            <a:p>
              <a:pPr>
                <a:defRPr sz="1200" b="1">
                  <a:solidFill>
                    <a:srgbClr val="1B1F24"/>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2A78D6"/>
              </a:solidFill>
            </a:ln>
          </c:spPr>
          <c:marker>
            <c:symbol val="circle"/>
            <c:size val="7"/>
            <c:spPr>
              <a:solidFill>
                <a:srgbClr val="2A78D6"/>
              </a:solidFill>
              <a:ln>
                <a:solidFill>
                  <a:srgbClr val="2A78D6"/>
                </a:solidFill>
              </a:ln>
            </c:spPr>
          </c:marker>
          <c:cat>
            <c:strRef>
              <c:f>Sheet1!$A$2:$A$9</c:f>
              <c:strCache>
                <c:ptCount val="8"/>
                <c:pt idx="0">
                  <c:v>0</c:v>
                </c:pt>
                <c:pt idx="1">
                  <c:v>1</c:v>
                </c:pt>
                <c:pt idx="2">
                  <c:v>2</c:v>
                </c:pt>
                <c:pt idx="3">
                  <c:v>4</c:v>
                </c:pt>
                <c:pt idx="4">
                  <c:v>8</c:v>
                </c:pt>
                <c:pt idx="5">
                  <c:v>16</c:v>
                </c:pt>
                <c:pt idx="6">
                  <c:v>32</c:v>
                </c:pt>
                <c:pt idx="7">
                  <c:v>64</c:v>
                </c:pt>
              </c:strCache>
            </c:strRef>
          </c:cat>
          <c:val>
            <c:numRef>
              <c:f>Sheet1!$B$2:$B$9</c:f>
              <c:numCache>
                <c:formatCode>General</c:formatCode>
                <c:ptCount val="8"/>
                <c:pt idx="0">
                  <c:v>8.723</c:v>
                </c:pt>
                <c:pt idx="1">
                  <c:v>11.574</c:v>
                </c:pt>
                <c:pt idx="2">
                  <c:v>13.7</c:v>
                </c:pt>
                <c:pt idx="3">
                  <c:v>17.476</c:v>
                </c:pt>
                <c:pt idx="4">
                  <c:v>25.75</c:v>
                </c:pt>
                <c:pt idx="5">
                  <c:v>41.81</c:v>
                </c:pt>
                <c:pt idx="6">
                  <c:v>73.89</c:v>
                </c:pt>
                <c:pt idx="7">
                  <c:v>135.969</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Sheet1!$A$2:$A$9</c:f>
              <c:strCache>
                <c:ptCount val="8"/>
                <c:pt idx="0">
                  <c:v>0</c:v>
                </c:pt>
                <c:pt idx="1">
                  <c:v>1</c:v>
                </c:pt>
                <c:pt idx="2">
                  <c:v>2</c:v>
                </c:pt>
                <c:pt idx="3">
                  <c:v>4</c:v>
                </c:pt>
                <c:pt idx="4">
                  <c:v>8</c:v>
                </c:pt>
                <c:pt idx="5">
                  <c:v>16</c:v>
                </c:pt>
                <c:pt idx="6">
                  <c:v>32</c:v>
                </c:pt>
                <c:pt idx="7">
                  <c:v>64</c:v>
                </c:pt>
              </c:strCache>
            </c:strRef>
          </c:cat>
          <c:val>
            <c:numRef>
              <c:f>Sheet1!$C$2:$C$9</c:f>
              <c:numCache>
                <c:formatCode>General</c:formatCode>
                <c:ptCount val="8"/>
                <c:pt idx="0">
                  <c:v>3.191</c:v>
                </c:pt>
                <c:pt idx="1">
                  <c:v>3.214</c:v>
                </c:pt>
                <c:pt idx="2">
                  <c:v>3.377</c:v>
                </c:pt>
                <c:pt idx="3">
                  <c:v>3.362</c:v>
                </c:pt>
                <c:pt idx="4">
                  <c:v>3.648</c:v>
                </c:pt>
                <c:pt idx="5">
                  <c:v>4.134</c:v>
                </c:pt>
                <c:pt idx="6">
                  <c:v>5.131</c:v>
                </c:pt>
                <c:pt idx="7">
                  <c:v>7.314</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count</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2A78D6"/>
              </a:solidFill>
            </a:ln>
          </c:spPr>
          <c:marker>
            <c:symbol val="circle"/>
            <c:size val="7"/>
            <c:spPr>
              <a:solidFill>
                <a:srgbClr val="2A78D6"/>
              </a:solidFill>
              <a:ln>
                <a:solidFill>
                  <a:srgbClr val="2A78D6"/>
                </a:solidFill>
              </a:ln>
            </c:spPr>
          </c:marker>
          <c:cat>
            <c:strRef>
              <c:f>Sheet1!$A$2:$A$8</c:f>
              <c:strCache>
                <c:ptCount val="7"/>
                <c:pt idx="0">
                  <c:v>0</c:v>
                </c:pt>
                <c:pt idx="1">
                  <c:v>1</c:v>
                </c:pt>
                <c:pt idx="2">
                  <c:v>2</c:v>
                </c:pt>
                <c:pt idx="3">
                  <c:v>4</c:v>
                </c:pt>
                <c:pt idx="4">
                  <c:v>8</c:v>
                </c:pt>
                <c:pt idx="5">
                  <c:v>16</c:v>
                </c:pt>
                <c:pt idx="6">
                  <c:v>32</c:v>
                </c:pt>
              </c:strCache>
            </c:strRef>
          </c:cat>
          <c:val>
            <c:numRef>
              <c:f>Sheet1!$B$2:$B$8</c:f>
              <c:numCache>
                <c:formatCode>General</c:formatCode>
                <c:ptCount val="7"/>
                <c:pt idx="0">
                  <c:v>17.895</c:v>
                </c:pt>
                <c:pt idx="1">
                  <c:v>17.699</c:v>
                </c:pt>
                <c:pt idx="2">
                  <c:v>17.873</c:v>
                </c:pt>
                <c:pt idx="3">
                  <c:v>18.331</c:v>
                </c:pt>
                <c:pt idx="4">
                  <c:v>18.543</c:v>
                </c:pt>
                <c:pt idx="5">
                  <c:v>19.73</c:v>
                </c:pt>
                <c:pt idx="6">
                  <c:v>22.275</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Sheet1!$A$2:$A$8</c:f>
              <c:strCache>
                <c:ptCount val="7"/>
                <c:pt idx="0">
                  <c:v>0</c:v>
                </c:pt>
                <c:pt idx="1">
                  <c:v>1</c:v>
                </c:pt>
                <c:pt idx="2">
                  <c:v>2</c:v>
                </c:pt>
                <c:pt idx="3">
                  <c:v>4</c:v>
                </c:pt>
                <c:pt idx="4">
                  <c:v>8</c:v>
                </c:pt>
                <c:pt idx="5">
                  <c:v>16</c:v>
                </c:pt>
                <c:pt idx="6">
                  <c:v>32</c:v>
                </c:pt>
              </c:strCache>
            </c:strRef>
          </c:cat>
          <c:val>
            <c:numRef>
              <c:f>Sheet1!$C$2:$C$8</c:f>
              <c:numCache>
                <c:formatCode>General</c:formatCode>
                <c:ptCount val="7"/>
                <c:pt idx="0">
                  <c:v>3.501</c:v>
                </c:pt>
                <c:pt idx="1">
                  <c:v>3.357</c:v>
                </c:pt>
                <c:pt idx="2">
                  <c:v>3.367</c:v>
                </c:pt>
                <c:pt idx="3">
                  <c:v>3.342</c:v>
                </c:pt>
                <c:pt idx="4">
                  <c:v>3.365</c:v>
                </c:pt>
                <c:pt idx="5">
                  <c:v>3.398</c:v>
                </c:pt>
                <c:pt idx="6">
                  <c:v>3.466</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count</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2A78D6"/>
              </a:solidFill>
            </a:ln>
          </c:spPr>
          <c:marker>
            <c:symbol val="circle"/>
            <c:size val="7"/>
            <c:spPr>
              <a:solidFill>
                <a:srgbClr val="2A78D6"/>
              </a:solidFill>
              <a:ln>
                <a:solidFill>
                  <a:srgbClr val="2A78D6"/>
                </a:solidFill>
              </a:ln>
            </c:spPr>
          </c:marker>
          <c:cat>
            <c:strRef>
              <c:f>Sheet1!$A$2:$A$12</c:f>
              <c:strCache>
                <c:ptCount val="11"/>
                <c:pt idx="0">
                  <c:v>1</c:v>
                </c:pt>
                <c:pt idx="1">
                  <c:v>2</c:v>
                </c:pt>
                <c:pt idx="2">
                  <c:v>4</c:v>
                </c:pt>
                <c:pt idx="3">
                  <c:v>8</c:v>
                </c:pt>
                <c:pt idx="4">
                  <c:v>16</c:v>
                </c:pt>
                <c:pt idx="5">
                  <c:v>32</c:v>
                </c:pt>
                <c:pt idx="6">
                  <c:v>64</c:v>
                </c:pt>
                <c:pt idx="7">
                  <c:v>128</c:v>
                </c:pt>
                <c:pt idx="8">
                  <c:v>256</c:v>
                </c:pt>
                <c:pt idx="9">
                  <c:v>512</c:v>
                </c:pt>
                <c:pt idx="10">
                  <c:v>1024</c:v>
                </c:pt>
              </c:strCache>
            </c:strRef>
          </c:cat>
          <c:val>
            <c:numRef>
              <c:f>Sheet1!$B$2:$B$12</c:f>
              <c:numCache>
                <c:formatCode>General</c:formatCode>
                <c:ptCount val="11"/>
                <c:pt idx="0">
                  <c:v>17.801</c:v>
                </c:pt>
                <c:pt idx="1">
                  <c:v>17.87</c:v>
                </c:pt>
                <c:pt idx="2">
                  <c:v>17.905</c:v>
                </c:pt>
                <c:pt idx="3">
                  <c:v>17.589</c:v>
                </c:pt>
                <c:pt idx="4">
                  <c:v>17.818</c:v>
                </c:pt>
                <c:pt idx="5">
                  <c:v>17.739</c:v>
                </c:pt>
                <c:pt idx="6">
                  <c:v>17.773</c:v>
                </c:pt>
                <c:pt idx="7">
                  <c:v>18.002</c:v>
                </c:pt>
                <c:pt idx="8">
                  <c:v>17.978</c:v>
                </c:pt>
                <c:pt idx="9">
                  <c:v>18.554</c:v>
                </c:pt>
                <c:pt idx="10">
                  <c:v>18.801</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Sheet1!$A$2:$A$12</c:f>
              <c:strCache>
                <c:ptCount val="11"/>
                <c:pt idx="0">
                  <c:v>1</c:v>
                </c:pt>
                <c:pt idx="1">
                  <c:v>2</c:v>
                </c:pt>
                <c:pt idx="2">
                  <c:v>4</c:v>
                </c:pt>
                <c:pt idx="3">
                  <c:v>8</c:v>
                </c:pt>
                <c:pt idx="4">
                  <c:v>16</c:v>
                </c:pt>
                <c:pt idx="5">
                  <c:v>32</c:v>
                </c:pt>
                <c:pt idx="6">
                  <c:v>64</c:v>
                </c:pt>
                <c:pt idx="7">
                  <c:v>128</c:v>
                </c:pt>
                <c:pt idx="8">
                  <c:v>256</c:v>
                </c:pt>
                <c:pt idx="9">
                  <c:v>512</c:v>
                </c:pt>
                <c:pt idx="10">
                  <c:v>1024</c:v>
                </c:pt>
              </c:strCache>
            </c:strRef>
          </c:cat>
          <c:val>
            <c:numRef>
              <c:f>Sheet1!$C$2:$C$12</c:f>
              <c:numCache>
                <c:formatCode>General</c:formatCode>
                <c:ptCount val="11"/>
                <c:pt idx="0">
                  <c:v>3.531</c:v>
                </c:pt>
                <c:pt idx="1">
                  <c:v>3.549</c:v>
                </c:pt>
                <c:pt idx="2">
                  <c:v>3.413</c:v>
                </c:pt>
                <c:pt idx="3">
                  <c:v>3.416</c:v>
                </c:pt>
                <c:pt idx="4">
                  <c:v>3.487</c:v>
                </c:pt>
                <c:pt idx="5">
                  <c:v>3.361</c:v>
                </c:pt>
                <c:pt idx="6">
                  <c:v>3.579</c:v>
                </c:pt>
                <c:pt idx="7">
                  <c:v>3.488</c:v>
                </c:pt>
                <c:pt idx="8">
                  <c:v>3.577</c:v>
                </c:pt>
                <c:pt idx="9">
                  <c:v>3.707</c:v>
                </c:pt>
                <c:pt idx="10">
                  <c:v>3.86</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kernels in cache</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Triton</c:v>
                </c:pt>
              </c:strCache>
            </c:strRef>
          </c:tx>
          <c:spPr>
            <a:solidFill>
              <a:srgbClr val="2A78D6"/>
            </a:solidFill>
          </c:spPr>
          <c:invertIfNegative val="0"/>
          <c:cat>
            <c:strRef>
              <c:f>Sheet1!$A$2:$A$4</c:f>
              <c:strCache>
                <c:ptCount val="3"/>
                <c:pt idx="0">
                  <c:v>MI308X</c:v>
                </c:pt>
                <c:pt idx="1">
                  <c:v>MI350X</c:v>
                </c:pt>
                <c:pt idx="2">
                  <c:v>RTX 4080 SUPER</c:v>
                </c:pt>
              </c:strCache>
            </c:strRef>
          </c:cat>
          <c:val>
            <c:numRef>
              <c:f>Sheet1!$B$2:$B$4</c:f>
              <c:numCache>
                <c:formatCode>General</c:formatCode>
                <c:ptCount val="3"/>
                <c:pt idx="0">
                  <c:v>11.2307</c:v>
                </c:pt>
                <c:pt idx="1">
                  <c:v>7.722</c:v>
                </c:pt>
                <c:pt idx="2">
                  <c:v>6.4557</c:v>
                </c:pt>
              </c:numCache>
            </c:numRef>
          </c:val>
        </c:ser>
        <c:ser>
          <c:idx val="1"/>
          <c:order val="1"/>
          <c:tx>
            <c:strRef>
              <c:f>Sheet1!$C$1</c:f>
              <c:strCache>
                <c:ptCount val="1"/>
                <c:pt idx="0">
                  <c:v>TVM FFI</c:v>
                </c:pt>
              </c:strCache>
            </c:strRef>
          </c:tx>
          <c:spPr>
            <a:solidFill>
              <a:srgbClr val="1BAF7A"/>
            </a:solidFill>
          </c:spPr>
          <c:invertIfNegative val="0"/>
          <c:cat>
            <c:strRef>
              <c:f>Sheet1!$A$2:$A$4</c:f>
              <c:strCache>
                <c:ptCount val="3"/>
                <c:pt idx="0">
                  <c:v>MI308X</c:v>
                </c:pt>
                <c:pt idx="1">
                  <c:v>MI350X</c:v>
                </c:pt>
                <c:pt idx="2">
                  <c:v>RTX 4080 SUPER</c:v>
                </c:pt>
              </c:strCache>
            </c:strRef>
          </c:cat>
          <c:val>
            <c:numRef>
              <c:f>Sheet1!$C$2:$C$4</c:f>
              <c:numCache>
                <c:formatCode>General</c:formatCode>
                <c:ptCount val="3"/>
                <c:pt idx="0">
                  <c:v>3.2229</c:v>
                </c:pt>
                <c:pt idx="1">
                  <c:v>2.8353</c:v>
                </c:pt>
                <c:pt idx="2">
                  <c:v>1.4996</c:v>
                </c:pt>
              </c:numCache>
            </c:numRef>
          </c:val>
        </c:ser>
        <c:ser>
          <c:idx val="2"/>
          <c:order val="2"/>
          <c:tx>
            <c:strRef>
              <c:f>Sheet1!$D$1</c:f>
              <c:strCache>
                <c:ptCount val="1"/>
                <c:pt idx="0">
                  <c:v>intj</c:v>
                </c:pt>
              </c:strCache>
            </c:strRef>
          </c:tx>
          <c:spPr>
            <a:solidFill>
              <a:srgbClr val="EB6834"/>
            </a:solidFill>
          </c:spPr>
          <c:invertIfNegative val="0"/>
          <c:cat>
            <c:strRef>
              <c:f>Sheet1!$A$2:$A$4</c:f>
              <c:strCache>
                <c:ptCount val="3"/>
                <c:pt idx="0">
                  <c:v>MI308X</c:v>
                </c:pt>
                <c:pt idx="1">
                  <c:v>MI350X</c:v>
                </c:pt>
                <c:pt idx="2">
                  <c:v>RTX 4080 SUPER</c:v>
                </c:pt>
              </c:strCache>
            </c:strRef>
          </c:cat>
          <c:val>
            <c:numRef>
              <c:f>Sheet1!$D$2:$D$4</c:f>
              <c:numCache>
                <c:formatCode>General</c:formatCode>
                <c:ptCount val="3"/>
                <c:pt idx="0">
                  <c:v>3.0098</c:v>
                </c:pt>
                <c:pt idx="1">
                  <c:v>2.7701</c:v>
                </c:pt>
                <c:pt idx="2">
                  <c:v>1.3058</c:v>
                </c:pt>
              </c:numCache>
            </c:numRef>
          </c:val>
        </c:ser>
        <c:dLbls>
          <c:numFmt formatCode="0.00" sourceLinked="0"/>
          <c:txPr>
            <a:bodyPr/>
            <a:lstStyle/>
            <a:p>
              <a:pPr>
                <a:defRPr sz="1000" b="1">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1BAF7A"/>
              </a:solidFill>
            </a:ln>
          </c:spPr>
          <c:marker>
            <c:symbol val="circle"/>
            <c:size val="7"/>
            <c:spPr>
              <a:solidFill>
                <a:srgbClr val="1BAF7A"/>
              </a:solidFill>
              <a:ln>
                <a:solidFill>
                  <a:srgbClr val="1BAF7A"/>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1.721</c:v>
                </c:pt>
                <c:pt idx="1">
                  <c:v>3.3605</c:v>
                </c:pt>
                <c:pt idx="2">
                  <c:v>3.3823</c:v>
                </c:pt>
                <c:pt idx="3">
                  <c:v>3.4675</c:v>
                </c:pt>
                <c:pt idx="4">
                  <c:v>3.732</c:v>
                </c:pt>
                <c:pt idx="5">
                  <c:v>4.2427</c:v>
                </c:pt>
                <c:pt idx="6">
                  <c:v>5.3828</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2.8367</c:v>
                </c:pt>
                <c:pt idx="1">
                  <c:v>3.0202</c:v>
                </c:pt>
                <c:pt idx="2">
                  <c:v>3.0442</c:v>
                </c:pt>
                <c:pt idx="3">
                  <c:v>3.0774</c:v>
                </c:pt>
                <c:pt idx="4">
                  <c:v>3.4569</c:v>
                </c:pt>
                <c:pt idx="5">
                  <c:v>3.8119</c:v>
                </c:pt>
                <c:pt idx="6">
                  <c:v>4.933</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arguments</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1BAF7A"/>
              </a:solidFill>
            </a:ln>
          </c:spPr>
          <c:marker>
            <c:symbol val="circle"/>
            <c:size val="7"/>
            <c:spPr>
              <a:solidFill>
                <a:srgbClr val="1BAF7A"/>
              </a:solidFill>
              <a:ln>
                <a:solidFill>
                  <a:srgbClr val="1BAF7A"/>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1.1366</c:v>
                </c:pt>
                <c:pt idx="1">
                  <c:v>2.7409</c:v>
                </c:pt>
                <c:pt idx="2">
                  <c:v>2.7936</c:v>
                </c:pt>
                <c:pt idx="3">
                  <c:v>2.7379</c:v>
                </c:pt>
                <c:pt idx="4">
                  <c:v>3.0348</c:v>
                </c:pt>
                <c:pt idx="5">
                  <c:v>3.2732</c:v>
                </c:pt>
                <c:pt idx="6">
                  <c:v>3.6975</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2.548</c:v>
                </c:pt>
                <c:pt idx="1">
                  <c:v>2.5318</c:v>
                </c:pt>
                <c:pt idx="2">
                  <c:v>2.5334</c:v>
                </c:pt>
                <c:pt idx="3">
                  <c:v>2.6417</c:v>
                </c:pt>
                <c:pt idx="4">
                  <c:v>2.7899</c:v>
                </c:pt>
                <c:pt idx="5">
                  <c:v>2.8637</c:v>
                </c:pt>
                <c:pt idx="6">
                  <c:v>3.4795</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arguments</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1BAF7A"/>
              </a:solidFill>
            </a:ln>
          </c:spPr>
          <c:marker>
            <c:symbol val="circle"/>
            <c:size val="7"/>
            <c:spPr>
              <a:solidFill>
                <a:srgbClr val="1BAF7A"/>
              </a:solidFill>
              <a:ln>
                <a:solidFill>
                  <a:srgbClr val="1BAF7A"/>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1.4779</c:v>
                </c:pt>
                <c:pt idx="1">
                  <c:v>1.5108</c:v>
                </c:pt>
                <c:pt idx="2">
                  <c:v>1.5343</c:v>
                </c:pt>
                <c:pt idx="3">
                  <c:v>1.5667</c:v>
                </c:pt>
                <c:pt idx="4">
                  <c:v>1.6634</c:v>
                </c:pt>
                <c:pt idx="5">
                  <c:v>1.9445</c:v>
                </c:pt>
                <c:pt idx="6">
                  <c:v>2.3569</c:v>
                </c:pt>
              </c:numCache>
            </c:numRef>
          </c:val>
          <c:smooth val="0"/>
        </c:ser>
        <c:ser>
          <c:idx val="1"/>
          <c:order val="1"/>
          <c:tx>
            <c:strRef>
              <c:f>Sheet1!$C$1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1.2742</c:v>
                </c:pt>
                <c:pt idx="1">
                  <c:v>1.3026</c:v>
                </c:pt>
                <c:pt idx="2">
                  <c:v>1.304</c:v>
                </c:pt>
                <c:pt idx="3">
                  <c:v>1.3064</c:v>
                </c:pt>
                <c:pt idx="4">
                  <c:v>1.3247</c:v>
                </c:pt>
                <c:pt idx="5">
                  <c:v>1.4802</c:v>
                </c:pt>
                <c:pt idx="6">
                  <c:v>1.6284</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7A7F87"/>
                    </a:solidFill>
                    <a:latin typeface="Calibri"/>
                  </a:rPr>
                  <a:t>arguments</a:t>
                </a:r>
              </a:p>
            </c:rich>
          </c:tx>
          <c:layout/>
          <c:overlay val="0"/>
        </c:title>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upstream</c:v>
                </c:pt>
              </c:strCache>
            </c:strRef>
          </c:tx>
          <c:spPr>
            <a:solidFill>
              <a:srgbClr val="2A78D6"/>
            </a:solidFill>
          </c:spPr>
          <c:invertIfNegative val="0"/>
          <c:cat>
            <c:strRef>
              <c:f>Sheet1!$A$2:$A$4</c:f>
              <c:strCache>
                <c:ptCount val="3"/>
                <c:pt idx="0">
                  <c:v>fused KDA decode</c:v>
                </c:pt>
                <c:pt idx="1">
                  <c:v>FlashKDA (Gluon)</c:v>
                </c:pt>
                <c:pt idx="2">
                  <c:v>fp8_mqa_logits</c:v>
                </c:pt>
              </c:strCache>
            </c:strRef>
          </c:cat>
          <c:val>
            <c:numRef>
              <c:f>Sheet1!$B$2:$B$4</c:f>
              <c:numCache>
                <c:formatCode>General</c:formatCode>
                <c:ptCount val="3"/>
                <c:pt idx="0">
                  <c:v>31.814999999999998</c:v>
                </c:pt>
                <c:pt idx="1">
                  <c:v>51.6</c:v>
                </c:pt>
                <c:pt idx="2">
                  <c:v>35.37</c:v>
                </c:pt>
              </c:numCache>
            </c:numRef>
          </c:val>
        </c:ser>
        <c:ser>
          <c:idx val="1"/>
          <c:order val="1"/>
          <c:tx>
            <c:strRef>
              <c:f>Sheet1!$C$1</c:f>
              <c:strCache>
                <c:ptCount val="1"/>
                <c:pt idx="0">
                  <c:v>intj</c:v>
                </c:pt>
              </c:strCache>
            </c:strRef>
          </c:tx>
          <c:spPr>
            <a:solidFill>
              <a:srgbClr val="EB6834"/>
            </a:solidFill>
          </c:spPr>
          <c:invertIfNegative val="0"/>
          <c:cat>
            <c:strRef>
              <c:f>Sheet1!$A$2:$A$4</c:f>
              <c:strCache>
                <c:ptCount val="3"/>
                <c:pt idx="0">
                  <c:v>fused KDA decode</c:v>
                </c:pt>
                <c:pt idx="1">
                  <c:v>FlashKDA (Gluon)</c:v>
                </c:pt>
                <c:pt idx="2">
                  <c:v>fp8_mqa_logits</c:v>
                </c:pt>
              </c:strCache>
            </c:strRef>
          </c:cat>
          <c:val>
            <c:numRef>
              <c:f>Sheet1!$C$2:$C$4</c:f>
              <c:numCache>
                <c:formatCode>General</c:formatCode>
                <c:ptCount val="3"/>
                <c:pt idx="0">
                  <c:v>7.015</c:v>
                </c:pt>
                <c:pt idx="1">
                  <c:v>26.84</c:v>
                </c:pt>
                <c:pt idx="2">
                  <c:v>14.8</c:v>
                </c:pt>
              </c:numCache>
            </c:numRef>
          </c:val>
        </c:ser>
        <c:dLbls>
          <c:numFmt formatCode="0.0" sourceLinked="0"/>
          <c:txPr>
            <a:bodyPr/>
            <a:lstStyle/>
            <a:p>
              <a:pPr>
                <a:defRPr sz="1200" b="1">
                  <a:solidFill>
                    <a:srgbClr val="1B1F24"/>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GPU kernel</c:v>
                </c:pt>
              </c:strCache>
            </c:strRef>
          </c:tx>
          <c:spPr>
            <a:ln w="28575">
              <a:solidFill>
                <a:srgbClr val="1BAF7A"/>
              </a:solidFill>
            </a:ln>
          </c:spPr>
          <c:marker>
            <c:symbol val="circle"/>
            <c:size val="7"/>
            <c:spPr>
              <a:solidFill>
                <a:srgbClr val="1BAF7A"/>
              </a:solidFill>
              <a:ln>
                <a:solidFill>
                  <a:srgbClr val="1BAF7A"/>
                </a:solidFill>
              </a:ln>
            </c:spPr>
          </c:marker>
          <c:cat>
            <c:strRef>
              <c:f>Sheet1!$A$2:$A$7</c:f>
              <c:strCache>
                <c:ptCount val="6"/>
                <c:pt idx="0">
                  <c:v>1</c:v>
                </c:pt>
                <c:pt idx="1">
                  <c:v>4</c:v>
                </c:pt>
                <c:pt idx="2">
                  <c:v>8</c:v>
                </c:pt>
                <c:pt idx="3">
                  <c:v>16</c:v>
                </c:pt>
                <c:pt idx="4">
                  <c:v>32</c:v>
                </c:pt>
                <c:pt idx="5">
                  <c:v>64</c:v>
                </c:pt>
              </c:strCache>
            </c:strRef>
          </c:cat>
          <c:val>
            <c:numRef>
              <c:f>Sheet1!$B$2:$B$7</c:f>
              <c:numCache>
                <c:formatCode>General</c:formatCode>
                <c:ptCount val="6"/>
                <c:pt idx="0">
                  <c:v>13.04</c:v>
                </c:pt>
                <c:pt idx="1">
                  <c:v>12.93</c:v>
                </c:pt>
                <c:pt idx="2">
                  <c:v>13.45</c:v>
                </c:pt>
                <c:pt idx="3">
                  <c:v>14.61</c:v>
                </c:pt>
                <c:pt idx="4">
                  <c:v>25.81</c:v>
                </c:pt>
                <c:pt idx="5">
                  <c:v>46.06</c:v>
                </c:pt>
              </c:numCache>
            </c:numRef>
          </c:val>
          <c:smooth val="0"/>
        </c:ser>
        <c:ser>
          <c:idx val="1"/>
          <c:order val="1"/>
          <c:tx>
            <c:strRef>
              <c:f>Sheet1!$C$1</c:f>
              <c:strCache>
                <c:ptCount val="1"/>
                <c:pt idx="0">
                  <c:v>upstream</c:v>
                </c:pt>
              </c:strCache>
            </c:strRef>
          </c:tx>
          <c:spPr>
            <a:ln w="28575">
              <a:solidFill>
                <a:srgbClr val="2A78D6"/>
              </a:solidFill>
            </a:ln>
          </c:spPr>
          <c:marker>
            <c:symbol val="circle"/>
            <c:size val="7"/>
            <c:spPr>
              <a:solidFill>
                <a:srgbClr val="2A78D6"/>
              </a:solidFill>
              <a:ln>
                <a:solidFill>
                  <a:srgbClr val="2A78D6"/>
                </a:solidFill>
              </a:ln>
            </c:spPr>
          </c:marker>
          <c:cat>
            <c:strRef>
              <c:f>Sheet1!$A$2:$A$7</c:f>
              <c:strCache>
                <c:ptCount val="6"/>
                <c:pt idx="0">
                  <c:v>1</c:v>
                </c:pt>
                <c:pt idx="1">
                  <c:v>4</c:v>
                </c:pt>
                <c:pt idx="2">
                  <c:v>8</c:v>
                </c:pt>
                <c:pt idx="3">
                  <c:v>16</c:v>
                </c:pt>
                <c:pt idx="4">
                  <c:v>32</c:v>
                </c:pt>
                <c:pt idx="5">
                  <c:v>64</c:v>
                </c:pt>
              </c:strCache>
            </c:strRef>
          </c:cat>
          <c:val>
            <c:numRef>
              <c:f>Sheet1!$C$2:$C$7</c:f>
              <c:numCache>
                <c:formatCode>General</c:formatCode>
                <c:ptCount val="6"/>
                <c:pt idx="0">
                  <c:v>32.61</c:v>
                </c:pt>
                <c:pt idx="1">
                  <c:v>32.89</c:v>
                </c:pt>
                <c:pt idx="2">
                  <c:v>32.79</c:v>
                </c:pt>
                <c:pt idx="3">
                  <c:v>33.13</c:v>
                </c:pt>
                <c:pt idx="4">
                  <c:v>33.4</c:v>
                </c:pt>
                <c:pt idx="5">
                  <c:v>46.57</c:v>
                </c:pt>
              </c:numCache>
            </c:numRef>
          </c:val>
          <c:smooth val="0"/>
        </c:ser>
        <c:ser>
          <c:idx val="2"/>
          <c:order val="2"/>
          <c:tx>
            <c:strRef>
              <c:f>Sheet1!$D$1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Sheet1!$A$2:$A$7</c:f>
              <c:strCache>
                <c:ptCount val="6"/>
                <c:pt idx="0">
                  <c:v>1</c:v>
                </c:pt>
                <c:pt idx="1">
                  <c:v>4</c:v>
                </c:pt>
                <c:pt idx="2">
                  <c:v>8</c:v>
                </c:pt>
                <c:pt idx="3">
                  <c:v>16</c:v>
                </c:pt>
                <c:pt idx="4">
                  <c:v>32</c:v>
                </c:pt>
                <c:pt idx="5">
                  <c:v>64</c:v>
                </c:pt>
              </c:strCache>
            </c:strRef>
          </c:cat>
          <c:val>
            <c:numRef>
              <c:f>Sheet1!$D$2:$D$7</c:f>
              <c:numCache>
                <c:formatCode>General</c:formatCode>
                <c:ptCount val="6"/>
                <c:pt idx="0">
                  <c:v>12.56</c:v>
                </c:pt>
                <c:pt idx="1">
                  <c:v>12.74</c:v>
                </c:pt>
                <c:pt idx="2">
                  <c:v>13.07</c:v>
                </c:pt>
                <c:pt idx="3">
                  <c:v>14.0</c:v>
                </c:pt>
                <c:pt idx="4">
                  <c:v>25.29</c:v>
                </c:pt>
                <c:pt idx="5">
                  <c:v>45.66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majorUnit val="10.0"/>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GPU kernel</c:v>
                </c:pt>
              </c:strCache>
            </c:strRef>
          </c:tx>
          <c:spPr>
            <a:ln w="28575">
              <a:solidFill>
                <a:srgbClr val="1BAF7A"/>
              </a:solidFill>
            </a:ln>
          </c:spPr>
          <c:marker>
            <c:symbol val="circle"/>
            <c:size val="7"/>
            <c:spPr>
              <a:solidFill>
                <a:srgbClr val="1BAF7A"/>
              </a:solidFill>
              <a:ln>
                <a:solidFill>
                  <a:srgbClr val="1BAF7A"/>
                </a:solidFill>
              </a:ln>
            </c:spPr>
          </c:marker>
          <c:cat>
            <c:strRef>
              <c:f>Sheet1!$A$2:$A$6</c:f>
              <c:strCache>
                <c:ptCount val="5"/>
                <c:pt idx="0">
                  <c:v>128</c:v>
                </c:pt>
                <c:pt idx="1">
                  <c:v>256</c:v>
                </c:pt>
                <c:pt idx="2">
                  <c:v>512</c:v>
                </c:pt>
                <c:pt idx="3">
                  <c:v>1024</c:v>
                </c:pt>
                <c:pt idx="4">
                  <c:v>2048</c:v>
                </c:pt>
              </c:strCache>
            </c:strRef>
          </c:cat>
          <c:val>
            <c:numRef>
              <c:f>Sheet1!$B$2:$B$6</c:f>
              <c:numCache>
                <c:formatCode>General</c:formatCode>
                <c:ptCount val="5"/>
                <c:pt idx="0">
                  <c:v>5.93</c:v>
                </c:pt>
                <c:pt idx="1">
                  <c:v>9.2</c:v>
                </c:pt>
                <c:pt idx="2">
                  <c:v>12.12</c:v>
                </c:pt>
                <c:pt idx="3">
                  <c:v>16.72</c:v>
                </c:pt>
                <c:pt idx="4">
                  <c:v>35.53</c:v>
                </c:pt>
              </c:numCache>
            </c:numRef>
          </c:val>
          <c:smooth val="0"/>
        </c:ser>
        <c:ser>
          <c:idx val="1"/>
          <c:order val="1"/>
          <c:tx>
            <c:strRef>
              <c:f>Sheet1!$C$1</c:f>
              <c:strCache>
                <c:ptCount val="1"/>
                <c:pt idx="0">
                  <c:v>upstream</c:v>
                </c:pt>
              </c:strCache>
            </c:strRef>
          </c:tx>
          <c:spPr>
            <a:ln w="28575">
              <a:solidFill>
                <a:srgbClr val="2A78D6"/>
              </a:solidFill>
            </a:ln>
          </c:spPr>
          <c:marker>
            <c:symbol val="circle"/>
            <c:size val="7"/>
            <c:spPr>
              <a:solidFill>
                <a:srgbClr val="2A78D6"/>
              </a:solidFill>
              <a:ln>
                <a:solidFill>
                  <a:srgbClr val="2A78D6"/>
                </a:solidFill>
              </a:ln>
            </c:spPr>
          </c:marker>
          <c:cat>
            <c:strRef>
              <c:f>Sheet1!$A$2:$A$6</c:f>
              <c:strCache>
                <c:ptCount val="5"/>
                <c:pt idx="0">
                  <c:v>128</c:v>
                </c:pt>
                <c:pt idx="1">
                  <c:v>256</c:v>
                </c:pt>
                <c:pt idx="2">
                  <c:v>512</c:v>
                </c:pt>
                <c:pt idx="3">
                  <c:v>1024</c:v>
                </c:pt>
                <c:pt idx="4">
                  <c:v>2048</c:v>
                </c:pt>
              </c:strCache>
            </c:strRef>
          </c:cat>
          <c:val>
            <c:numRef>
              <c:f>Sheet1!$C$2:$C$6</c:f>
              <c:numCache>
                <c:formatCode>General</c:formatCode>
                <c:ptCount val="5"/>
                <c:pt idx="0">
                  <c:v>35.74</c:v>
                </c:pt>
                <c:pt idx="1">
                  <c:v>35.5</c:v>
                </c:pt>
                <c:pt idx="2">
                  <c:v>35.37</c:v>
                </c:pt>
                <c:pt idx="3">
                  <c:v>35.61</c:v>
                </c:pt>
                <c:pt idx="4">
                  <c:v>37.85</c:v>
                </c:pt>
              </c:numCache>
            </c:numRef>
          </c:val>
          <c:smooth val="0"/>
        </c:ser>
        <c:ser>
          <c:idx val="2"/>
          <c:order val="2"/>
          <c:tx>
            <c:strRef>
              <c:f>Sheet1!$D$1</c:f>
              <c:strCache>
                <c:ptCount val="1"/>
                <c:pt idx="0">
                  <c:v>intj</c:v>
                </c:pt>
              </c:strCache>
            </c:strRef>
          </c:tx>
          <c:spPr>
            <a:ln w="28575">
              <a:solidFill>
                <a:srgbClr val="EB6834"/>
              </a:solidFill>
            </a:ln>
          </c:spPr>
          <c:marker>
            <c:symbol val="circle"/>
            <c:size val="7"/>
            <c:spPr>
              <a:solidFill>
                <a:srgbClr val="EB6834"/>
              </a:solidFill>
              <a:ln>
                <a:solidFill>
                  <a:srgbClr val="EB6834"/>
                </a:solidFill>
              </a:ln>
            </c:spPr>
          </c:marker>
          <c:cat>
            <c:strRef>
              <c:f>Sheet1!$A$2:$A$6</c:f>
              <c:strCache>
                <c:ptCount val="5"/>
                <c:pt idx="0">
                  <c:v>128</c:v>
                </c:pt>
                <c:pt idx="1">
                  <c:v>256</c:v>
                </c:pt>
                <c:pt idx="2">
                  <c:v>512</c:v>
                </c:pt>
                <c:pt idx="3">
                  <c:v>1024</c:v>
                </c:pt>
                <c:pt idx="4">
                  <c:v>2048</c:v>
                </c:pt>
              </c:strCache>
            </c:strRef>
          </c:cat>
          <c:val>
            <c:numRef>
              <c:f>Sheet1!$D$2:$D$6</c:f>
              <c:numCache>
                <c:formatCode>General</c:formatCode>
                <c:ptCount val="5"/>
                <c:pt idx="0">
                  <c:v>15.19</c:v>
                </c:pt>
                <c:pt idx="1">
                  <c:v>14.86</c:v>
                </c:pt>
                <c:pt idx="2">
                  <c:v>14.94</c:v>
                </c:pt>
                <c:pt idx="3">
                  <c:v>15.1</c:v>
                </c:pt>
                <c:pt idx="4">
                  <c:v>38.16</c:v>
                </c:pt>
              </c:numCache>
            </c:numRef>
          </c:val>
          <c:smooth val="0"/>
        </c:ser>
        <c:ser>
          <c:idx val="3"/>
          <c:order val="3"/>
          <c:tx>
            <c:strRef>
              <c:f>Sheet1!$E$1</c:f>
              <c:strCache>
                <c:ptCount val="1"/>
                <c:pt idx="0">
                  <c:v>prototype</c:v>
                </c:pt>
              </c:strCache>
            </c:strRef>
          </c:tx>
          <c:spPr>
            <a:ln w="28575">
              <a:solidFill>
                <a:srgbClr val="EB6834"/>
              </a:solidFill>
              <a:prstDash val="dash"/>
            </a:ln>
          </c:spPr>
          <c:marker>
            <c:symbol val="circle"/>
            <c:size val="7"/>
            <c:spPr>
              <a:solidFill>
                <a:srgbClr val="EB6834"/>
              </a:solidFill>
              <a:ln>
                <a:solidFill>
                  <a:srgbClr val="EB6834"/>
                </a:solidFill>
              </a:ln>
            </c:spPr>
          </c:marker>
          <c:cat>
            <c:strRef>
              <c:f>Sheet1!$A$2:$A$6</c:f>
              <c:strCache>
                <c:ptCount val="5"/>
                <c:pt idx="0">
                  <c:v>128</c:v>
                </c:pt>
                <c:pt idx="1">
                  <c:v>256</c:v>
                </c:pt>
                <c:pt idx="2">
                  <c:v>512</c:v>
                </c:pt>
                <c:pt idx="3">
                  <c:v>1024</c:v>
                </c:pt>
                <c:pt idx="4">
                  <c:v>2048</c:v>
                </c:pt>
              </c:strCache>
            </c:strRef>
          </c:cat>
          <c:val>
            <c:numRef>
              <c:f>Sheet1!$E$2:$E$6</c:f>
              <c:numCache>
                <c:formatCode>General</c:formatCode>
                <c:ptCount val="5"/>
                <c:pt idx="0">
                  <c:v>11.035</c:v>
                </c:pt>
                <c:pt idx="1">
                  <c:v>10.03</c:v>
                </c:pt>
                <c:pt idx="2">
                  <c:v>10.238</c:v>
                </c:pt>
                <c:pt idx="3">
                  <c:v>14.616</c:v>
                </c:pt>
                <c:pt idx="4">
                  <c:v>36.961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118791784"/>
        <c:crosses val="autoZero"/>
        <c:majorUnit val="10.0"/>
      </c:valAx>
      <c:spPr>
        <a:noFill/>
        <a:ln>
          <a:noFill/>
        </a:ln>
      </c:spPr>
    </c:plotArea>
    <c:plotVisOnly val="1"/>
    <c:dispBlanksAs val="gap"/>
    <c:showDLblsOverMax val="0"/>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MI308X</c:v>
                </c:pt>
              </c:strCache>
            </c:strRef>
          </c:tx>
          <c:spPr>
            <a:solidFill>
              <a:srgbClr val="2A78D6"/>
            </a:solidFill>
          </c:spPr>
          <c:invertIfNegative val="0"/>
          <c:cat>
            <c:strRef>
              <c:f>Sheet1!$A$2:$A$6</c:f>
              <c:strCache>
                <c:ptCount val="5"/>
                <c:pt idx="0">
                  <c:v>hasattr(t, 'ptr_range')</c:v>
                </c:pt>
                <c:pt idx="1">
                  <c:v>import torch</c:v>
                </c:pt>
                <c:pt idx="2">
                  <c:v>untyped_storage().size()</c:v>
                </c:pt>
                <c:pt idx="3">
                  <c:v>is_within_2gb</c:v>
                </c:pt>
                <c:pt idx="4">
                  <c:v>get_tensor_specialization</c:v>
                </c:pt>
              </c:strCache>
            </c:strRef>
          </c:cat>
          <c:val>
            <c:numRef>
              <c:f>Sheet1!$B$2:$B$6</c:f>
              <c:numCache>
                <c:formatCode>General</c:formatCode>
                <c:ptCount val="5"/>
                <c:pt idx="0">
                  <c:v>19.2</c:v>
                </c:pt>
                <c:pt idx="1">
                  <c:v>57.7</c:v>
                </c:pt>
                <c:pt idx="2">
                  <c:v>142.6</c:v>
                </c:pt>
                <c:pt idx="3">
                  <c:v>449.4</c:v>
                </c:pt>
                <c:pt idx="4">
                  <c:v>1255.5</c:v>
                </c:pt>
              </c:numCache>
            </c:numRef>
          </c:val>
        </c:ser>
        <c:dLbls>
          <c:numFmt formatCode="0" sourceLinked="0"/>
          <c:txPr>
            <a:bodyPr/>
            <a:lstStyle/>
            <a:p>
              <a:pPr>
                <a:defRPr sz="1100" b="1">
                  <a:solidFill>
                    <a:srgbClr val="1B1F24"/>
                  </a:solidFill>
                </a:defRPr>
              </a:pPr>
            </a:p>
          </c:txPr>
          <c:dLblPos val="outEnd"/>
          <c:showLegendKey val="0"/>
          <c:showVal val="1"/>
          <c:showCatName val="0"/>
          <c:showSerName val="0"/>
          <c:showPercent val="0"/>
          <c:showBubbleSize val="0"/>
          <c:showLeaderLines val="1"/>
        </c:dLbls>
        <c:gapWidth val="50"/>
        <c:overlap val="-10"/>
        <c:axId val="-2068027336"/>
        <c:axId val="-2113994440"/>
      </c:barChart>
      <c:catAx>
        <c:axId val="-2068027336"/>
        <c:scaling>
          <c:orientation val="minMax"/>
        </c:scaling>
        <c:delete val="0"/>
        <c:axPos val="l"/>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b"/>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intj</c:v>
                </c:pt>
              </c:strCache>
            </c:strRef>
          </c:tx>
          <c:spPr>
            <a:solidFill>
              <a:srgbClr val="EB6834"/>
            </a:solidFill>
          </c:spPr>
          <c:invertIfNegative val="0"/>
          <c:cat>
            <c:strRef>
              <c:f>Sheet1!$A$2:$A$5</c:f>
              <c:strCache>
                <c:ptCount val="4"/>
                <c:pt idx="0">
                  <c:v>1</c:v>
                </c:pt>
                <c:pt idx="1">
                  <c:v>8</c:v>
                </c:pt>
                <c:pt idx="2">
                  <c:v>64</c:v>
                </c:pt>
                <c:pt idx="3">
                  <c:v>512</c:v>
                </c:pt>
              </c:strCache>
            </c:strRef>
          </c:cat>
          <c:val>
            <c:numRef>
              <c:f>Sheet1!$B$2:$B$5</c:f>
              <c:numCache>
                <c:formatCode>General</c:formatCode>
                <c:ptCount val="4"/>
                <c:pt idx="0">
                  <c:v>1.82</c:v>
                </c:pt>
                <c:pt idx="1">
                  <c:v>1.79</c:v>
                </c:pt>
                <c:pt idx="2">
                  <c:v>2.2</c:v>
                </c:pt>
                <c:pt idx="3">
                  <c:v>3.09</c:v>
                </c:pt>
              </c:numCache>
            </c:numRef>
          </c:val>
        </c:ser>
        <c:ser>
          <c:idx val="1"/>
          <c:order val="1"/>
          <c:tx>
            <c:strRef>
              <c:f>Sheet1!$C$1</c:f>
              <c:strCache>
                <c:ptCount val="1"/>
                <c:pt idx="0">
                  <c:v>tsl::robin_map</c:v>
                </c:pt>
              </c:strCache>
            </c:strRef>
          </c:tx>
          <c:spPr>
            <a:solidFill>
              <a:srgbClr val="1BAF7A"/>
            </a:solidFill>
          </c:spPr>
          <c:invertIfNegative val="0"/>
          <c:cat>
            <c:strRef>
              <c:f>Sheet1!$A$2:$A$5</c:f>
              <c:strCache>
                <c:ptCount val="4"/>
                <c:pt idx="0">
                  <c:v>1</c:v>
                </c:pt>
                <c:pt idx="1">
                  <c:v>8</c:v>
                </c:pt>
                <c:pt idx="2">
                  <c:v>64</c:v>
                </c:pt>
                <c:pt idx="3">
                  <c:v>512</c:v>
                </c:pt>
              </c:strCache>
            </c:strRef>
          </c:cat>
          <c:val>
            <c:numRef>
              <c:f>Sheet1!$C$2:$C$5</c:f>
              <c:numCache>
                <c:formatCode>General</c:formatCode>
                <c:ptCount val="4"/>
                <c:pt idx="0">
                  <c:v>2.56</c:v>
                </c:pt>
                <c:pt idx="1">
                  <c:v>2.56</c:v>
                </c:pt>
                <c:pt idx="2">
                  <c:v>2.92</c:v>
                </c:pt>
                <c:pt idx="3">
                  <c:v>4.03</c:v>
                </c:pt>
              </c:numCache>
            </c:numRef>
          </c:val>
        </c:ser>
        <c:ser>
          <c:idx val="2"/>
          <c:order val="2"/>
          <c:tx>
            <c:strRef>
              <c:f>Sheet1!$D$1</c:f>
              <c:strCache>
                <c:ptCount val="1"/>
                <c:pt idx="0">
                  <c:v>absl::flat_hash_map</c:v>
                </c:pt>
              </c:strCache>
            </c:strRef>
          </c:tx>
          <c:spPr>
            <a:solidFill>
              <a:srgbClr val="6B7079"/>
            </a:solidFill>
          </c:spPr>
          <c:invertIfNegative val="0"/>
          <c:cat>
            <c:strRef>
              <c:f>Sheet1!$A$2:$A$5</c:f>
              <c:strCache>
                <c:ptCount val="4"/>
                <c:pt idx="0">
                  <c:v>1</c:v>
                </c:pt>
                <c:pt idx="1">
                  <c:v>8</c:v>
                </c:pt>
                <c:pt idx="2">
                  <c:v>64</c:v>
                </c:pt>
                <c:pt idx="3">
                  <c:v>512</c:v>
                </c:pt>
              </c:strCache>
            </c:strRef>
          </c:cat>
          <c:val>
            <c:numRef>
              <c:f>Sheet1!$D$2:$D$5</c:f>
              <c:numCache>
                <c:formatCode>General</c:formatCode>
                <c:ptCount val="4"/>
                <c:pt idx="0">
                  <c:v>2.0</c:v>
                </c:pt>
                <c:pt idx="1">
                  <c:v>5.04</c:v>
                </c:pt>
                <c:pt idx="2">
                  <c:v>5.22</c:v>
                </c:pt>
                <c:pt idx="3">
                  <c:v>6.38</c:v>
                </c:pt>
              </c:numCache>
            </c:numRef>
          </c:val>
        </c:ser>
        <c:dLbls>
          <c:numFmt formatCode="0.0" sourceLinked="0"/>
          <c:txPr>
            <a:bodyPr/>
            <a:lstStyle/>
            <a:p>
              <a:pPr>
                <a:defRPr sz="1000" b="1">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100">
                <a:solidFill>
                  <a:srgbClr val="4A4F57"/>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E7E9ED"/>
              </a:solidFill>
            </a:ln>
          </c:spPr>
        </c:majorGridlines>
        <c:majorTickMark val="out"/>
        <c:minorTickMark val="none"/>
        <c:tickLblPos val="nextTo"/>
        <c:spPr>
          <a:ln>
            <a:noFill/>
          </a:ln>
        </c:spPr>
        <c:txPr>
          <a:bodyPr/>
          <a:lstStyle/>
          <a:p>
            <a:pPr>
              <a:defRPr sz="1000">
                <a:solidFill>
                  <a:srgbClr val="7A7F87"/>
                </a:solidFill>
              </a:defRPr>
            </a:pPr>
          </a:p>
        </c:txPr>
        <c:crossAx val="-2068027336"/>
        <c:crosses val="autoZero"/>
      </c:valAx>
      <c:spPr>
        <a:noFill/>
        <a:ln>
          <a:noFill/>
        </a:ln>
      </c:spPr>
    </c:plotArea>
    <c:dispBlanksAs val="gap"/>
  </c:chart>
  <c:spPr>
    <a:noFill/>
    <a:ln>
      <a:noFill/>
    </a:ln>
  </c:spPr>
  <c:txPr>
    <a:bodyPr/>
    <a:lstStyle/>
    <a:p>
      <a:pPr>
        <a:defRPr sz="1100">
          <a:solidFill>
            <a:srgbClr val="4A4F5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share = Triton grid=(0,) / grid=(1,): Triton binds, keys and looks up, then skips the driver call on the empty grid. The 'long tail' observation is from the intj README: studying JITFunction showed no low-hanging fruit.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finer than Triton's costs a redundant compile; a coarser one launches the wrong binary silently. test_spec_key_is_never_coarser_than_triton guards it, and a mutation test shows it can fail.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 condensed from aiter 874d253dd3..5d710e670: '...' marks elided arguments, and dev, stream and grid sit on separate lines in the original. Kernel: aiter/ops/triton/_triton_kernels/gated_delta_rule/decode/fused_conv_recurrent_norm.py. Call site: aiter/ops/triton/gated_delta_net/fused_kda_decode.py. _decode_num_warps() returns 2 on gfx942, else 4. current_device_stream() is torch.cuda.current_device() and its raw stream. Numbers: data/aiter_kda_decode.csv and aiter_summary.csv, MI350X.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Machines: MI308X (Xeon 8480C), MI350X (EPYC 9965), RTX 4080 SUPER (Ryzen 9 7950X3D); each pinned to one core. gfx950 hipModuleLaunchKernel flips between ~2.3 and ~3.1 us, so MI350X launch rows move by +-0.7 us. Bar chart kernel: bench_launch.noop, 3 tensors + 2 scalars + 1 constexpr. Host-path table: the sweep's empty kernel with 4 tensor arguments. Triton's host path is a launch on grid=(0,), which binds, keys and looks up, then skips the driver. intj's is a no_gpu launcher on CPU tensors: the real entry with the driver call compiled out. intj on grid=(0,) is not used here because it returns before decoding any argument; _C_spec_key is not used because it also builds a Python (bytes, int) result. Entering C alone (0 arguments): 0.014-0.022 us. Reading tensors through the interpreter (INTERPRETER mode) adds 0.27-0.83 us to intj args -&gt; spec-key.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Host-only intj = a no_gpu launcher on CPU tensors: intj args -&gt; spec-key and cache lookup. Tensor args, host only: Triton 4.9 -&gt; 129.2 us on MI308X, 3.5 -&gt; 87.5 on MI350X, 4.1 -&gt; 27.7 on RTX 4080 SUPER; intj 0.022 -&gt; 0.298, 0.014 -&gt; 0.130, 0.018 -&gt; 0.123 us. Cache sweep: one constexpr takes K values in a fixed random order, so K kernels are cached and hit at random.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Quotes are verbatim from the blog; '…' marks a cut. The second quote condenses: "Taking the matmul kernel as an example: after the SplitHostDevice pass, TileLang splits the IR into device and host parts. The host IR looks like this: [listing] Finally, via codegen, we generate the C++ host code, which can be retrieved with matmul_kernel.get_host_source()". The figure is the TileLang half of the blog's Figure 2, unmodified apart from the crop (the Triton half is the usual matmul_kernel[grid](...) with strides and BLOCK constexprs). Images: ppt/data/tilelang_ffi_blog/.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(TileLang on an H800): per-call CPU overhead and first compile time, TVM FFI host code vs the earlier Cython wrapper; the blog: "improving kernel overhead by 2.1–3.8× (this time even includes kernel launch!)". Figure 4 is a post by Tianqi Chen (Nov 28) the blog cites: CuteDSL 4.3.1, "Major host overhead optimization (10-40µs down to a 2µs in hot loops)", powered by the apache tvm-ffi ABI. The blog does not benchmark Triton; this deck's Triton host path, 4 tensor arguments, is 5.97-13.78 us (data/sweep_args_wide.csv). Different GPUs and kernels, so not a like-for-like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 Triton binary per machine of an empty kernel with one tensor argument (HSACO on the MI308X and MI350X, cubin on the RTX 4080 SUPER), launched by TVM FFI, Triton and intj. TVM FFI loads it with hipModuleLoadData on ROCm and with its own cubin launcher (TVM_FFI_EMBED_CUBIN) on CUDA, as in its examples/cubin_launcher; intj reuses Triton's loaded function. On the MI350X one of three rounds caught the low hipModuleLaunchKernel state (2.2-2.3 us on both sides). Right: ffi_sweep, empty kernels with N arguments, where TVM FFI and intj launch different binaries; at 0 arguments FFI's kernel takes a cheaper stream path. TVM FFI gets preconverted TensorViews, intj takes torch tensors. apache-tvm-ffi 0.1.14.post1.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_FastLaunch is AITER's hand-written Python launch cache for FlashKDA; intj still halves its host time. Kernel times from rocprofv3 --kernel-trace are the same on both sides; outputs are bitwise equal on every shape. AITER 874d253dd3 (upstream) vs 5d710e670 (intj).</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MI350X. Eager time: 32 back-to-back calls timed by GPU events, about max(host, GPU). Host-bound means the upstream call's host time exceeds its GPU kernel time (data/aiter_summary.csv regime). Larger shapes stay GPU-bound on both sides: KDA decode batch 128 / 256 at 83 / 157 us, fp8_mqa_logits q = kv 4096 / 8192 at 127 / 425 us. fp8_mqa_logits at q = kv &lt;= 1024: intj sits at its call's own host time (~15 us), above the 6-17 us kernels (the Gluon kernel plus torch's fill). Host time per call, intj tree, medians over q = kv 128-1024 and 3 processes, timed per section of an instrumented copy of the wrapper checked bitwise-equal to it: −inf fill 4.87 us, config 3.21 us, slice 0.93 us, free 0.65 us, checks 1.37 us, launch 3.52 us. The prototype is the same wrapper with the gfx950 config cached per shape and the logits slice skipped when seq_len_kv is 256-aligned (all but 128); clean_logits=True, outputs bitwise equal on every shape. Dropping the -inf fill too (clean_logits=False) measured ~5.5 us host; not shown, it changes the output contract.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 874d253dd3..5d710e670: 338 files, +15,670 / -7,271. Four make_launcher( calls declare 11 more launchers. 144 FlyDSL .launch sites in 77 files are out of scope (different launch ABI). The -402 is a regex count (445 removed, 43 added).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Micro-benchmarks (ppt/scripts/bench_incompatible.py): each statement inline in a timeit loop, 200k calls x 9 samples, minus the same loop around pass; median of 3 processes per machine. triton.cdiv is a ConstexprFunction: every host call runs an import, unwraps args and kwargs in comprehensions, and checks knobs; (x + y - 1) // y is its body, timed inline (as a plain def call: 52 / 32 / 52 ns). kernel[grid] returns a new lambda per call; calling it re-packs *args and **kwargs into run(grid=..., warmup=False, ...). To time only that layer, run is replaced by a stub on a fresh JITFunction, and the same arguments are passed to the stub directly. intj's grid_cpp: no_gpu launchers on CPU tensors (decode, key, lookup), grid passed in vs computed in C. Triton sites blocked by intj's refusals (MIGRATION_GAP.md): tuples ~41, Gluon layouts ~75, TensorWrapper 14; parameter defaults alone block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AMD, Triton adds the S bit (storage &lt; 2 GiB) to every tensor's specialization: its native specializer calls HIPBackend.get_tensor_specialization (Python) for each tensor argument of each launch, which checks knobs.amd.use_buffer_ops and calls is_within_2gb. Micro-benchmarks: ppt/scripts/bench_incompatible.py, GPU tensor of 4096 floats, median of 3 processes. Per tensor argument from the host-only sweep slope (0 -&gt; 64 tensors): Triton 1.94 / 1.31 / 0.37 us on MI308X / MI350X / RTX 4080 SUPER, where CUDA has no S bit; intj reads data pointer, dtype, alignment and storage size in C for every tensor. The MI350X host had a load average of ~8 during its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launcher is a PyCFunction over a PyMethodDef embedded in its launcher object; the first call swaps ml_meth from the build shim to the rendered entry. A cache miss costs ~300 ns more than before (benchmark 404.6 -&gt; ~707 ns, ~+180 ns in production). docs/Usage.md quotes ~250 ms for a build; the README's 0.6-1.9 s is used here. The AITER example is condensed: the gfx950 options also set num_stages=1, and the import sits inside the function because arch_info queries the GPU when imported. Build lock: one thread builds, the others wait detached from the interpreter; a call from inside the launcher's own build raises RuntimeError instead of deadlocking (runtime/intj_lazy.c). ARM64: the build release-stores ml_meth, but CPython reads it with a plain load; x86-64 keeps the order, a free-threaded ARM64 build may not (TODO.md). intj runs on x86-64 only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Triton tutorial or example reads an unkeyed argument together with a tuned value in a heuristic. Triton's matmul (ops/matmul.py) keys K, so its EVEN_K = K % (BLOCK_K * SPLIT_K) == 0 is fixed per level-0 record and needs one lookup (tests/test_tuning.py::test_matmul_needs_one_lookup); Triton's test_decorator.py reads src.data_ptr() but no tuned value, which keys at level 0. The example is intj's tests/test_tuned.py::test_two_level_chain, run on a GPU: a bench that prefers BLOCK=64, calls N=8 with strides 128, 130, 192, asserting outputs 641, 640, 641, one tuning run (bench calls [32, 64]) and a two-key chain. A miss at either level runs a private copy of Triton's autotune/heuristics chain; its Autotuner cache already holds N=8, so a level-1 miss compiles without re-tuning. Level-0 map: spec words + exact N, swappable backend; child maps: intj's own map, 2 words per computed key, 4 slots to start; non-final records on the heap. Tuned hit vs plain intj +6.2 ns (MI308X); child-map hit 2.46 ns (map-only); never-coarser test over 40 cases plus its mutation test. Not measured: a Triton @autotune hit, a full two-level lookup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STATIC_COMPILE when its toolchain is available, else RUNTIME_SHIM when a verified layout exists, else INTERPRETER; an explicitly chosen unavailable mode raises. torch_abi.toml rows are generated by abi_detect and cross-checked by cpp_detect, never hand-edited. Gap: cache-invalidating knobs beyond debug / instrumentation / fpsan are not keyed yet (TODO.md).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CI job installs the wheel, pins torch, and runs test_runtime.py in all three access modes: 446 job x mode runs. torch 2.9.1 on 3.14t skips INTERPRETER. Python 3.8 / 3.9 cells build without triton, since every triton &gt;= 3.7 needs Python &gt;= 3.10. gpu.yml has 12 ROCm cells for a self-hosted gfx942 runner, untested until one is registered. 1,075 is pytest --collect-only, not a pass 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numbers: tests/bench_kernel_cache.cpp (google/benchmark, map only, no last-key memo, hash precomputed by the caller, uniformly random keys), from benchmarks/journals/2026-10-14_full-suite_0_bc8caf7.md (MI308X host, Xeon 8480C, 3 rounds); data/kernel_cache_map.csv. intj: open addressing, linear probing, values stored inline, 16 slots to start, doubling at 50% load, an empty slot is one whose value reads as zero. tsl = tsl::robin_map, absl = absl::flat_hash_map, the swappable kernel_cache backends. hit/1 always touches slot 0 (a permanently hot line). Real launchers hold 1-8 specializations. A typical key is 2 words (one word of per-parameter code bytes, one constexpr value).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TVM FFI apache-tvm-ffi 0.1.14.post1 (PyPI wheel). Every Python argument goes through TVMFFIPyCallManager::SetArgument: Py_TYPE(arg), then std::unordered_map&lt;PyTypeObject*, setter&gt;::find (thread-local, reserve(32)); a type seen first goes through TVMFFICyArgSetterFactory and is emplaced. On the C++ side, Any -&gt; T is TypeTraits&lt;T&gt;::TryCastFromAnyView: a type-index switch, no lookup. Isolated: ppt/scripts/bench_unordered_map_lookup.cpp, built with each machine's g++ -O2 (13.3 / 15.2 / 16.2 -- the wheel's own build is not this code, so read the isolated rows as the shape of the cost), keys are PyTypeObject-sized heap blocks, 4 lookups per call, 20M x 9 samples, median of 3 processes; light = 6 entries, heavy = 1,030 (1,493 buckets); spread keys (4,096 draws over all entries) read 4.3 / 2.4-2.5 / 1.4-1.5 ns. End to end: ppt/scripts/bench_ffi_dispatch.py, testing.nop inline in timeit, light = the 2 types this run uses, heavy = after 1,024 distinct int subclasses. A heavily loaded map costs the same in steady state: the bucket and node of a hot type stay cached. 4 CPU tensors through TVM FFI: 541 / 332 / 327 ns per call, ~110 / ~68 / ~65 ns per tensor (DLPack exchange); intj's per-tensor host cost is 1.6-4.3 ns (sweep slopes).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Argument(type, specialize, value, bind_value) and Constexpr(type, power_of_two_or_zero, value), inline on the kernel or via extra_annotation. verify_annotation=True costs 41.7-43.1 ns in the same benchmark. aiter 23bf3e29b dropped the false Aligned(16) on stride_scale_seq; the HSACO was unchanged. Exactly arrived in intj 20e578f. power_of_two_or_zero (docs/Usage.md): an integer constexpr promised to be 0 or +-2**k is keyed in one byte (0 -&gt; 0, 2**k -&gt; k+1, -2**k -&gt; 0x80 | (k+1)) instead of one 8-byte value word; verify_annotation=True rejects other values, the unchecked default trusts the promise. No host-time measurement of it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AITER migration: branch codex/intj-all-launches on lijinpei-amd/aiter (head 5d710e670 measured; 23bf3e29b is one commit later), base 874d253dd3 on ROCm/aiter main; the PR number was not looked up (no token access to the ROCm org here). Numbers from the AITER adoption slide. 2. Line counts: git ls-files intj | xargs wc -l, without torch_abi.toml: 12,488 (8,028 Python, 4,147 C / header / Jinja); git ls-files tests | xargs wc -l: 12,886. Most of it was written by coding agents.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11.xml"/><Relationship Id="rId4" Type="http://schemas.openxmlformats.org/officeDocument/2006/relationships/chart" Target="../charts/char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chart" Target="../charts/char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3F4F6"/>
          </a:solidFill>
          <a:ln>
            <a:noFill/>
          </a:ln>
        </p:spPr>
        <p:txBody>
          <a:bodyPr rtlCol="0" anchor="ctr"/>
          <a:lstStyle/>
          <a:p>
            <a:pPr algn="ctr"/>
          </a:p>
        </p:txBody>
      </p:sp>
      <p:sp>
        <p:nvSpPr>
          <p:cNvPr id="3" name="Rectangle 2"/>
          <p:cNvSpPr/>
          <p:nvPr/>
        </p:nvSpPr>
        <p:spPr>
          <a:xfrm>
            <a:off x="7223760" y="0"/>
            <a:ext cx="4967935" cy="6858000"/>
          </a:xfrm>
          <a:prstGeom prst="rect">
            <a:avLst/>
          </a:prstGeom>
          <a:solidFill>
            <a:srgbClr val="EB6834"/>
          </a:solidFill>
          <a:ln>
            <a:noFill/>
          </a:ln>
        </p:spPr>
        <p:txBody>
          <a:bodyPr rtlCol="0" anchor="ctr"/>
          <a:lstStyle/>
          <a:p>
            <a:pPr algn="ctr"/>
          </a:p>
        </p:txBody>
      </p:sp>
      <p:sp>
        <p:nvSpPr>
          <p:cNvPr id="4" name="TextBox 3"/>
          <p:cNvSpPr txBox="1"/>
          <p:nvPr/>
        </p:nvSpPr>
        <p:spPr>
          <a:xfrm>
            <a:off x="676656" y="2103120"/>
            <a:ext cx="6400800" cy="1737360"/>
          </a:xfrm>
          <a:prstGeom prst="rect">
            <a:avLst/>
          </a:prstGeom>
          <a:noFill/>
        </p:spPr>
        <p:txBody>
          <a:bodyPr wrap="square" lIns="0" rIns="0" tIns="0" bIns="0" anchor="t">
            <a:noAutofit/>
          </a:bodyPr>
          <a:lstStyle/>
          <a:p>
            <a:pPr algn="l" marL="0" indent="0">
              <a:buNone/>
            </a:pPr>
            <a:r>
              <a:rPr sz="4000" b="1" i="0">
                <a:solidFill>
                  <a:srgbClr val="1B1F24"/>
                </a:solidFill>
                <a:latin typeface="Arial"/>
              </a:rPr>
              <a:t>Optimizing Triton Kernel Launch Overhead</a:t>
            </a:r>
          </a:p>
        </p:txBody>
      </p:sp>
      <p:sp>
        <p:nvSpPr>
          <p:cNvPr id="5" name="TextBox 4"/>
          <p:cNvSpPr txBox="1"/>
          <p:nvPr/>
        </p:nvSpPr>
        <p:spPr>
          <a:xfrm>
            <a:off x="676656" y="3931920"/>
            <a:ext cx="6400800" cy="411480"/>
          </a:xfrm>
          <a:prstGeom prst="rect">
            <a:avLst/>
          </a:prstGeom>
          <a:noFill/>
        </p:spPr>
        <p:txBody>
          <a:bodyPr wrap="square" lIns="0" rIns="0" tIns="0" bIns="0" anchor="t">
            <a:noAutofit/>
          </a:bodyPr>
          <a:lstStyle/>
          <a:p>
            <a:pPr algn="l" marL="0" indent="0">
              <a:buNone/>
            </a:pPr>
            <a:r>
              <a:rPr sz="2000" b="0" i="0">
                <a:solidFill>
                  <a:srgbClr val="4A4F57"/>
                </a:solidFill>
                <a:latin typeface="Calibri"/>
              </a:rPr>
              <a:t>INTJ, an INcompatible Triton JIT launcher</a:t>
            </a:r>
          </a:p>
        </p:txBody>
      </p:sp>
      <p:sp>
        <p:nvSpPr>
          <p:cNvPr id="6" name="TextBox 5"/>
          <p:cNvSpPr txBox="1"/>
          <p:nvPr/>
        </p:nvSpPr>
        <p:spPr>
          <a:xfrm>
            <a:off x="676656" y="4480560"/>
            <a:ext cx="6400800" cy="320040"/>
          </a:xfrm>
          <a:prstGeom prst="rect">
            <a:avLst/>
          </a:prstGeom>
          <a:noFill/>
        </p:spPr>
        <p:txBody>
          <a:bodyPr wrap="square" lIns="0" rIns="0" tIns="0" bIns="0" anchor="t">
            <a:noAutofit/>
          </a:bodyPr>
          <a:lstStyle/>
          <a:p>
            <a:pPr algn="l" marL="0" indent="0">
              <a:buNone/>
            </a:pPr>
            <a:r>
              <a:rPr sz="1400" b="0" i="0">
                <a:solidFill>
                  <a:srgbClr val="7A7F87"/>
                </a:solidFill>
                <a:latin typeface="Calibri"/>
              </a:rPr>
              <a:t>Li Jinpei · 2026-10-15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Agenda</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2</a:t>
            </a:r>
          </a:p>
        </p:txBody>
      </p:sp>
      <p:sp>
        <p:nvSpPr>
          <p:cNvPr id="4" name="Oval 3"/>
          <p:cNvSpPr/>
          <p:nvPr/>
        </p:nvSpPr>
        <p:spPr>
          <a:xfrm>
            <a:off x="585216" y="1600200"/>
            <a:ext cx="502920" cy="502920"/>
          </a:xfrm>
          <a:prstGeom prst="ellipse">
            <a:avLst/>
          </a:prstGeom>
          <a:solidFill>
            <a:srgbClr val="EB6834"/>
          </a:solidFill>
          <a:ln>
            <a:noFill/>
          </a:ln>
        </p:spPr>
        <p:txBody>
          <a:bodyPr rtlCol="0" anchor="ctr" wrap="square" lIns="0" rIns="0" tIns="0" bIns="0">
            <a:noAutofit/>
          </a:bodyPr>
          <a:lstStyle/>
          <a:p>
            <a:pPr algn="ctr" marL="0" indent="0">
              <a:buNone/>
            </a:pPr>
            <a:r>
              <a:rPr sz="1800" b="1" i="0">
                <a:solidFill>
                  <a:srgbClr val="1B1F24"/>
                </a:solidFill>
                <a:latin typeface="Calibri"/>
              </a:rPr>
              <a:t>1</a:t>
            </a:r>
          </a:p>
        </p:txBody>
      </p:sp>
      <p:sp>
        <p:nvSpPr>
          <p:cNvPr id="5" name="TextBox 4"/>
          <p:cNvSpPr txBox="1"/>
          <p:nvPr/>
        </p:nvSpPr>
        <p:spPr>
          <a:xfrm>
            <a:off x="1362456" y="1600200"/>
            <a:ext cx="8229600" cy="502920"/>
          </a:xfrm>
          <a:prstGeom prst="rect">
            <a:avLst/>
          </a:prstGeom>
          <a:noFill/>
        </p:spPr>
        <p:txBody>
          <a:bodyPr wrap="square" lIns="0" rIns="0" tIns="0" bIns="0" anchor="ctr">
            <a:noAutofit/>
          </a:bodyPr>
          <a:lstStyle/>
          <a:p>
            <a:pPr algn="l" marL="0" indent="0">
              <a:buNone/>
            </a:pPr>
            <a:r>
              <a:rPr sz="2200" b="0" i="0">
                <a:solidFill>
                  <a:srgbClr val="1B1F24"/>
                </a:solidFill>
                <a:latin typeface="Calibri"/>
              </a:rPr>
              <a:t>Motivation</a:t>
            </a:r>
          </a:p>
        </p:txBody>
      </p:sp>
      <p:sp>
        <p:nvSpPr>
          <p:cNvPr id="6" name="Rectangle 5"/>
          <p:cNvSpPr/>
          <p:nvPr/>
        </p:nvSpPr>
        <p:spPr>
          <a:xfrm>
            <a:off x="1362456" y="2286000"/>
            <a:ext cx="7315200" cy="9144"/>
          </a:xfrm>
          <a:prstGeom prst="rect">
            <a:avLst/>
          </a:prstGeom>
          <a:solidFill>
            <a:srgbClr val="E1E5EA"/>
          </a:solidFill>
          <a:ln>
            <a:noFill/>
          </a:ln>
        </p:spPr>
        <p:txBody>
          <a:bodyPr rtlCol="0" anchor="ctr"/>
          <a:lstStyle/>
          <a:p>
            <a:pPr algn="ctr"/>
          </a:p>
        </p:txBody>
      </p:sp>
      <p:sp>
        <p:nvSpPr>
          <p:cNvPr id="7" name="Oval 6"/>
          <p:cNvSpPr/>
          <p:nvPr/>
        </p:nvSpPr>
        <p:spPr>
          <a:xfrm>
            <a:off x="585216" y="2468880"/>
            <a:ext cx="502920" cy="502920"/>
          </a:xfrm>
          <a:prstGeom prst="ellipse">
            <a:avLst/>
          </a:prstGeom>
          <a:solidFill>
            <a:srgbClr val="EB6834"/>
          </a:solidFill>
          <a:ln>
            <a:noFill/>
          </a:ln>
        </p:spPr>
        <p:txBody>
          <a:bodyPr rtlCol="0" anchor="ctr" wrap="square" lIns="0" rIns="0" tIns="0" bIns="0">
            <a:noAutofit/>
          </a:bodyPr>
          <a:lstStyle/>
          <a:p>
            <a:pPr algn="ctr" marL="0" indent="0">
              <a:buNone/>
            </a:pPr>
            <a:r>
              <a:rPr sz="1800" b="1" i="0">
                <a:solidFill>
                  <a:srgbClr val="1B1F24"/>
                </a:solidFill>
                <a:latin typeface="Calibri"/>
              </a:rPr>
              <a:t>2</a:t>
            </a:r>
          </a:p>
        </p:txBody>
      </p:sp>
      <p:sp>
        <p:nvSpPr>
          <p:cNvPr id="8" name="TextBox 7"/>
          <p:cNvSpPr txBox="1"/>
          <p:nvPr/>
        </p:nvSpPr>
        <p:spPr>
          <a:xfrm>
            <a:off x="1362456" y="2468880"/>
            <a:ext cx="8229600" cy="502920"/>
          </a:xfrm>
          <a:prstGeom prst="rect">
            <a:avLst/>
          </a:prstGeom>
          <a:noFill/>
        </p:spPr>
        <p:txBody>
          <a:bodyPr wrap="square" lIns="0" rIns="0" tIns="0" bIns="0" anchor="ctr">
            <a:noAutofit/>
          </a:bodyPr>
          <a:lstStyle/>
          <a:p>
            <a:pPr algn="l" marL="0" indent="0">
              <a:buNone/>
            </a:pPr>
            <a:r>
              <a:rPr sz="2200" b="0" i="0">
                <a:solidFill>
                  <a:srgbClr val="1B1F24"/>
                </a:solidFill>
                <a:latin typeface="Calibri"/>
              </a:rPr>
              <a:t>Method</a:t>
            </a:r>
          </a:p>
        </p:txBody>
      </p:sp>
      <p:sp>
        <p:nvSpPr>
          <p:cNvPr id="9" name="Rectangle 8"/>
          <p:cNvSpPr/>
          <p:nvPr/>
        </p:nvSpPr>
        <p:spPr>
          <a:xfrm>
            <a:off x="1362456" y="3154680"/>
            <a:ext cx="7315200" cy="9144"/>
          </a:xfrm>
          <a:prstGeom prst="rect">
            <a:avLst/>
          </a:prstGeom>
          <a:solidFill>
            <a:srgbClr val="E1E5EA"/>
          </a:solidFill>
          <a:ln>
            <a:noFill/>
          </a:ln>
        </p:spPr>
        <p:txBody>
          <a:bodyPr rtlCol="0" anchor="ctr"/>
          <a:lstStyle/>
          <a:p>
            <a:pPr algn="ctr"/>
          </a:p>
        </p:txBody>
      </p:sp>
      <p:sp>
        <p:nvSpPr>
          <p:cNvPr id="10" name="Oval 9"/>
          <p:cNvSpPr/>
          <p:nvPr/>
        </p:nvSpPr>
        <p:spPr>
          <a:xfrm>
            <a:off x="585216" y="3337560"/>
            <a:ext cx="502920" cy="502920"/>
          </a:xfrm>
          <a:prstGeom prst="ellipse">
            <a:avLst/>
          </a:prstGeom>
          <a:solidFill>
            <a:srgbClr val="EB6834"/>
          </a:solidFill>
          <a:ln>
            <a:noFill/>
          </a:ln>
        </p:spPr>
        <p:txBody>
          <a:bodyPr rtlCol="0" anchor="ctr" wrap="square" lIns="0" rIns="0" tIns="0" bIns="0">
            <a:noAutofit/>
          </a:bodyPr>
          <a:lstStyle/>
          <a:p>
            <a:pPr algn="ctr" marL="0" indent="0">
              <a:buNone/>
            </a:pPr>
            <a:r>
              <a:rPr sz="1800" b="1" i="0">
                <a:solidFill>
                  <a:srgbClr val="1B1F24"/>
                </a:solidFill>
                <a:latin typeface="Calibri"/>
              </a:rPr>
              <a:t>3</a:t>
            </a:r>
          </a:p>
        </p:txBody>
      </p:sp>
      <p:sp>
        <p:nvSpPr>
          <p:cNvPr id="11" name="TextBox 10"/>
          <p:cNvSpPr txBox="1"/>
          <p:nvPr/>
        </p:nvSpPr>
        <p:spPr>
          <a:xfrm>
            <a:off x="1362456" y="3337560"/>
            <a:ext cx="8229600" cy="502920"/>
          </a:xfrm>
          <a:prstGeom prst="rect">
            <a:avLst/>
          </a:prstGeom>
          <a:noFill/>
        </p:spPr>
        <p:txBody>
          <a:bodyPr wrap="square" lIns="0" rIns="0" tIns="0" bIns="0" anchor="ctr">
            <a:noAutofit/>
          </a:bodyPr>
          <a:lstStyle/>
          <a:p>
            <a:pPr algn="l" marL="0" indent="0">
              <a:buNone/>
            </a:pPr>
            <a:r>
              <a:rPr sz="2200" b="0" i="0">
                <a:solidFill>
                  <a:srgbClr val="1B1F24"/>
                </a:solidFill>
                <a:latin typeface="Calibri"/>
              </a:rPr>
              <a:t>Results: performance and AITER adoption</a:t>
            </a:r>
          </a:p>
        </p:txBody>
      </p:sp>
      <p:sp>
        <p:nvSpPr>
          <p:cNvPr id="12" name="Rectangle 11"/>
          <p:cNvSpPr/>
          <p:nvPr/>
        </p:nvSpPr>
        <p:spPr>
          <a:xfrm>
            <a:off x="1362456" y="4023360"/>
            <a:ext cx="7315200" cy="9144"/>
          </a:xfrm>
          <a:prstGeom prst="rect">
            <a:avLst/>
          </a:prstGeom>
          <a:solidFill>
            <a:srgbClr val="E1E5EA"/>
          </a:solidFill>
          <a:ln>
            <a:noFill/>
          </a:ln>
        </p:spPr>
        <p:txBody>
          <a:bodyPr rtlCol="0" anchor="ctr"/>
          <a:lstStyle/>
          <a:p>
            <a:pPr algn="ctr"/>
          </a:p>
        </p:txBody>
      </p:sp>
      <p:sp>
        <p:nvSpPr>
          <p:cNvPr id="13" name="Oval 12"/>
          <p:cNvSpPr/>
          <p:nvPr/>
        </p:nvSpPr>
        <p:spPr>
          <a:xfrm>
            <a:off x="585216" y="4206240"/>
            <a:ext cx="502920" cy="502920"/>
          </a:xfrm>
          <a:prstGeom prst="ellipse">
            <a:avLst/>
          </a:prstGeom>
          <a:solidFill>
            <a:srgbClr val="EB6834"/>
          </a:solidFill>
          <a:ln>
            <a:noFill/>
          </a:ln>
        </p:spPr>
        <p:txBody>
          <a:bodyPr rtlCol="0" anchor="ctr" wrap="square" lIns="0" rIns="0" tIns="0" bIns="0">
            <a:noAutofit/>
          </a:bodyPr>
          <a:lstStyle/>
          <a:p>
            <a:pPr algn="ctr" marL="0" indent="0">
              <a:buNone/>
            </a:pPr>
            <a:r>
              <a:rPr sz="1800" b="1" i="0">
                <a:solidFill>
                  <a:srgbClr val="1B1F24"/>
                </a:solidFill>
                <a:latin typeface="Calibri"/>
              </a:rPr>
              <a:t>4</a:t>
            </a:r>
          </a:p>
        </p:txBody>
      </p:sp>
      <p:sp>
        <p:nvSpPr>
          <p:cNvPr id="14" name="TextBox 13"/>
          <p:cNvSpPr txBox="1"/>
          <p:nvPr/>
        </p:nvSpPr>
        <p:spPr>
          <a:xfrm>
            <a:off x="1362456" y="4206240"/>
            <a:ext cx="8229600" cy="502920"/>
          </a:xfrm>
          <a:prstGeom prst="rect">
            <a:avLst/>
          </a:prstGeom>
          <a:noFill/>
        </p:spPr>
        <p:txBody>
          <a:bodyPr wrap="square" lIns="0" rIns="0" tIns="0" bIns="0" anchor="ctr">
            <a:noAutofit/>
          </a:bodyPr>
          <a:lstStyle/>
          <a:p>
            <a:pPr algn="l" marL="0" indent="0">
              <a:buNone/>
            </a:pPr>
            <a:r>
              <a:rPr sz="2200" b="0" i="0">
                <a:solidFill>
                  <a:srgbClr val="1B1F24"/>
                </a:solidFill>
                <a:latin typeface="Calibri"/>
              </a:rPr>
              <a:t>Implementation details</a:t>
            </a:r>
          </a:p>
        </p:txBody>
      </p:sp>
      <p:sp>
        <p:nvSpPr>
          <p:cNvPr id="15" name="Rectangle 14"/>
          <p:cNvSpPr/>
          <p:nvPr/>
        </p:nvSpPr>
        <p:spPr>
          <a:xfrm>
            <a:off x="1362456" y="4892040"/>
            <a:ext cx="7315200" cy="9144"/>
          </a:xfrm>
          <a:prstGeom prst="rect">
            <a:avLst/>
          </a:prstGeom>
          <a:solidFill>
            <a:srgbClr val="E1E5EA"/>
          </a:solidFill>
          <a:ln>
            <a:noFill/>
          </a:ln>
        </p:spPr>
        <p:txBody>
          <a:bodyPr rtlCol="0" anchor="ctr"/>
          <a:lstStyle/>
          <a:p>
            <a:pPr algn="ctr"/>
          </a:p>
        </p:txBody>
      </p:sp>
      <p:sp>
        <p:nvSpPr>
          <p:cNvPr id="16" name="Oval 15"/>
          <p:cNvSpPr/>
          <p:nvPr/>
        </p:nvSpPr>
        <p:spPr>
          <a:xfrm>
            <a:off x="585216" y="5074920"/>
            <a:ext cx="502920" cy="502920"/>
          </a:xfrm>
          <a:prstGeom prst="ellipse">
            <a:avLst/>
          </a:prstGeom>
          <a:solidFill>
            <a:srgbClr val="EB6834"/>
          </a:solidFill>
          <a:ln>
            <a:noFill/>
          </a:ln>
        </p:spPr>
        <p:txBody>
          <a:bodyPr rtlCol="0" anchor="ctr" wrap="square" lIns="0" rIns="0" tIns="0" bIns="0">
            <a:noAutofit/>
          </a:bodyPr>
          <a:lstStyle/>
          <a:p>
            <a:pPr algn="ctr" marL="0" indent="0">
              <a:buNone/>
            </a:pPr>
            <a:r>
              <a:rPr sz="1800" b="1" i="0">
                <a:solidFill>
                  <a:srgbClr val="1B1F24"/>
                </a:solidFill>
                <a:latin typeface="Calibri"/>
              </a:rPr>
              <a:t>5</a:t>
            </a:r>
          </a:p>
        </p:txBody>
      </p:sp>
      <p:sp>
        <p:nvSpPr>
          <p:cNvPr id="17" name="TextBox 16"/>
          <p:cNvSpPr txBox="1"/>
          <p:nvPr/>
        </p:nvSpPr>
        <p:spPr>
          <a:xfrm>
            <a:off x="1362456" y="5074920"/>
            <a:ext cx="8229600" cy="502920"/>
          </a:xfrm>
          <a:prstGeom prst="rect">
            <a:avLst/>
          </a:prstGeom>
          <a:noFill/>
        </p:spPr>
        <p:txBody>
          <a:bodyPr wrap="square" lIns="0" rIns="0" tIns="0" bIns="0" anchor="ctr">
            <a:noAutofit/>
          </a:bodyPr>
          <a:lstStyle/>
          <a:p>
            <a:pPr algn="l" marL="0" indent="0">
              <a:buNone/>
            </a:pPr>
            <a:r>
              <a:rPr sz="2200" b="0" i="0">
                <a:solidFill>
                  <a:srgbClr val="1B1F24"/>
                </a:solidFill>
                <a:latin typeface="Calibri"/>
              </a:rPr>
              <a:t>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Most of a Triton launch is Python, before the driver</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3</a:t>
            </a:r>
          </a:p>
        </p:txBody>
      </p:sp>
      <p:sp>
        <p:nvSpPr>
          <p:cNvPr id="4" name="TextBox 3"/>
          <p:cNvSpPr txBox="1"/>
          <p:nvPr/>
        </p:nvSpPr>
        <p:spPr>
          <a:xfrm>
            <a:off x="585216" y="1463040"/>
            <a:ext cx="5120640" cy="4480560"/>
          </a:xfrm>
          <a:prstGeom prst="rect">
            <a:avLst/>
          </a:prstGeom>
          <a:noFill/>
        </p:spPr>
        <p:txBody>
          <a:bodyPr wrap="square" lIns="0" rIns="0" tIns="0" bIns="0" anchor="t">
            <a:noAutofit/>
          </a:bodyPr>
          <a:lstStyle/>
          <a:p>
            <a:pPr algn="l" marL="201168" indent="-201168">
              <a:spcAft>
                <a:spcPts val="1400"/>
              </a:spcAft>
              <a:buClr>
                <a:srgbClr val="7A7F87"/>
              </a:buClr>
              <a:buFont typeface="Arial"/>
              <a:buChar char="•"/>
            </a:pPr>
            <a:r>
              <a:rPr sz="1500" b="1" i="0">
                <a:solidFill>
                  <a:srgbClr val="1B1F24"/>
                </a:solidFill>
                <a:latin typeface="Calibri"/>
              </a:rPr>
              <a:t>Host path dominates. </a:t>
            </a:r>
            <a:r>
              <a:rPr sz="1500" b="0" i="0">
                <a:solidFill>
                  <a:srgbClr val="1B1F24"/>
                </a:solidFill>
                <a:latin typeface="Calibri"/>
              </a:rPr>
              <a:t>kernel[grid](*args) binds, keys, looks up and checks in Python: 75–78% of a launch on all three machines.</a:t>
            </a:r>
          </a:p>
          <a:p>
            <a:pPr algn="l" marL="201168" indent="-201168">
              <a:spcAft>
                <a:spcPts val="1400"/>
              </a:spcAft>
              <a:buClr>
                <a:srgbClr val="7A7F87"/>
              </a:buClr>
              <a:buFont typeface="Arial"/>
              <a:buChar char="•"/>
            </a:pPr>
            <a:r>
              <a:rPr sz="1500" b="1" i="0">
                <a:solidFill>
                  <a:srgbClr val="1B1F24"/>
                </a:solidFill>
                <a:latin typeface="Calibri"/>
              </a:rPr>
              <a:t>It scales with arguments. </a:t>
            </a:r>
            <a:r>
              <a:rPr sz="1500" b="0" i="0">
                <a:solidFill>
                  <a:srgbClr val="1B1F24"/>
                </a:solidFill>
                <a:latin typeface="Calibri"/>
              </a:rPr>
              <a:t>0 → 64 tensor arguments: 4.9 → 129.2 µs of host time per launch (MI308X).</a:t>
            </a:r>
          </a:p>
          <a:p>
            <a:pPr algn="l" marL="201168" indent="-201168">
              <a:spcAft>
                <a:spcPts val="1400"/>
              </a:spcAft>
              <a:buClr>
                <a:srgbClr val="7A7F87"/>
              </a:buClr>
              <a:buFont typeface="Arial"/>
              <a:buChar char="•"/>
            </a:pPr>
            <a:r>
              <a:rPr sz="1500" b="1" i="0">
                <a:solidFill>
                  <a:srgbClr val="1B1F24"/>
                </a:solidFill>
                <a:latin typeface="Calibri"/>
              </a:rPr>
              <a:t>No single hot spot. </a:t>
            </a:r>
            <a:r>
              <a:rPr sz="1500" b="0" i="0">
                <a:solidFill>
                  <a:srgbClr val="1B1F24"/>
                </a:solidFill>
                <a:latin typeface="Calibri"/>
              </a:rPr>
              <a:t>The cost is a long tail spread across the call, not one slow function.</a:t>
            </a:r>
          </a:p>
          <a:p>
            <a:pPr algn="l" marL="201168" indent="-201168">
              <a:buClr>
                <a:srgbClr val="7A7F87"/>
              </a:buClr>
              <a:buFont typeface="Arial"/>
              <a:buChar char="•"/>
            </a:pPr>
            <a:r>
              <a:rPr sz="1500" b="1" i="0">
                <a:solidFill>
                  <a:srgbClr val="1B1F24"/>
                </a:solidFill>
                <a:latin typeface="Calibri"/>
              </a:rPr>
              <a:t>Small kernels turn host-bound. </a:t>
            </a:r>
            <a:r>
              <a:rPr sz="1500" b="0" i="0">
                <a:solidFill>
                  <a:srgbClr val="1B1F24"/>
                </a:solidFill>
                <a:latin typeface="Calibri"/>
              </a:rPr>
              <a:t>AITER's fused KDA decode runs 13.0 µs on the GPU, yet each eager call takes 32.6 µs (MI350X).</a:t>
            </a:r>
          </a:p>
        </p:txBody>
      </p:sp>
      <p:sp>
        <p:nvSpPr>
          <p:cNvPr id="5" name="TextBox 4"/>
          <p:cNvSpPr txBox="1"/>
          <p:nvPr/>
        </p:nvSpPr>
        <p:spPr>
          <a:xfrm>
            <a:off x="6172200" y="1417320"/>
            <a:ext cx="539496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Triton launch time per call (µs)</a:t>
            </a:r>
          </a:p>
        </p:txBody>
      </p:sp>
      <p:sp>
        <p:nvSpPr>
          <p:cNvPr id="6" name="Rectangle 5"/>
          <p:cNvSpPr/>
          <p:nvPr/>
        </p:nvSpPr>
        <p:spPr>
          <a:xfrm>
            <a:off x="6172200" y="1856231"/>
            <a:ext cx="155448" cy="155448"/>
          </a:xfrm>
          <a:prstGeom prst="rect">
            <a:avLst/>
          </a:prstGeom>
          <a:solidFill>
            <a:srgbClr val="2A78D6"/>
          </a:solidFill>
          <a:ln>
            <a:noFill/>
          </a:ln>
        </p:spPr>
        <p:txBody>
          <a:bodyPr rtlCol="0" anchor="ctr"/>
          <a:lstStyle/>
          <a:p>
            <a:pPr algn="ctr"/>
          </a:p>
        </p:txBody>
      </p:sp>
      <p:sp>
        <p:nvSpPr>
          <p:cNvPr id="7" name="TextBox 6"/>
          <p:cNvSpPr txBox="1"/>
          <p:nvPr/>
        </p:nvSpPr>
        <p:spPr>
          <a:xfrm>
            <a:off x="6409944" y="1783080"/>
            <a:ext cx="1860804"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host path (grid=(0,))</a:t>
            </a:r>
          </a:p>
        </p:txBody>
      </p:sp>
      <p:sp>
        <p:nvSpPr>
          <p:cNvPr id="8" name="Rectangle 7"/>
          <p:cNvSpPr/>
          <p:nvPr/>
        </p:nvSpPr>
        <p:spPr>
          <a:xfrm>
            <a:off x="8453628" y="1856231"/>
            <a:ext cx="155448" cy="155448"/>
          </a:xfrm>
          <a:prstGeom prst="rect">
            <a:avLst/>
          </a:prstGeom>
          <a:solidFill>
            <a:srgbClr val="6B7079"/>
          </a:solidFill>
          <a:ln>
            <a:noFill/>
          </a:ln>
        </p:spPr>
        <p:txBody>
          <a:bodyPr rtlCol="0" anchor="ctr"/>
          <a:lstStyle/>
          <a:p>
            <a:pPr algn="ctr"/>
          </a:p>
        </p:txBody>
      </p:sp>
      <p:sp>
        <p:nvSpPr>
          <p:cNvPr id="9" name="TextBox 8"/>
          <p:cNvSpPr txBox="1"/>
          <p:nvPr/>
        </p:nvSpPr>
        <p:spPr>
          <a:xfrm>
            <a:off x="8691372" y="1783080"/>
            <a:ext cx="1783080"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driver launch + rest</a:t>
            </a:r>
          </a:p>
        </p:txBody>
      </p:sp>
      <p:graphicFrame>
        <p:nvGraphicFramePr>
          <p:cNvPr id="10" name="Chart 9"/>
          <p:cNvGraphicFramePr>
            <a:graphicFrameLocks noGrp="1"/>
          </p:cNvGraphicFramePr>
          <p:nvPr/>
        </p:nvGraphicFramePr>
        <p:xfrm>
          <a:off x="6035040" y="2148840"/>
          <a:ext cx="5577840" cy="3931920"/>
        </p:xfrm>
        <a:graphic>
          <a:graphicData uri="http://schemas.openxmlformats.org/drawingml/2006/chart">
            <c:chart xmlns:c="http://schemas.openxmlformats.org/drawingml/2006/chart" r:id="rId3"/>
          </a:graphicData>
        </a:graphic>
      </p:graphicFrame>
      <p:sp>
        <p:nvSpPr>
          <p:cNvPr id="11" name="TextBox 1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data/headline_launch.csv (grid=(0,) vs grid=(1,)); data/sweep_args_wide.csv; data/aiter_kda_decode.csv, aiter_summary.csv (batch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Re-implement the launch path in C, rendered per kernel</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4</a:t>
            </a:r>
          </a:p>
        </p:txBody>
      </p:sp>
      <p:sp>
        <p:nvSpPr>
          <p:cNvPr id="4" name="TextBox 3"/>
          <p:cNvSpPr txBox="1"/>
          <p:nvPr/>
        </p:nvSpPr>
        <p:spPr>
          <a:xfrm>
            <a:off x="585216" y="1417320"/>
            <a:ext cx="521208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What JITFunction does on every call</a:t>
            </a:r>
          </a:p>
        </p:txBody>
      </p:sp>
      <p:sp>
        <p:nvSpPr>
          <p:cNvPr id="5" name="Rectangle 4"/>
          <p:cNvSpPr/>
          <p:nvPr/>
        </p:nvSpPr>
        <p:spPr>
          <a:xfrm>
            <a:off x="585216" y="1783080"/>
            <a:ext cx="5257800" cy="1691640"/>
          </a:xfrm>
          <a:prstGeom prst="rect">
            <a:avLst/>
          </a:prstGeom>
          <a:solidFill>
            <a:srgbClr val="1F2329"/>
          </a:solidFill>
          <a:ln w="12700">
            <a:solidFill>
              <a:srgbClr val="1F2329"/>
            </a:solidFill>
          </a:ln>
        </p:spPr>
        <p:txBody>
          <a:bodyPr rtlCol="0" anchor="ctr"/>
          <a:lstStyle/>
          <a:p>
            <a:pPr algn="ctr"/>
          </a:p>
        </p:txBody>
      </p:sp>
      <p:sp>
        <p:nvSpPr>
          <p:cNvPr id="6" name="TextBox 5"/>
          <p:cNvSpPr txBox="1"/>
          <p:nvPr/>
        </p:nvSpPr>
        <p:spPr>
          <a:xfrm>
            <a:off x="786384" y="1892807"/>
            <a:ext cx="4855464" cy="1472184"/>
          </a:xfrm>
          <a:prstGeom prst="rect">
            <a:avLst/>
          </a:prstGeom>
          <a:noFill/>
        </p:spPr>
        <p:txBody>
          <a:bodyPr wrap="square" lIns="0" rIns="0" tIns="0" bIns="0" anchor="ctr">
            <a:noAutofit/>
          </a:bodyPr>
          <a:lstStyle/>
          <a:p>
            <a:pPr algn="l" marL="0" indent="0">
              <a:buNone/>
            </a:pPr>
            <a:r>
              <a:rPr sz="1200" b="0" i="0">
                <a:solidFill>
                  <a:srgbClr val="E3E6EA"/>
                </a:solidFill>
                <a:latin typeface="Courier New"/>
              </a:rPr>
              <a:t>key    = hash(source, args, options, knobs)</a:t>
            </a:r>
          </a:p>
          <a:p>
            <a:pPr algn="l" marL="0" indent="0">
              <a:buNone/>
            </a:pPr>
            <a:r>
              <a:rPr sz="1200" b="0" i="0">
                <a:solidFill>
                  <a:srgbClr val="E3E6EA"/>
                </a:solidFill>
                <a:latin typeface="Courier New"/>
              </a:rPr>
              <a:t>kernel = cache.get_or_create(key,</a:t>
            </a:r>
          </a:p>
          <a:p>
            <a:pPr algn="l" marL="0" indent="0">
              <a:buNone/>
            </a:pPr>
            <a:r>
              <a:rPr sz="1200" b="0" i="0">
                <a:solidFill>
                  <a:srgbClr val="E3E6EA"/>
                </a:solidFill>
                <a:latin typeface="Courier New"/>
              </a:rPr>
              <a:t>           lambda: compile(source, args, ...))</a:t>
            </a:r>
          </a:p>
          <a:p>
            <a:pPr algn="l" marL="0" indent="0">
              <a:buNone/>
            </a:pPr>
            <a:r>
              <a:rPr sz="1200" b="0" i="0">
                <a:solidFill>
                  <a:srgbClr val="E3E6EA"/>
                </a:solidFill>
                <a:latin typeface="Courier New"/>
              </a:rPr>
              <a:t>grid   = grid_func(args)</a:t>
            </a:r>
          </a:p>
          <a:p>
            <a:pPr algn="l" marL="0" indent="0">
              <a:buNone/>
            </a:pPr>
            <a:r>
              <a:rPr sz="1200" b="0" i="0">
                <a:solidFill>
                  <a:srgbClr val="E3E6EA"/>
                </a:solidFill>
                <a:latin typeface="Courier New"/>
              </a:rPr>
              <a:t>launch(kernel, device, stream, grid, args)</a:t>
            </a:r>
          </a:p>
        </p:txBody>
      </p:sp>
      <p:sp>
        <p:nvSpPr>
          <p:cNvPr id="7" name="Oval 6"/>
          <p:cNvSpPr/>
          <p:nvPr/>
        </p:nvSpPr>
        <p:spPr>
          <a:xfrm>
            <a:off x="585216" y="3749039"/>
            <a:ext cx="384048" cy="384048"/>
          </a:xfrm>
          <a:prstGeom prst="ellipse">
            <a:avLst/>
          </a:prstGeom>
          <a:solidFill>
            <a:srgbClr val="EB6834"/>
          </a:solidFill>
          <a:ln>
            <a:noFill/>
          </a:ln>
        </p:spPr>
        <p:txBody>
          <a:bodyPr rtlCol="0" anchor="ctr" wrap="square" lIns="0" rIns="0" tIns="0" bIns="0">
            <a:noAutofit/>
          </a:bodyPr>
          <a:lstStyle/>
          <a:p>
            <a:pPr algn="ctr" marL="0" indent="0">
              <a:buNone/>
            </a:pPr>
            <a:r>
              <a:rPr sz="1400" b="1" i="0">
                <a:solidFill>
                  <a:srgbClr val="1B1F24"/>
                </a:solidFill>
                <a:latin typeface="Calibri"/>
              </a:rPr>
              <a:t>1</a:t>
            </a:r>
          </a:p>
        </p:txBody>
      </p:sp>
      <p:sp>
        <p:nvSpPr>
          <p:cNvPr id="8" name="TextBox 7"/>
          <p:cNvSpPr txBox="1"/>
          <p:nvPr/>
        </p:nvSpPr>
        <p:spPr>
          <a:xfrm>
            <a:off x="1133856" y="3767327"/>
            <a:ext cx="4663440" cy="320040"/>
          </a:xfrm>
          <a:prstGeom prst="rect">
            <a:avLst/>
          </a:prstGeom>
          <a:noFill/>
        </p:spPr>
        <p:txBody>
          <a:bodyPr wrap="square" lIns="0" rIns="0" tIns="0" bIns="0" anchor="t">
            <a:noAutofit/>
          </a:bodyPr>
          <a:lstStyle/>
          <a:p>
            <a:pPr algn="l" marL="0" indent="0">
              <a:buNone/>
            </a:pPr>
            <a:r>
              <a:rPr sz="1500" b="1" i="0">
                <a:solidFill>
                  <a:srgbClr val="1B1F24"/>
                </a:solidFill>
                <a:latin typeface="Calibri"/>
              </a:rPr>
              <a:t>Delegate to C as soon as possible</a:t>
            </a:r>
          </a:p>
        </p:txBody>
      </p:sp>
      <p:sp>
        <p:nvSpPr>
          <p:cNvPr id="9" name="TextBox 8"/>
          <p:cNvSpPr txBox="1"/>
          <p:nvPr/>
        </p:nvSpPr>
        <p:spPr>
          <a:xfrm>
            <a:off x="1133856" y="4133087"/>
            <a:ext cx="4709160" cy="777240"/>
          </a:xfrm>
          <a:prstGeom prst="rect">
            <a:avLst/>
          </a:prstGeom>
          <a:noFill/>
        </p:spPr>
        <p:txBody>
          <a:bodyPr wrap="square" lIns="0" rIns="0" tIns="0" bIns="0" anchor="t">
            <a:noAutofit/>
          </a:bodyPr>
          <a:lstStyle/>
          <a:p>
            <a:pPr algn="l" marL="0" indent="0">
              <a:buNone/>
            </a:pPr>
            <a:r>
              <a:rPr sz="1300" b="0" i="0">
                <a:solidFill>
                  <a:srgbClr val="4A4F57"/>
                </a:solidFill>
                <a:latin typeface="Calibri"/>
              </a:rPr>
              <a:t>The Python call lands directly in a rendered METH_FASTCALL C entry, specialized to the kernel's signature.</a:t>
            </a:r>
          </a:p>
        </p:txBody>
      </p:sp>
      <p:sp>
        <p:nvSpPr>
          <p:cNvPr id="10" name="Oval 9"/>
          <p:cNvSpPr/>
          <p:nvPr/>
        </p:nvSpPr>
        <p:spPr>
          <a:xfrm>
            <a:off x="585216" y="4937759"/>
            <a:ext cx="384048" cy="384048"/>
          </a:xfrm>
          <a:prstGeom prst="ellipse">
            <a:avLst/>
          </a:prstGeom>
          <a:solidFill>
            <a:srgbClr val="EB6834"/>
          </a:solidFill>
          <a:ln>
            <a:noFill/>
          </a:ln>
        </p:spPr>
        <p:txBody>
          <a:bodyPr rtlCol="0" anchor="ctr" wrap="square" lIns="0" rIns="0" tIns="0" bIns="0">
            <a:noAutofit/>
          </a:bodyPr>
          <a:lstStyle/>
          <a:p>
            <a:pPr algn="ctr" marL="0" indent="0">
              <a:buNone/>
            </a:pPr>
            <a:r>
              <a:rPr sz="1400" b="1" i="0">
                <a:solidFill>
                  <a:srgbClr val="1B1F24"/>
                </a:solidFill>
                <a:latin typeface="Calibri"/>
              </a:rPr>
              <a:t>2</a:t>
            </a:r>
          </a:p>
        </p:txBody>
      </p:sp>
      <p:sp>
        <p:nvSpPr>
          <p:cNvPr id="11" name="TextBox 10"/>
          <p:cNvSpPr txBox="1"/>
          <p:nvPr/>
        </p:nvSpPr>
        <p:spPr>
          <a:xfrm>
            <a:off x="1133856" y="4956047"/>
            <a:ext cx="4663440" cy="320040"/>
          </a:xfrm>
          <a:prstGeom prst="rect">
            <a:avLst/>
          </a:prstGeom>
          <a:noFill/>
        </p:spPr>
        <p:txBody>
          <a:bodyPr wrap="square" lIns="0" rIns="0" tIns="0" bIns="0" anchor="t">
            <a:noAutofit/>
          </a:bodyPr>
          <a:lstStyle/>
          <a:p>
            <a:pPr algn="l" marL="0" indent="0">
              <a:buNone/>
            </a:pPr>
            <a:r>
              <a:rPr sz="1500" b="1" i="0">
                <a:solidFill>
                  <a:srgbClr val="1B1F24"/>
                </a:solidFill>
                <a:latin typeface="Calibri"/>
              </a:rPr>
              <a:t>Change the interface where it costs time</a:t>
            </a:r>
          </a:p>
        </p:txBody>
      </p:sp>
      <p:sp>
        <p:nvSpPr>
          <p:cNvPr id="12" name="TextBox 11"/>
          <p:cNvSpPr txBox="1"/>
          <p:nvPr/>
        </p:nvSpPr>
        <p:spPr>
          <a:xfrm>
            <a:off x="1133856" y="5321807"/>
            <a:ext cx="4709160" cy="777240"/>
          </a:xfrm>
          <a:prstGeom prst="rect">
            <a:avLst/>
          </a:prstGeom>
          <a:noFill/>
        </p:spPr>
        <p:txBody>
          <a:bodyPr wrap="square" lIns="0" rIns="0" tIns="0" bIns="0" anchor="t">
            <a:noAutofit/>
          </a:bodyPr>
          <a:lstStyle/>
          <a:p>
            <a:pPr algn="l" marL="0" indent="0">
              <a:buNone/>
            </a:pPr>
            <a:r>
              <a:rPr sz="1300" b="0" i="0">
                <a:solidFill>
                  <a:srgbClr val="4A4F57"/>
                </a:solidFill>
                <a:latin typeface="Calibri"/>
              </a:rPr>
              <a:t>Device, stream and grid are passed in; features that need per-call Python are refused. Hence INcompatible.</a:t>
            </a:r>
          </a:p>
        </p:txBody>
      </p:sp>
      <p:sp>
        <p:nvSpPr>
          <p:cNvPr id="13" name="Rectangle 12"/>
          <p:cNvSpPr/>
          <p:nvPr/>
        </p:nvSpPr>
        <p:spPr>
          <a:xfrm>
            <a:off x="6309360" y="1417320"/>
            <a:ext cx="5297119" cy="822960"/>
          </a:xfrm>
          <a:prstGeom prst="rect">
            <a:avLst/>
          </a:prstGeom>
          <a:solidFill>
            <a:srgbClr val="F1F3F6"/>
          </a:solidFill>
          <a:ln>
            <a:noFill/>
          </a:ln>
        </p:spPr>
        <p:txBody>
          <a:bodyPr rtlCol="0" anchor="ctr"/>
          <a:lstStyle/>
          <a:p>
            <a:pPr algn="ctr"/>
          </a:p>
        </p:txBody>
      </p:sp>
      <p:sp>
        <p:nvSpPr>
          <p:cNvPr id="14" name="TextBox 13"/>
          <p:cNvSpPr txBox="1"/>
          <p:nvPr/>
        </p:nvSpPr>
        <p:spPr>
          <a:xfrm>
            <a:off x="6537960" y="1527048"/>
            <a:ext cx="4839919" cy="292608"/>
          </a:xfrm>
          <a:prstGeom prst="rect">
            <a:avLst/>
          </a:prstGeom>
          <a:noFill/>
        </p:spPr>
        <p:txBody>
          <a:bodyPr wrap="square" lIns="0" rIns="0" tIns="0" bIns="0" anchor="t">
            <a:noAutofit/>
          </a:bodyPr>
          <a:lstStyle/>
          <a:p>
            <a:pPr algn="l" marL="0" indent="0">
              <a:buNone/>
            </a:pPr>
            <a:r>
              <a:rPr sz="1400" b="1" i="0">
                <a:solidFill>
                  <a:srgbClr val="1B1F24"/>
                </a:solidFill>
                <a:latin typeface="Calibri"/>
              </a:rPr>
              <a:t>@make_launcher</a:t>
            </a:r>
          </a:p>
        </p:txBody>
      </p:sp>
      <p:sp>
        <p:nvSpPr>
          <p:cNvPr id="15" name="TextBox 14"/>
          <p:cNvSpPr txBox="1"/>
          <p:nvPr/>
        </p:nvSpPr>
        <p:spPr>
          <a:xfrm>
            <a:off x="6537960" y="1847088"/>
            <a:ext cx="4839919" cy="365760"/>
          </a:xfrm>
          <a:prstGeom prst="rect">
            <a:avLst/>
          </a:prstGeom>
          <a:noFill/>
        </p:spPr>
        <p:txBody>
          <a:bodyPr wrap="square" lIns="0" rIns="0" tIns="0" bIns="0" anchor="t">
            <a:noAutofit/>
          </a:bodyPr>
          <a:lstStyle/>
          <a:p>
            <a:pPr algn="l" marL="0" indent="0">
              <a:buNone/>
            </a:pPr>
            <a:r>
              <a:rPr sz="1200" b="0" i="0">
                <a:solidFill>
                  <a:srgbClr val="4A4F57"/>
                </a:solidFill>
                <a:latin typeface="Calibri"/>
              </a:rPr>
              <a:t>Records the kernel and options. No GPU query, no torch import.</a:t>
            </a:r>
          </a:p>
        </p:txBody>
      </p:sp>
      <p:cxnSp>
        <p:nvCxnSpPr>
          <p:cNvPr id="16" name="Connector 15"/>
          <p:cNvCxnSpPr/>
          <p:nvPr/>
        </p:nvCxnSpPr>
        <p:spPr>
          <a:xfrm>
            <a:off x="6858000" y="2258568"/>
            <a:ext cx="0" cy="329184"/>
          </a:xfrm>
          <a:prstGeom prst="line">
            <a:avLst/>
          </a:prstGeom>
          <a:ln w="19050">
            <a:solidFill>
              <a:srgbClr val="7A7F87"/>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22592" y="2286000"/>
            <a:ext cx="2743200"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first call</a:t>
            </a:r>
          </a:p>
        </p:txBody>
      </p:sp>
      <p:sp>
        <p:nvSpPr>
          <p:cNvPr id="18" name="Rectangle 17"/>
          <p:cNvSpPr/>
          <p:nvPr/>
        </p:nvSpPr>
        <p:spPr>
          <a:xfrm>
            <a:off x="6309360" y="2624328"/>
            <a:ext cx="5297119" cy="822960"/>
          </a:xfrm>
          <a:prstGeom prst="rect">
            <a:avLst/>
          </a:prstGeom>
          <a:solidFill>
            <a:srgbClr val="F1F3F6"/>
          </a:solidFill>
          <a:ln>
            <a:noFill/>
          </a:ln>
        </p:spPr>
        <p:txBody>
          <a:bodyPr rtlCol="0" anchor="ctr"/>
          <a:lstStyle/>
          <a:p>
            <a:pPr algn="ctr"/>
          </a:p>
        </p:txBody>
      </p:sp>
      <p:sp>
        <p:nvSpPr>
          <p:cNvPr id="19" name="TextBox 18"/>
          <p:cNvSpPr txBox="1"/>
          <p:nvPr/>
        </p:nvSpPr>
        <p:spPr>
          <a:xfrm>
            <a:off x="6537960" y="2734056"/>
            <a:ext cx="4839919" cy="292608"/>
          </a:xfrm>
          <a:prstGeom prst="rect">
            <a:avLst/>
          </a:prstGeom>
          <a:noFill/>
        </p:spPr>
        <p:txBody>
          <a:bodyPr wrap="square" lIns="0" rIns="0" tIns="0" bIns="0" anchor="t">
            <a:noAutofit/>
          </a:bodyPr>
          <a:lstStyle/>
          <a:p>
            <a:pPr algn="l" marL="0" indent="0">
              <a:buNone/>
            </a:pPr>
            <a:r>
              <a:rPr sz="1400" b="1" i="0">
                <a:solidFill>
                  <a:srgbClr val="1B1F24"/>
                </a:solidFill>
                <a:latin typeface="Calibri"/>
              </a:rPr>
              <a:t>Render · compile · load</a:t>
            </a:r>
          </a:p>
        </p:txBody>
      </p:sp>
      <p:sp>
        <p:nvSpPr>
          <p:cNvPr id="20" name="TextBox 19"/>
          <p:cNvSpPr txBox="1"/>
          <p:nvPr/>
        </p:nvSpPr>
        <p:spPr>
          <a:xfrm>
            <a:off x="6537960" y="3054096"/>
            <a:ext cx="4839919" cy="365760"/>
          </a:xfrm>
          <a:prstGeom prst="rect">
            <a:avLst/>
          </a:prstGeom>
          <a:noFill/>
        </p:spPr>
        <p:txBody>
          <a:bodyPr wrap="square" lIns="0" rIns="0" tIns="0" bIns="0" anchor="t">
            <a:noAutofit/>
          </a:bodyPr>
          <a:lstStyle/>
          <a:p>
            <a:pPr algn="l" marL="0" indent="0">
              <a:buNone/>
            </a:pPr>
            <a:r>
              <a:rPr sz="1200" b="0" i="0">
                <a:solidFill>
                  <a:srgbClr val="4A4F57"/>
                </a:solidFill>
                <a:latin typeface="Calibri"/>
              </a:rPr>
              <a:t>entry.c.jinja → .so, then swap the launcher's ml_meth to the entry.</a:t>
            </a:r>
          </a:p>
        </p:txBody>
      </p:sp>
      <p:cxnSp>
        <p:nvCxnSpPr>
          <p:cNvPr id="21" name="Connector 20"/>
          <p:cNvCxnSpPr/>
          <p:nvPr/>
        </p:nvCxnSpPr>
        <p:spPr>
          <a:xfrm>
            <a:off x="6858000" y="3465576"/>
            <a:ext cx="0" cy="329184"/>
          </a:xfrm>
          <a:prstGeom prst="line">
            <a:avLst/>
          </a:prstGeom>
          <a:ln w="19050">
            <a:solidFill>
              <a:srgbClr val="7A7F87"/>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022592" y="3493008"/>
            <a:ext cx="2743200"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every later call</a:t>
            </a:r>
          </a:p>
        </p:txBody>
      </p:sp>
      <p:sp>
        <p:nvSpPr>
          <p:cNvPr id="23" name="Rectangle 22"/>
          <p:cNvSpPr/>
          <p:nvPr/>
        </p:nvSpPr>
        <p:spPr>
          <a:xfrm>
            <a:off x="6309360" y="3831336"/>
            <a:ext cx="5297119" cy="1508760"/>
          </a:xfrm>
          <a:prstGeom prst="rect">
            <a:avLst/>
          </a:prstGeom>
          <a:solidFill>
            <a:srgbClr val="F1F3F6"/>
          </a:solidFill>
          <a:ln w="12700">
            <a:solidFill>
              <a:srgbClr val="EB6834"/>
            </a:solidFill>
          </a:ln>
        </p:spPr>
        <p:txBody>
          <a:bodyPr rtlCol="0" anchor="ctr"/>
          <a:lstStyle/>
          <a:p>
            <a:pPr algn="ctr"/>
          </a:p>
        </p:txBody>
      </p:sp>
      <p:sp>
        <p:nvSpPr>
          <p:cNvPr id="24" name="TextBox 23"/>
          <p:cNvSpPr txBox="1"/>
          <p:nvPr/>
        </p:nvSpPr>
        <p:spPr>
          <a:xfrm>
            <a:off x="6537960" y="3931920"/>
            <a:ext cx="2743200" cy="292608"/>
          </a:xfrm>
          <a:prstGeom prst="rect">
            <a:avLst/>
          </a:prstGeom>
          <a:noFill/>
        </p:spPr>
        <p:txBody>
          <a:bodyPr wrap="square" lIns="0" rIns="0" tIns="0" bIns="0" anchor="t">
            <a:noAutofit/>
          </a:bodyPr>
          <a:lstStyle/>
          <a:p>
            <a:pPr algn="l" marL="0" indent="0">
              <a:buNone/>
            </a:pPr>
            <a:r>
              <a:rPr sz="1400" b="1" i="0">
                <a:solidFill>
                  <a:srgbClr val="1B1F24"/>
                </a:solidFill>
                <a:latin typeface="Calibri"/>
              </a:rPr>
              <a:t>Native entry (C)</a:t>
            </a:r>
          </a:p>
        </p:txBody>
      </p:sp>
      <p:sp>
        <p:nvSpPr>
          <p:cNvPr id="25" name="Rectangle 24"/>
          <p:cNvSpPr/>
          <p:nvPr/>
        </p:nvSpPr>
        <p:spPr>
          <a:xfrm>
            <a:off x="6537960" y="4343400"/>
            <a:ext cx="1783080" cy="457200"/>
          </a:xfrm>
          <a:prstGeom prst="rect">
            <a:avLst/>
          </a:prstGeom>
          <a:solidFill>
            <a:srgbClr val="EB6834"/>
          </a:solidFill>
          <a:ln>
            <a:noFill/>
          </a:ln>
        </p:spPr>
        <p:txBody>
          <a:bodyPr rtlCol="0" anchor="ctr" wrap="square" lIns="0" rIns="0" tIns="0" bIns="0">
            <a:noAutofit/>
          </a:bodyPr>
          <a:lstStyle/>
          <a:p>
            <a:pPr algn="ctr" marL="0" indent="0">
              <a:buNone/>
            </a:pPr>
            <a:r>
              <a:rPr sz="1000" b="1" i="0">
                <a:solidFill>
                  <a:srgbClr val="1B1F24"/>
                </a:solidFill>
                <a:latin typeface="Calibri"/>
              </a:rPr>
              <a:t>intj args -&gt; spec-key</a:t>
            </a:r>
          </a:p>
        </p:txBody>
      </p:sp>
      <p:sp>
        <p:nvSpPr>
          <p:cNvPr id="26" name="Rectangle 25"/>
          <p:cNvSpPr/>
          <p:nvPr/>
        </p:nvSpPr>
        <p:spPr>
          <a:xfrm>
            <a:off x="8412480" y="4343400"/>
            <a:ext cx="927506" cy="457200"/>
          </a:xfrm>
          <a:prstGeom prst="rect">
            <a:avLst/>
          </a:prstGeom>
          <a:solidFill>
            <a:srgbClr val="EB6834"/>
          </a:solidFill>
          <a:ln>
            <a:noFill/>
          </a:ln>
        </p:spPr>
        <p:txBody>
          <a:bodyPr rtlCol="0" anchor="ctr" wrap="square" lIns="0" rIns="0" tIns="0" bIns="0">
            <a:noAutofit/>
          </a:bodyPr>
          <a:lstStyle/>
          <a:p>
            <a:pPr algn="ctr" marL="0" indent="0">
              <a:buNone/>
            </a:pPr>
            <a:r>
              <a:rPr sz="1000" b="1" i="0">
                <a:solidFill>
                  <a:srgbClr val="1B1F24"/>
                </a:solidFill>
                <a:latin typeface="Calibri"/>
              </a:rPr>
              <a:t>cache lookup</a:t>
            </a:r>
          </a:p>
        </p:txBody>
      </p:sp>
      <p:sp>
        <p:nvSpPr>
          <p:cNvPr id="27" name="Rectangle 26"/>
          <p:cNvSpPr/>
          <p:nvPr/>
        </p:nvSpPr>
        <p:spPr>
          <a:xfrm>
            <a:off x="9431426" y="4343400"/>
            <a:ext cx="927506" cy="457200"/>
          </a:xfrm>
          <a:prstGeom prst="rect">
            <a:avLst/>
          </a:prstGeom>
          <a:solidFill>
            <a:srgbClr val="EB6834"/>
          </a:solidFill>
          <a:ln>
            <a:noFill/>
          </a:ln>
        </p:spPr>
        <p:txBody>
          <a:bodyPr rtlCol="0" anchor="ctr" wrap="square" lIns="0" rIns="0" tIns="0" bIns="0">
            <a:noAutofit/>
          </a:bodyPr>
          <a:lstStyle/>
          <a:p>
            <a:pPr algn="ctr" marL="0" indent="0">
              <a:buNone/>
            </a:pPr>
            <a:r>
              <a:rPr sz="1000" b="1" i="0">
                <a:solidFill>
                  <a:srgbClr val="1B1F24"/>
                </a:solidFill>
                <a:latin typeface="Calibri"/>
              </a:rPr>
              <a:t>grid</a:t>
            </a:r>
          </a:p>
        </p:txBody>
      </p:sp>
      <p:sp>
        <p:nvSpPr>
          <p:cNvPr id="28" name="Rectangle 27"/>
          <p:cNvSpPr/>
          <p:nvPr/>
        </p:nvSpPr>
        <p:spPr>
          <a:xfrm>
            <a:off x="10450372" y="4343400"/>
            <a:ext cx="927506" cy="457200"/>
          </a:xfrm>
          <a:prstGeom prst="rect">
            <a:avLst/>
          </a:prstGeom>
          <a:solidFill>
            <a:srgbClr val="6B7079"/>
          </a:solidFill>
          <a:ln>
            <a:noFill/>
          </a:ln>
        </p:spPr>
        <p:txBody>
          <a:bodyPr rtlCol="0" anchor="ctr" wrap="square" lIns="0" rIns="0" tIns="0" bIns="0">
            <a:noAutofit/>
          </a:bodyPr>
          <a:lstStyle/>
          <a:p>
            <a:pPr algn="ctr" marL="0" indent="0">
              <a:buNone/>
            </a:pPr>
            <a:r>
              <a:rPr sz="1000" b="1" i="0">
                <a:solidFill>
                  <a:srgbClr val="FFFFFF"/>
                </a:solidFill>
                <a:latin typeface="Calibri"/>
              </a:rPr>
              <a:t>driver launch</a:t>
            </a:r>
          </a:p>
        </p:txBody>
      </p:sp>
      <p:sp>
        <p:nvSpPr>
          <p:cNvPr id="29" name="TextBox 28"/>
          <p:cNvSpPr txBox="1"/>
          <p:nvPr/>
        </p:nvSpPr>
        <p:spPr>
          <a:xfrm>
            <a:off x="6537960" y="4919472"/>
            <a:ext cx="4839919"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miss → Python callback → triton.compile → insert</a:t>
            </a:r>
          </a:p>
        </p:txBody>
      </p:sp>
      <p:sp>
        <p:nvSpPr>
          <p:cNvPr id="30" name="TextBox 29"/>
          <p:cNvSpPr txBox="1"/>
          <p:nvPr/>
        </p:nvSpPr>
        <p:spPr>
          <a:xfrm>
            <a:off x="6309360" y="5577840"/>
            <a:ext cx="5297119" cy="320040"/>
          </a:xfrm>
          <a:prstGeom prst="rect">
            <a:avLst/>
          </a:prstGeom>
          <a:noFill/>
        </p:spPr>
        <p:txBody>
          <a:bodyPr wrap="square" lIns="0" rIns="0" tIns="0" bIns="0" anchor="t">
            <a:noAutofit/>
          </a:bodyPr>
          <a:lstStyle/>
          <a:p>
            <a:pPr algn="l" marL="0" indent="0">
              <a:buNone/>
            </a:pPr>
            <a:r>
              <a:rPr sz="1300" b="1" i="0">
                <a:solidFill>
                  <a:srgbClr val="EB6834"/>
                </a:solidFill>
                <a:latin typeface="Calibri"/>
              </a:rPr>
              <a:t>Invariant: </a:t>
            </a:r>
            <a:r>
              <a:rPr sz="1300" b="0" i="0">
                <a:solidFill>
                  <a:srgbClr val="1B1F24"/>
                </a:solidFill>
                <a:latin typeface="Calibri"/>
              </a:rPr>
              <a:t>same intj spec key ⟹ same Triton specialization</a:t>
            </a:r>
          </a:p>
        </p:txBody>
      </p:sp>
      <p:sp>
        <p:nvSpPr>
          <p:cNvPr id="31" name="TextBox 3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README.md (How does it work?), AGENTS.md (The invariant), intj/render/entry.c.jinja.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Usage example: AITER's fused KDA decode on intj</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5</a:t>
            </a:r>
          </a:p>
        </p:txBody>
      </p:sp>
      <p:sp>
        <p:nvSpPr>
          <p:cNvPr id="4" name="TextBox 3"/>
          <p:cNvSpPr txBox="1"/>
          <p:nvPr/>
        </p:nvSpPr>
        <p:spPr>
          <a:xfrm>
            <a:off x="585216" y="1371600"/>
            <a:ext cx="537210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Kernel: decorate once</a:t>
            </a:r>
          </a:p>
        </p:txBody>
      </p:sp>
      <p:sp>
        <p:nvSpPr>
          <p:cNvPr id="5" name="TextBox 4"/>
          <p:cNvSpPr txBox="1"/>
          <p:nvPr/>
        </p:nvSpPr>
        <p:spPr>
          <a:xfrm>
            <a:off x="585216" y="1691640"/>
            <a:ext cx="5372100" cy="256032"/>
          </a:xfrm>
          <a:prstGeom prst="rect">
            <a:avLst/>
          </a:prstGeom>
          <a:noFill/>
        </p:spPr>
        <p:txBody>
          <a:bodyPr wrap="square" lIns="0" rIns="0" tIns="0" bIns="0" anchor="t">
            <a:noAutofit/>
          </a:bodyPr>
          <a:lstStyle/>
          <a:p>
            <a:pPr algn="l" marL="0" indent="0">
              <a:buNone/>
            </a:pPr>
            <a:r>
              <a:rPr sz="1000" b="0" i="0">
                <a:solidFill>
                  <a:srgbClr val="7A7F87"/>
                </a:solidFill>
                <a:latin typeface="Courier New"/>
              </a:rPr>
              <a:t>_triton_kernels/.../fused_conv_recurrent_norm.py</a:t>
            </a:r>
          </a:p>
        </p:txBody>
      </p:sp>
      <p:sp>
        <p:nvSpPr>
          <p:cNvPr id="6" name="Rectangle 5"/>
          <p:cNvSpPr/>
          <p:nvPr/>
        </p:nvSpPr>
        <p:spPr>
          <a:xfrm>
            <a:off x="585216" y="2011680"/>
            <a:ext cx="5372100" cy="2697480"/>
          </a:xfrm>
          <a:prstGeom prst="rect">
            <a:avLst/>
          </a:prstGeom>
          <a:solidFill>
            <a:srgbClr val="1F2329"/>
          </a:solidFill>
          <a:ln w="12700">
            <a:solidFill>
              <a:srgbClr val="1F2329"/>
            </a:solidFill>
          </a:ln>
        </p:spPr>
        <p:txBody>
          <a:bodyPr rtlCol="0" anchor="ctr"/>
          <a:lstStyle/>
          <a:p>
            <a:pPr algn="ctr"/>
          </a:p>
        </p:txBody>
      </p:sp>
      <p:sp>
        <p:nvSpPr>
          <p:cNvPr id="7" name="TextBox 6"/>
          <p:cNvSpPr txBox="1"/>
          <p:nvPr/>
        </p:nvSpPr>
        <p:spPr>
          <a:xfrm>
            <a:off x="786384" y="2148840"/>
            <a:ext cx="4969764" cy="2423160"/>
          </a:xfrm>
          <a:prstGeom prst="rect">
            <a:avLst/>
          </a:prstGeom>
          <a:noFill/>
        </p:spPr>
        <p:txBody>
          <a:bodyPr wrap="square" lIns="0" rIns="0" tIns="0" bIns="0" anchor="t">
            <a:noAutofit/>
          </a:bodyPr>
          <a:lstStyle/>
          <a:p>
            <a:pPr algn="l" marL="0" indent="0">
              <a:buNone/>
            </a:pPr>
            <a:r>
              <a:rPr sz="1100" b="0" i="0">
                <a:solidFill>
                  <a:srgbClr val="E3E6EA"/>
                </a:solidFill>
                <a:latin typeface="Courier New"/>
              </a:rPr>
              <a:t> import triton</a:t>
            </a:r>
          </a:p>
          <a:p>
            <a:pPr algn="l" marL="0" indent="0">
              <a:buNone/>
            </a:pPr>
            <a:r>
              <a:rPr sz="1100" b="0" i="0">
                <a:solidFill>
                  <a:srgbClr val="E3E6EA"/>
                </a:solidFill>
                <a:latin typeface="Courier New"/>
              </a:rPr>
              <a:t> import triton.language as tl</a:t>
            </a:r>
          </a:p>
          <a:p>
            <a:pPr algn="l" marL="0" indent="0">
              <a:buNone/>
            </a:pPr>
            <a:r>
              <a:rPr sz="1100" b="0" i="0">
                <a:solidFill>
                  <a:srgbClr val="7EE787"/>
                </a:solidFill>
                <a:latin typeface="Courier New"/>
              </a:rPr>
              <a:t>+from intj import make_launcher</a:t>
            </a:r>
          </a:p>
          <a:p>
            <a:pPr algn="l" marL="0" indent="0">
              <a:buNone/>
            </a:pPr>
            <a:r>
              <a:rPr sz="1100" b="0" i="0">
                <a:solidFill>
                  <a:srgbClr val="E3E6EA"/>
                </a:solidFill>
                <a:latin typeface="Courier New"/>
              </a:rPr>
              <a:t> </a:t>
            </a:r>
          </a:p>
          <a:p>
            <a:pPr algn="l" marL="0" indent="0">
              <a:buNone/>
            </a:pPr>
            <a:r>
              <a:rPr sz="1100" b="0" i="0">
                <a:solidFill>
                  <a:srgbClr val="7EE787"/>
                </a:solidFill>
                <a:latin typeface="Courier New"/>
              </a:rPr>
              <a:t>+@make_launcher(dynamic_options=("num_warps",))</a:t>
            </a:r>
          </a:p>
          <a:p>
            <a:pPr algn="l" marL="0" indent="0">
              <a:buNone/>
            </a:pPr>
            <a:r>
              <a:rPr sz="1100" b="0" i="0">
                <a:solidFill>
                  <a:srgbClr val="E3E6EA"/>
                </a:solidFill>
                <a:latin typeface="Courier New"/>
              </a:rPr>
              <a:t> @triton.jit</a:t>
            </a:r>
          </a:p>
          <a:p>
            <a:pPr algn="l" marL="0" indent="0">
              <a:buNone/>
            </a:pPr>
            <a:r>
              <a:rPr sz="1100" b="0" i="0">
                <a:solidFill>
                  <a:srgbClr val="E3E6EA"/>
                </a:solidFill>
                <a:latin typeface="Courier New"/>
              </a:rPr>
              <a:t> def fused_conv_recurrent_norm_kernel(</a:t>
            </a:r>
          </a:p>
          <a:p>
            <a:pPr algn="l" marL="0" indent="0">
              <a:buNone/>
            </a:pPr>
            <a:r>
              <a:rPr sz="1100" b="0" i="0">
                <a:solidFill>
                  <a:srgbClr val="E3E6EA"/>
                </a:solidFill>
                <a:latin typeface="Courier New"/>
              </a:rPr>
              <a:t>     x_ptr, conv_weight_ptr, conv_state_ptr, ...,</a:t>
            </a:r>
          </a:p>
          <a:p>
            <a:pPr algn="l" marL="0" indent="0">
              <a:buNone/>
            </a:pPr>
            <a:r>
              <a:rPr sz="1100" b="0" i="0">
                <a:solidFill>
                  <a:srgbClr val="E3E6EA"/>
                </a:solidFill>
                <a:latin typeface="Courier New"/>
              </a:rPr>
              <a:t>     T: tl.int64,</a:t>
            </a:r>
          </a:p>
          <a:p>
            <a:pPr algn="l" marL="0" indent="0">
              <a:buNone/>
            </a:pPr>
            <a:r>
              <a:rPr sz="1100" b="0" i="0">
                <a:solidFill>
                  <a:srgbClr val="E3E6EA"/>
                </a:solidFill>
                <a:latin typeface="Courier New"/>
              </a:rPr>
              <a:t>     H: tl.constexpr, K: tl.constexpr, ...,</a:t>
            </a:r>
          </a:p>
          <a:p>
            <a:pPr algn="l" marL="0" indent="0">
              <a:buNone/>
            </a:pPr>
            <a:r>
              <a:rPr sz="1100" b="0" i="0">
                <a:solidFill>
                  <a:srgbClr val="E3E6EA"/>
                </a:solidFill>
                <a:latin typeface="Courier New"/>
              </a:rPr>
              <a:t>     stride_x_tok: tl.int64, ...,</a:t>
            </a:r>
          </a:p>
          <a:p>
            <a:pPr algn="l" marL="0" indent="0">
              <a:buNone/>
            </a:pPr>
            <a:r>
              <a:rPr sz="1100" b="0" i="0">
                <a:solidFill>
                  <a:srgbClr val="E3E6EA"/>
                </a:solidFill>
                <a:latin typeface="Courier New"/>
              </a:rPr>
              <a:t> ):</a:t>
            </a:r>
          </a:p>
        </p:txBody>
      </p:sp>
      <p:sp>
        <p:nvSpPr>
          <p:cNvPr id="8" name="TextBox 7"/>
          <p:cNvSpPr txBox="1"/>
          <p:nvPr/>
        </p:nvSpPr>
        <p:spPr>
          <a:xfrm>
            <a:off x="6231636" y="1371600"/>
            <a:ext cx="537210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Call site: device, stream, grid, then positional</a:t>
            </a:r>
          </a:p>
        </p:txBody>
      </p:sp>
      <p:sp>
        <p:nvSpPr>
          <p:cNvPr id="9" name="TextBox 8"/>
          <p:cNvSpPr txBox="1"/>
          <p:nvPr/>
        </p:nvSpPr>
        <p:spPr>
          <a:xfrm>
            <a:off x="6231636" y="1691640"/>
            <a:ext cx="5372100" cy="256032"/>
          </a:xfrm>
          <a:prstGeom prst="rect">
            <a:avLst/>
          </a:prstGeom>
          <a:noFill/>
        </p:spPr>
        <p:txBody>
          <a:bodyPr wrap="square" lIns="0" rIns="0" tIns="0" bIns="0" anchor="t">
            <a:noAutofit/>
          </a:bodyPr>
          <a:lstStyle/>
          <a:p>
            <a:pPr algn="l" marL="0" indent="0">
              <a:buNone/>
            </a:pPr>
            <a:r>
              <a:rPr sz="1000" b="0" i="0">
                <a:solidFill>
                  <a:srgbClr val="7A7F87"/>
                </a:solidFill>
                <a:latin typeface="Courier New"/>
              </a:rPr>
              <a:t>gated_delta_net/fused_kda_decode.py</a:t>
            </a:r>
          </a:p>
        </p:txBody>
      </p:sp>
      <p:sp>
        <p:nvSpPr>
          <p:cNvPr id="10" name="Rectangle 9"/>
          <p:cNvSpPr/>
          <p:nvPr/>
        </p:nvSpPr>
        <p:spPr>
          <a:xfrm>
            <a:off x="6231636" y="2011680"/>
            <a:ext cx="5372100" cy="2697480"/>
          </a:xfrm>
          <a:prstGeom prst="rect">
            <a:avLst/>
          </a:prstGeom>
          <a:solidFill>
            <a:srgbClr val="1F2329"/>
          </a:solidFill>
          <a:ln w="12700">
            <a:solidFill>
              <a:srgbClr val="1F2329"/>
            </a:solidFill>
          </a:ln>
        </p:spPr>
        <p:txBody>
          <a:bodyPr rtlCol="0" anchor="ctr"/>
          <a:lstStyle/>
          <a:p>
            <a:pPr algn="ctr"/>
          </a:p>
        </p:txBody>
      </p:sp>
      <p:sp>
        <p:nvSpPr>
          <p:cNvPr id="11" name="TextBox 10"/>
          <p:cNvSpPr txBox="1"/>
          <p:nvPr/>
        </p:nvSpPr>
        <p:spPr>
          <a:xfrm>
            <a:off x="6432803" y="2148840"/>
            <a:ext cx="4969764" cy="2423160"/>
          </a:xfrm>
          <a:prstGeom prst="rect">
            <a:avLst/>
          </a:prstGeom>
          <a:noFill/>
        </p:spPr>
        <p:txBody>
          <a:bodyPr wrap="square" lIns="0" rIns="0" tIns="0" bIns="0" anchor="t">
            <a:noAutofit/>
          </a:bodyPr>
          <a:lstStyle/>
          <a:p>
            <a:pPr algn="l" marL="0" indent="0">
              <a:buNone/>
            </a:pPr>
            <a:r>
              <a:rPr sz="1100" b="0" i="0">
                <a:solidFill>
                  <a:srgbClr val="E3E6EA"/>
                </a:solidFill>
                <a:latin typeface="Courier New"/>
              </a:rPr>
              <a:t> grid = (batch, H)</a:t>
            </a:r>
          </a:p>
          <a:p>
            <a:pPr algn="l" marL="0" indent="0">
              <a:buNone/>
            </a:pPr>
            <a:r>
              <a:rPr sz="1100" b="0" i="0">
                <a:solidFill>
                  <a:srgbClr val="FF7B72"/>
                </a:solidFill>
                <a:latin typeface="Courier New"/>
              </a:rPr>
              <a:t>-fused_conv_recurrent_norm_kernel[grid](</a:t>
            </a:r>
          </a:p>
          <a:p>
            <a:pPr algn="l" marL="0" indent="0">
              <a:buNone/>
            </a:pPr>
            <a:r>
              <a:rPr sz="1100" b="0" i="0">
                <a:solidFill>
                  <a:srgbClr val="7EE787"/>
                </a:solidFill>
                <a:latin typeface="Courier New"/>
              </a:rPr>
              <a:t>+dev, stream = current_device_stream()</a:t>
            </a:r>
          </a:p>
          <a:p>
            <a:pPr algn="l" marL="0" indent="0">
              <a:buNone/>
            </a:pPr>
            <a:r>
              <a:rPr sz="1100" b="0" i="0">
                <a:solidFill>
                  <a:srgbClr val="7EE787"/>
                </a:solidFill>
                <a:latin typeface="Courier New"/>
              </a:rPr>
              <a:t>+fused_conv_recurrent_norm_kernel(</a:t>
            </a:r>
          </a:p>
          <a:p>
            <a:pPr algn="l" marL="0" indent="0">
              <a:buNone/>
            </a:pPr>
            <a:r>
              <a:rPr sz="1100" b="0" i="0">
                <a:solidFill>
                  <a:srgbClr val="7EE787"/>
                </a:solidFill>
                <a:latin typeface="Courier New"/>
              </a:rPr>
              <a:t>+    dev, stream, grid,</a:t>
            </a:r>
          </a:p>
          <a:p>
            <a:pPr algn="l" marL="0" indent="0">
              <a:buNone/>
            </a:pPr>
            <a:r>
              <a:rPr sz="1100" b="0" i="0">
                <a:solidFill>
                  <a:srgbClr val="7EE787"/>
                </a:solidFill>
                <a:latin typeface="Courier New"/>
              </a:rPr>
              <a:t>+    _decode_num_warps(),  # dynamic option</a:t>
            </a:r>
          </a:p>
          <a:p>
            <a:pPr algn="l" marL="0" indent="0">
              <a:buNone/>
            </a:pPr>
            <a:r>
              <a:rPr sz="1100" b="0" i="0">
                <a:solidFill>
                  <a:srgbClr val="E3E6EA"/>
                </a:solidFill>
                <a:latin typeface="Courier New"/>
              </a:rPr>
              <a:t>     mixed_qkv, conv_weight, conv_state, ...,</a:t>
            </a:r>
          </a:p>
          <a:p>
            <a:pPr algn="l" marL="0" indent="0">
              <a:buNone/>
            </a:pPr>
            <a:r>
              <a:rPr sz="1100" b="0" i="0">
                <a:solidFill>
                  <a:srgbClr val="FF7B72"/>
                </a:solidFill>
                <a:latin typeface="Courier New"/>
              </a:rPr>
              <a:t>-    H=H, K=K, V=V, W=W,</a:t>
            </a:r>
          </a:p>
          <a:p>
            <a:pPr algn="l" marL="0" indent="0">
              <a:buNone/>
            </a:pPr>
            <a:r>
              <a:rPr sz="1100" b="0" i="0">
                <a:solidFill>
                  <a:srgbClr val="FF7B72"/>
                </a:solidFill>
                <a:latin typeface="Courier New"/>
              </a:rPr>
              <a:t>-    stride_x_tok=mixed_qkv.stride(0), ...,</a:t>
            </a:r>
          </a:p>
          <a:p>
            <a:pPr algn="l" marL="0" indent="0">
              <a:buNone/>
            </a:pPr>
            <a:r>
              <a:rPr sz="1100" b="0" i="0">
                <a:solidFill>
                  <a:srgbClr val="FF7B72"/>
                </a:solidFill>
                <a:latin typeface="Courier New"/>
              </a:rPr>
              <a:t>-    num_warps=2 if get_arch() == "gfx942" else 4,</a:t>
            </a:r>
          </a:p>
          <a:p>
            <a:pPr algn="l" marL="0" indent="0">
              <a:buNone/>
            </a:pPr>
            <a:r>
              <a:rPr sz="1100" b="0" i="0">
                <a:solidFill>
                  <a:srgbClr val="7EE787"/>
                </a:solidFill>
                <a:latin typeface="Courier New"/>
              </a:rPr>
              <a:t>+    H, K, V, W,</a:t>
            </a:r>
          </a:p>
          <a:p>
            <a:pPr algn="l" marL="0" indent="0">
              <a:buNone/>
            </a:pPr>
            <a:r>
              <a:rPr sz="1100" b="0" i="0">
                <a:solidFill>
                  <a:srgbClr val="7EE787"/>
                </a:solidFill>
                <a:latin typeface="Courier New"/>
              </a:rPr>
              <a:t>+    mixed_qkv.stride(0), ...,  # stride_x_tok</a:t>
            </a:r>
          </a:p>
          <a:p>
            <a:pPr algn="l" marL="0" indent="0">
              <a:buNone/>
            </a:pPr>
            <a:r>
              <a:rPr sz="1100" b="0" i="0">
                <a:solidFill>
                  <a:srgbClr val="E3E6EA"/>
                </a:solidFill>
                <a:latin typeface="Courier New"/>
              </a:rPr>
              <a:t> )</a:t>
            </a:r>
          </a:p>
        </p:txBody>
      </p:sp>
      <p:sp>
        <p:nvSpPr>
          <p:cNvPr id="12" name="Rectangle 11"/>
          <p:cNvSpPr/>
          <p:nvPr/>
        </p:nvSpPr>
        <p:spPr>
          <a:xfrm>
            <a:off x="585216" y="4937760"/>
            <a:ext cx="2548890" cy="1280160"/>
          </a:xfrm>
          <a:prstGeom prst="rect">
            <a:avLst/>
          </a:prstGeom>
          <a:solidFill>
            <a:srgbClr val="F1F3F6"/>
          </a:solidFill>
          <a:ln>
            <a:noFill/>
          </a:ln>
        </p:spPr>
        <p:txBody>
          <a:bodyPr rtlCol="0" anchor="ctr"/>
          <a:lstStyle/>
          <a:p>
            <a:pPr algn="ctr"/>
          </a:p>
        </p:txBody>
      </p:sp>
      <p:sp>
        <p:nvSpPr>
          <p:cNvPr id="13" name="TextBox 12"/>
          <p:cNvSpPr txBox="1"/>
          <p:nvPr/>
        </p:nvSpPr>
        <p:spPr>
          <a:xfrm>
            <a:off x="768096" y="5047488"/>
            <a:ext cx="2183130" cy="292608"/>
          </a:xfrm>
          <a:prstGeom prst="rect">
            <a:avLst/>
          </a:prstGeom>
          <a:noFill/>
        </p:spPr>
        <p:txBody>
          <a:bodyPr wrap="square" lIns="0" rIns="0" tIns="0" bIns="0" anchor="t">
            <a:noAutofit/>
          </a:bodyPr>
          <a:lstStyle/>
          <a:p>
            <a:pPr algn="l" marL="0" indent="0">
              <a:buNone/>
            </a:pPr>
            <a:r>
              <a:rPr sz="1200" b="1" i="0">
                <a:solidFill>
                  <a:srgbClr val="EB6834"/>
                </a:solidFill>
                <a:latin typeface="Courier New"/>
              </a:rPr>
              <a:t>@make_launcher</a:t>
            </a:r>
          </a:p>
        </p:txBody>
      </p:sp>
      <p:sp>
        <p:nvSpPr>
          <p:cNvPr id="14" name="TextBox 13"/>
          <p:cNvSpPr txBox="1"/>
          <p:nvPr/>
        </p:nvSpPr>
        <p:spPr>
          <a:xfrm>
            <a:off x="768096" y="5394960"/>
            <a:ext cx="2183130" cy="7772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Records the kernel; the C entry is built on the first call.</a:t>
            </a:r>
          </a:p>
        </p:txBody>
      </p:sp>
      <p:sp>
        <p:nvSpPr>
          <p:cNvPr id="15" name="Rectangle 14"/>
          <p:cNvSpPr/>
          <p:nvPr/>
        </p:nvSpPr>
        <p:spPr>
          <a:xfrm>
            <a:off x="3408426" y="4937760"/>
            <a:ext cx="2548890" cy="1280160"/>
          </a:xfrm>
          <a:prstGeom prst="rect">
            <a:avLst/>
          </a:prstGeom>
          <a:solidFill>
            <a:srgbClr val="F1F3F6"/>
          </a:solidFill>
          <a:ln>
            <a:noFill/>
          </a:ln>
        </p:spPr>
        <p:txBody>
          <a:bodyPr rtlCol="0" anchor="ctr"/>
          <a:lstStyle/>
          <a:p>
            <a:pPr algn="ctr"/>
          </a:p>
        </p:txBody>
      </p:sp>
      <p:sp>
        <p:nvSpPr>
          <p:cNvPr id="16" name="TextBox 15"/>
          <p:cNvSpPr txBox="1"/>
          <p:nvPr/>
        </p:nvSpPr>
        <p:spPr>
          <a:xfrm>
            <a:off x="3591306" y="5047488"/>
            <a:ext cx="2183130" cy="292608"/>
          </a:xfrm>
          <a:prstGeom prst="rect">
            <a:avLst/>
          </a:prstGeom>
          <a:noFill/>
        </p:spPr>
        <p:txBody>
          <a:bodyPr wrap="square" lIns="0" rIns="0" tIns="0" bIns="0" anchor="t">
            <a:noAutofit/>
          </a:bodyPr>
          <a:lstStyle/>
          <a:p>
            <a:pPr algn="l" marL="0" indent="0">
              <a:buNone/>
            </a:pPr>
            <a:r>
              <a:rPr sz="1200" b="1" i="0">
                <a:solidFill>
                  <a:srgbClr val="EB6834"/>
                </a:solidFill>
                <a:latin typeface="Courier New"/>
              </a:rPr>
              <a:t>dynamic_options</a:t>
            </a:r>
          </a:p>
        </p:txBody>
      </p:sp>
      <p:sp>
        <p:nvSpPr>
          <p:cNvPr id="17" name="TextBox 16"/>
          <p:cNvSpPr txBox="1"/>
          <p:nvPr/>
        </p:nvSpPr>
        <p:spPr>
          <a:xfrm>
            <a:off x="3591306" y="5394960"/>
            <a:ext cx="2183130" cy="7772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num_warps is passed per call, right after the grid, and keyed.</a:t>
            </a:r>
          </a:p>
        </p:txBody>
      </p:sp>
      <p:sp>
        <p:nvSpPr>
          <p:cNvPr id="18" name="Rectangle 17"/>
          <p:cNvSpPr/>
          <p:nvPr/>
        </p:nvSpPr>
        <p:spPr>
          <a:xfrm>
            <a:off x="6231636" y="4937760"/>
            <a:ext cx="2548890" cy="1280160"/>
          </a:xfrm>
          <a:prstGeom prst="rect">
            <a:avLst/>
          </a:prstGeom>
          <a:solidFill>
            <a:srgbClr val="F1F3F6"/>
          </a:solidFill>
          <a:ln>
            <a:noFill/>
          </a:ln>
        </p:spPr>
        <p:txBody>
          <a:bodyPr rtlCol="0" anchor="ctr"/>
          <a:lstStyle/>
          <a:p>
            <a:pPr algn="ctr"/>
          </a:p>
        </p:txBody>
      </p:sp>
      <p:sp>
        <p:nvSpPr>
          <p:cNvPr id="19" name="TextBox 18"/>
          <p:cNvSpPr txBox="1"/>
          <p:nvPr/>
        </p:nvSpPr>
        <p:spPr>
          <a:xfrm>
            <a:off x="6414516" y="5047488"/>
            <a:ext cx="2183130" cy="292608"/>
          </a:xfrm>
          <a:prstGeom prst="rect">
            <a:avLst/>
          </a:prstGeom>
          <a:noFill/>
        </p:spPr>
        <p:txBody>
          <a:bodyPr wrap="square" lIns="0" rIns="0" tIns="0" bIns="0" anchor="t">
            <a:noAutofit/>
          </a:bodyPr>
          <a:lstStyle/>
          <a:p>
            <a:pPr algn="l" marL="0" indent="0">
              <a:buNone/>
            </a:pPr>
            <a:r>
              <a:rPr sz="1200" b="1" i="0">
                <a:solidFill>
                  <a:srgbClr val="EB6834"/>
                </a:solidFill>
                <a:latin typeface="Courier New"/>
              </a:rPr>
              <a:t>current_device_stream()</a:t>
            </a:r>
          </a:p>
        </p:txBody>
      </p:sp>
      <p:sp>
        <p:nvSpPr>
          <p:cNvPr id="20" name="TextBox 19"/>
          <p:cNvSpPr txBox="1"/>
          <p:nvPr/>
        </p:nvSpPr>
        <p:spPr>
          <a:xfrm>
            <a:off x="6414516" y="5394960"/>
            <a:ext cx="2183130" cy="7772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AITER's helper: the current device and its raw stream.</a:t>
            </a:r>
          </a:p>
        </p:txBody>
      </p:sp>
      <p:sp>
        <p:nvSpPr>
          <p:cNvPr id="21" name="Rectangle 20"/>
          <p:cNvSpPr/>
          <p:nvPr/>
        </p:nvSpPr>
        <p:spPr>
          <a:xfrm>
            <a:off x="9054846" y="4937760"/>
            <a:ext cx="2548890" cy="1280160"/>
          </a:xfrm>
          <a:prstGeom prst="rect">
            <a:avLst/>
          </a:prstGeom>
          <a:solidFill>
            <a:srgbClr val="F1F3F6"/>
          </a:solidFill>
          <a:ln>
            <a:noFill/>
          </a:ln>
        </p:spPr>
        <p:txBody>
          <a:bodyPr rtlCol="0" anchor="ctr"/>
          <a:lstStyle/>
          <a:p>
            <a:pPr algn="ctr"/>
          </a:p>
        </p:txBody>
      </p:sp>
      <p:sp>
        <p:nvSpPr>
          <p:cNvPr id="22" name="TextBox 21"/>
          <p:cNvSpPr txBox="1"/>
          <p:nvPr/>
        </p:nvSpPr>
        <p:spPr>
          <a:xfrm>
            <a:off x="9237726" y="5047488"/>
            <a:ext cx="2183130" cy="640080"/>
          </a:xfrm>
          <a:prstGeom prst="rect">
            <a:avLst/>
          </a:prstGeom>
          <a:noFill/>
        </p:spPr>
        <p:txBody>
          <a:bodyPr wrap="square" lIns="0" rIns="0" tIns="0" bIns="0" anchor="ctr">
            <a:noAutofit/>
          </a:bodyPr>
          <a:lstStyle/>
          <a:p>
            <a:pPr algn="l" marL="0" indent="0">
              <a:buNone/>
            </a:pPr>
            <a:r>
              <a:rPr sz="2400" b="1" i="0">
                <a:solidFill>
                  <a:srgbClr val="EB6834"/>
                </a:solidFill>
                <a:latin typeface="Calibri"/>
              </a:rPr>
              <a:t>4.5×</a:t>
            </a:r>
          </a:p>
        </p:txBody>
      </p:sp>
      <p:sp>
        <p:nvSpPr>
          <p:cNvPr id="23" name="TextBox 22"/>
          <p:cNvSpPr txBox="1"/>
          <p:nvPr/>
        </p:nvSpPr>
        <p:spPr>
          <a:xfrm>
            <a:off x="9237726" y="5687568"/>
            <a:ext cx="2183130" cy="457199"/>
          </a:xfrm>
          <a:prstGeom prst="rect">
            <a:avLst/>
          </a:prstGeom>
          <a:noFill/>
        </p:spPr>
        <p:txBody>
          <a:bodyPr wrap="square" lIns="0" rIns="0" tIns="0" bIns="0" anchor="t">
            <a:noAutofit/>
          </a:bodyPr>
          <a:lstStyle/>
          <a:p>
            <a:pPr algn="l" marL="0" indent="0">
              <a:buNone/>
            </a:pPr>
            <a:r>
              <a:rPr sz="1100" b="0" i="0">
                <a:solidFill>
                  <a:srgbClr val="4A4F57"/>
                </a:solidFill>
                <a:latin typeface="Calibri"/>
              </a:rPr>
              <a:t>host time 31.8 → 7.0 µs; eager 2.4–2.6× (MI350X)</a:t>
            </a:r>
          </a:p>
        </p:txBody>
      </p:sp>
      <p:sp>
        <p:nvSpPr>
          <p:cNvPr id="24" name="TextBox 23"/>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aiter 874d253dd3..5d710e670 (condensed diff); data/aiter_kda_decode.csv, data/aiter_summary.csv. Outputs bitwise equal on every shape.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3.5–6.2× faster launches; intj's own host time is ~0.03 µs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6</a:t>
            </a:r>
          </a:p>
        </p:txBody>
      </p:sp>
      <p:sp>
        <p:nvSpPr>
          <p:cNvPr id="4" name="TextBox 3"/>
          <p:cNvSpPr txBox="1"/>
          <p:nvPr/>
        </p:nvSpPr>
        <p:spPr>
          <a:xfrm>
            <a:off x="585216" y="1417320"/>
            <a:ext cx="640080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Per launch incl. driver, grid=(1,), µs (lower is better)</a:t>
            </a:r>
          </a:p>
        </p:txBody>
      </p:sp>
      <p:sp>
        <p:nvSpPr>
          <p:cNvPr id="5" name="Rectangle 4"/>
          <p:cNvSpPr/>
          <p:nvPr/>
        </p:nvSpPr>
        <p:spPr>
          <a:xfrm>
            <a:off x="585216" y="1856231"/>
            <a:ext cx="155448" cy="155448"/>
          </a:xfrm>
          <a:prstGeom prst="rect">
            <a:avLst/>
          </a:prstGeom>
          <a:solidFill>
            <a:srgbClr val="2A78D6"/>
          </a:solidFill>
          <a:ln>
            <a:noFill/>
          </a:ln>
        </p:spPr>
        <p:txBody>
          <a:bodyPr rtlCol="0" anchor="ctr"/>
          <a:lstStyle/>
          <a:p>
            <a:pPr algn="ctr"/>
          </a:p>
        </p:txBody>
      </p:sp>
      <p:sp>
        <p:nvSpPr>
          <p:cNvPr id="6" name="TextBox 5"/>
          <p:cNvSpPr txBox="1"/>
          <p:nvPr/>
        </p:nvSpPr>
        <p:spPr>
          <a:xfrm>
            <a:off x="822960" y="1783080"/>
            <a:ext cx="1627632"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Triton JITFunction</a:t>
            </a:r>
          </a:p>
        </p:txBody>
      </p:sp>
      <p:sp>
        <p:nvSpPr>
          <p:cNvPr id="7" name="Rectangle 6"/>
          <p:cNvSpPr/>
          <p:nvPr/>
        </p:nvSpPr>
        <p:spPr>
          <a:xfrm>
            <a:off x="2633472" y="1856231"/>
            <a:ext cx="155448" cy="155448"/>
          </a:xfrm>
          <a:prstGeom prst="rect">
            <a:avLst/>
          </a:prstGeom>
          <a:solidFill>
            <a:srgbClr val="EB6834"/>
          </a:solidFill>
          <a:ln>
            <a:noFill/>
          </a:ln>
        </p:spPr>
        <p:txBody>
          <a:bodyPr rtlCol="0" anchor="ctr"/>
          <a:lstStyle/>
          <a:p>
            <a:pPr algn="ctr"/>
          </a:p>
        </p:txBody>
      </p:sp>
      <p:sp>
        <p:nvSpPr>
          <p:cNvPr id="8" name="TextBox 7"/>
          <p:cNvSpPr txBox="1"/>
          <p:nvPr/>
        </p:nvSpPr>
        <p:spPr>
          <a:xfrm>
            <a:off x="2871216" y="178308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graphicFrame>
        <p:nvGraphicFramePr>
          <p:cNvPr id="9" name="Chart 8"/>
          <p:cNvGraphicFramePr>
            <a:graphicFrameLocks noGrp="1"/>
          </p:cNvGraphicFramePr>
          <p:nvPr/>
        </p:nvGraphicFramePr>
        <p:xfrm>
          <a:off x="493776" y="2148840"/>
          <a:ext cx="6400800" cy="4023360"/>
        </p:xfrm>
        <a:graphic>
          <a:graphicData uri="http://schemas.openxmlformats.org/drawingml/2006/chart">
            <c:chart xmlns:c="http://schemas.openxmlformats.org/drawingml/2006/chart" r:id="rId3"/>
          </a:graphicData>
        </a:graphic>
      </p:graphicFrame>
      <p:sp>
        <p:nvSpPr>
          <p:cNvPr id="10" name="TextBox 9"/>
          <p:cNvSpPr txBox="1"/>
          <p:nvPr/>
        </p:nvSpPr>
        <p:spPr>
          <a:xfrm>
            <a:off x="7178040" y="1417320"/>
            <a:ext cx="4428439"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Host path, no driver, 4 tensor args (µs)</a:t>
            </a:r>
          </a:p>
        </p:txBody>
      </p:sp>
      <p:graphicFrame>
        <p:nvGraphicFramePr>
          <p:cNvPr id="11" name="Table 10"/>
          <p:cNvGraphicFramePr>
            <a:graphicFrameLocks noGrp="1"/>
          </p:cNvGraphicFramePr>
          <p:nvPr/>
        </p:nvGraphicFramePr>
        <p:xfrm>
          <a:off x="7178040" y="1810512"/>
          <a:ext cx="4428438" cy="1755648"/>
        </p:xfrm>
        <a:graphic>
          <a:graphicData uri="http://schemas.openxmlformats.org/drawingml/2006/table">
            <a:tbl>
              <a:tblPr firstRow="1" bandRow="1">
                <a:tableStyleId>{2D5ABB26-0587-4C30-8999-92F81FD0307C}</a:tableStyleId>
              </a:tblPr>
              <a:tblGrid>
                <a:gridCol w="1691640"/>
                <a:gridCol w="1368399"/>
                <a:gridCol w="1368399"/>
              </a:tblGrid>
              <a:tr h="438912">
                <a:tc>
                  <a:txBody>
                    <a:bodyPr wrap="square" lIns="0" rIns="0" tIns="0" bIns="0" anchor="ctr">
                      <a:noAutofit/>
                    </a:bodyPr>
                    <a:lstStyle/>
                    <a:p>
                      <a:pPr algn="l" marL="0" indent="0">
                        <a:buNone/>
                      </a:pPr>
                      <a:r>
                        <a:rPr sz="1200" b="1" i="0">
                          <a:solidFill>
                            <a:srgbClr val="1B1F24"/>
                          </a:solidFill>
                          <a:latin typeface="Calibri"/>
                        </a:rPr>
                        <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Triton</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intj</a:t>
                      </a:r>
                    </a:p>
                  </a:txBody>
                  <a:tcPr marL="73152" marR="73152" marT="27432" marB="27432">
                    <a:solidFill>
                      <a:srgbClr val="E1E5EA"/>
                    </a:solidFill>
                  </a:tcPr>
                </a:tc>
              </a:tr>
              <a:tr h="438912">
                <a:tc>
                  <a:txBody>
                    <a:bodyPr wrap="square" lIns="0" rIns="0" tIns="0" bIns="0" anchor="ctr">
                      <a:noAutofit/>
                    </a:bodyPr>
                    <a:lstStyle/>
                    <a:p>
                      <a:pPr algn="l" marL="0" indent="0">
                        <a:buNone/>
                      </a:pPr>
                      <a:r>
                        <a:rPr sz="1200" b="1" i="0">
                          <a:solidFill>
                            <a:srgbClr val="1B1F24"/>
                          </a:solidFill>
                          <a:latin typeface="Calibri"/>
                        </a:rPr>
                        <a:t>MI308X</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4A4F57"/>
                          </a:solidFill>
                          <a:latin typeface="Calibri"/>
                        </a:rPr>
                        <a:t>13.78</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EB6834"/>
                          </a:solidFill>
                          <a:latin typeface="Calibri"/>
                        </a:rPr>
                        <a:t>0.031</a:t>
                      </a:r>
                    </a:p>
                  </a:txBody>
                  <a:tcPr marL="73152" marR="73152" marT="27432" marB="27432">
                    <a:solidFill>
                      <a:srgbClr val="F1F3F6"/>
                    </a:solidFill>
                  </a:tcPr>
                </a:tc>
              </a:tr>
              <a:tr h="438912">
                <a:tc>
                  <a:txBody>
                    <a:bodyPr wrap="square" lIns="0" rIns="0" tIns="0" bIns="0" anchor="ctr">
                      <a:noAutofit/>
                    </a:bodyPr>
                    <a:lstStyle/>
                    <a:p>
                      <a:pPr algn="l" marL="0" indent="0">
                        <a:buNone/>
                      </a:pPr>
                      <a:r>
                        <a:rPr sz="1200" b="1" i="0">
                          <a:solidFill>
                            <a:srgbClr val="1B1F24"/>
                          </a:solidFill>
                          <a:latin typeface="Calibri"/>
                        </a:rPr>
                        <a:t>MI350X</a:t>
                      </a:r>
                    </a:p>
                  </a:txBody>
                  <a:tcPr marL="73152" marR="73152" marT="27432" marB="27432">
                    <a:solidFill>
                      <a:srgbClr val="FFFFFF"/>
                    </a:solidFill>
                  </a:tcPr>
                </a:tc>
                <a:tc>
                  <a:txBody>
                    <a:bodyPr wrap="square" lIns="0" rIns="0" tIns="0" bIns="0" anchor="ctr">
                      <a:noAutofit/>
                    </a:bodyPr>
                    <a:lstStyle/>
                    <a:p>
                      <a:pPr algn="l" marL="0" indent="0">
                        <a:buNone/>
                      </a:pPr>
                      <a:r>
                        <a:rPr sz="1200" b="1" i="0">
                          <a:solidFill>
                            <a:srgbClr val="4A4F57"/>
                          </a:solidFill>
                          <a:latin typeface="Calibri"/>
                        </a:rPr>
                        <a:t>9.03</a:t>
                      </a:r>
                    </a:p>
                  </a:txBody>
                  <a:tcPr marL="73152" marR="73152" marT="27432" marB="27432">
                    <a:solidFill>
                      <a:srgbClr val="FFFFFF"/>
                    </a:solidFill>
                  </a:tcPr>
                </a:tc>
                <a:tc>
                  <a:txBody>
                    <a:bodyPr wrap="square" lIns="0" rIns="0" tIns="0" bIns="0" anchor="ctr">
                      <a:noAutofit/>
                    </a:bodyPr>
                    <a:lstStyle/>
                    <a:p>
                      <a:pPr algn="l" marL="0" indent="0">
                        <a:buNone/>
                      </a:pPr>
                      <a:r>
                        <a:rPr sz="1200" b="1" i="0">
                          <a:solidFill>
                            <a:srgbClr val="EB6834"/>
                          </a:solidFill>
                          <a:latin typeface="Calibri"/>
                        </a:rPr>
                        <a:t>0.021</a:t>
                      </a:r>
                    </a:p>
                  </a:txBody>
                  <a:tcPr marL="73152" marR="73152" marT="27432" marB="27432">
                    <a:solidFill>
                      <a:srgbClr val="FFFFFF"/>
                    </a:solidFill>
                  </a:tcPr>
                </a:tc>
              </a:tr>
              <a:tr h="438912">
                <a:tc>
                  <a:txBody>
                    <a:bodyPr wrap="square" lIns="0" rIns="0" tIns="0" bIns="0" anchor="ctr">
                      <a:noAutofit/>
                    </a:bodyPr>
                    <a:lstStyle/>
                    <a:p>
                      <a:pPr algn="l" marL="0" indent="0">
                        <a:buNone/>
                      </a:pPr>
                      <a:r>
                        <a:rPr sz="1200" b="1" i="0">
                          <a:solidFill>
                            <a:srgbClr val="1B1F24"/>
                          </a:solidFill>
                          <a:latin typeface="Calibri"/>
                        </a:rPr>
                        <a:t>RTX 4080 SUPER</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4A4F57"/>
                          </a:solidFill>
                          <a:latin typeface="Calibri"/>
                        </a:rPr>
                        <a:t>5.97</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EB6834"/>
                          </a:solidFill>
                          <a:latin typeface="Calibri"/>
                        </a:rPr>
                        <a:t>0.022</a:t>
                      </a:r>
                    </a:p>
                  </a:txBody>
                  <a:tcPr marL="73152" marR="73152" marT="27432" marB="27432">
                    <a:solidFill>
                      <a:srgbClr val="F1F3F6"/>
                    </a:solidFill>
                  </a:tcPr>
                </a:tc>
              </a:tr>
            </a:tbl>
          </a:graphicData>
        </a:graphic>
      </p:graphicFrame>
      <p:sp>
        <p:nvSpPr>
          <p:cNvPr id="12" name="Rectangle 11"/>
          <p:cNvSpPr/>
          <p:nvPr/>
        </p:nvSpPr>
        <p:spPr>
          <a:xfrm>
            <a:off x="7178040" y="3794760"/>
            <a:ext cx="4428439" cy="1325880"/>
          </a:xfrm>
          <a:prstGeom prst="rect">
            <a:avLst/>
          </a:prstGeom>
          <a:solidFill>
            <a:srgbClr val="F1F3F6"/>
          </a:solidFill>
          <a:ln>
            <a:noFill/>
          </a:ln>
        </p:spPr>
        <p:txBody>
          <a:bodyPr rtlCol="0" anchor="ctr"/>
          <a:lstStyle/>
          <a:p>
            <a:pPr algn="ctr"/>
          </a:p>
        </p:txBody>
      </p:sp>
      <p:sp>
        <p:nvSpPr>
          <p:cNvPr id="13" name="TextBox 12"/>
          <p:cNvSpPr txBox="1"/>
          <p:nvPr/>
        </p:nvSpPr>
        <p:spPr>
          <a:xfrm>
            <a:off x="7360919" y="3794760"/>
            <a:ext cx="4062679" cy="1325880"/>
          </a:xfrm>
          <a:prstGeom prst="rect">
            <a:avLst/>
          </a:prstGeom>
          <a:noFill/>
        </p:spPr>
        <p:txBody>
          <a:bodyPr wrap="square" lIns="0" rIns="0" tIns="0" bIns="0" anchor="ctr">
            <a:noAutofit/>
          </a:bodyPr>
          <a:lstStyle/>
          <a:p>
            <a:pPr algn="l" marL="201168" indent="-201168">
              <a:spcAft>
                <a:spcPts val="800"/>
              </a:spcAft>
              <a:buClr>
                <a:srgbClr val="7A7F87"/>
              </a:buClr>
              <a:buFont typeface="Arial"/>
              <a:buChar char="•"/>
            </a:pPr>
            <a:r>
              <a:rPr sz="1200" b="1" i="0">
                <a:solidFill>
                  <a:srgbClr val="4A4F57"/>
                </a:solidFill>
                <a:latin typeface="Calibri"/>
              </a:rPr>
              <a:t>Triton: </a:t>
            </a:r>
            <a:r>
              <a:rPr sz="1200" b="0" i="0">
                <a:solidFill>
                  <a:srgbClr val="4A4F57"/>
                </a:solidFill>
                <a:latin typeface="Calibri"/>
              </a:rPr>
              <a:t>grid=(0,) launch, skips only the driver.</a:t>
            </a:r>
          </a:p>
          <a:p>
            <a:pPr algn="l" marL="201168" indent="-201168">
              <a:spcAft>
                <a:spcPts val="800"/>
              </a:spcAft>
              <a:buClr>
                <a:srgbClr val="7A7F87"/>
              </a:buClr>
              <a:buFont typeface="Arial"/>
              <a:buChar char="•"/>
            </a:pPr>
            <a:r>
              <a:rPr sz="1200" b="1" i="0">
                <a:solidFill>
                  <a:srgbClr val="4A4F57"/>
                </a:solidFill>
                <a:latin typeface="Calibri"/>
              </a:rPr>
              <a:t>intj: </a:t>
            </a:r>
            <a:r>
              <a:rPr sz="1200" b="0" i="0">
                <a:solidFill>
                  <a:srgbClr val="4A4F57"/>
                </a:solidFill>
                <a:latin typeface="Calibri"/>
              </a:rPr>
              <a:t>no_gpu launcher, driver call compiled out.</a:t>
            </a:r>
          </a:p>
          <a:p>
            <a:pPr algn="l" marL="201168" indent="-201168">
              <a:buClr>
                <a:srgbClr val="7A7F87"/>
              </a:buClr>
              <a:buFont typeface="Arial"/>
              <a:buChar char="•"/>
            </a:pPr>
            <a:r>
              <a:rPr sz="1200" b="1" i="0">
                <a:solidFill>
                  <a:srgbClr val="4A4F57"/>
                </a:solidFill>
                <a:latin typeface="Calibri"/>
              </a:rPr>
              <a:t>Driver: </a:t>
            </a:r>
            <a:r>
              <a:rPr sz="1200" b="0" i="0">
                <a:solidFill>
                  <a:srgbClr val="4A4F57"/>
                </a:solidFill>
                <a:latin typeface="Calibri"/>
              </a:rPr>
              <a:t>~3 µs on HIP, ~1.2 µs on CUDA.</a:t>
            </a:r>
          </a:p>
        </p:txBody>
      </p:sp>
      <p:sp>
        <p:nvSpPr>
          <p:cNvPr id="14" name="TextBox 13"/>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data/headline_launch.csv (chart); data/sweep_args_wide.csv (table: triton_host, intj_host). Triton 3.8.0, intj 05e25a9.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intj stays flat as arguments, constexprs and cached kernels grow</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7</a:t>
            </a:r>
          </a:p>
        </p:txBody>
      </p:sp>
      <p:sp>
        <p:nvSpPr>
          <p:cNvPr id="4" name="Rectangle 3"/>
          <p:cNvSpPr/>
          <p:nvPr/>
        </p:nvSpPr>
        <p:spPr>
          <a:xfrm>
            <a:off x="585216" y="1444752"/>
            <a:ext cx="155448" cy="155448"/>
          </a:xfrm>
          <a:prstGeom prst="rect">
            <a:avLst/>
          </a:prstGeom>
          <a:solidFill>
            <a:srgbClr val="2A78D6"/>
          </a:solidFill>
          <a:ln>
            <a:noFill/>
          </a:ln>
        </p:spPr>
        <p:txBody>
          <a:bodyPr rtlCol="0" anchor="ctr"/>
          <a:lstStyle/>
          <a:p>
            <a:pPr algn="ctr"/>
          </a:p>
        </p:txBody>
      </p:sp>
      <p:sp>
        <p:nvSpPr>
          <p:cNvPr id="5" name="TextBox 4"/>
          <p:cNvSpPr txBox="1"/>
          <p:nvPr/>
        </p:nvSpPr>
        <p:spPr>
          <a:xfrm>
            <a:off x="822960" y="1371600"/>
            <a:ext cx="1627632"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Triton JITFunction</a:t>
            </a:r>
          </a:p>
        </p:txBody>
      </p:sp>
      <p:sp>
        <p:nvSpPr>
          <p:cNvPr id="6" name="Rectangle 5"/>
          <p:cNvSpPr/>
          <p:nvPr/>
        </p:nvSpPr>
        <p:spPr>
          <a:xfrm>
            <a:off x="2633472" y="1444752"/>
            <a:ext cx="155448" cy="155448"/>
          </a:xfrm>
          <a:prstGeom prst="rect">
            <a:avLst/>
          </a:prstGeom>
          <a:solidFill>
            <a:srgbClr val="EB6834"/>
          </a:solidFill>
          <a:ln>
            <a:noFill/>
          </a:ln>
        </p:spPr>
        <p:txBody>
          <a:bodyPr rtlCol="0" anchor="ctr"/>
          <a:lstStyle/>
          <a:p>
            <a:pPr algn="ctr"/>
          </a:p>
        </p:txBody>
      </p:sp>
      <p:sp>
        <p:nvSpPr>
          <p:cNvPr id="7" name="TextBox 6"/>
          <p:cNvSpPr txBox="1"/>
          <p:nvPr/>
        </p:nvSpPr>
        <p:spPr>
          <a:xfrm>
            <a:off x="2871216" y="137160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sp>
        <p:nvSpPr>
          <p:cNvPr id="8" name="TextBox 7"/>
          <p:cNvSpPr txBox="1"/>
          <p:nvPr/>
        </p:nvSpPr>
        <p:spPr>
          <a:xfrm>
            <a:off x="6583680" y="1371600"/>
            <a:ext cx="5022799" cy="292608"/>
          </a:xfrm>
          <a:prstGeom prst="rect">
            <a:avLst/>
          </a:prstGeom>
          <a:noFill/>
        </p:spPr>
        <p:txBody>
          <a:bodyPr wrap="square" lIns="0" rIns="0" tIns="0" bIns="0" anchor="t">
            <a:noAutofit/>
          </a:bodyPr>
          <a:lstStyle/>
          <a:p>
            <a:pPr algn="r" marL="0" indent="0">
              <a:buNone/>
            </a:pPr>
            <a:r>
              <a:rPr sz="1200" b="0" i="0">
                <a:solidFill>
                  <a:srgbClr val="7A7F87"/>
                </a:solidFill>
                <a:latin typeface="Calibri"/>
              </a:rPr>
              <a:t>MI308X, per launch incl. driver (µs)</a:t>
            </a:r>
          </a:p>
        </p:txBody>
      </p:sp>
      <p:sp>
        <p:nvSpPr>
          <p:cNvPr id="9" name="TextBox 8"/>
          <p:cNvSpPr txBox="1"/>
          <p:nvPr/>
        </p:nvSpPr>
        <p:spPr>
          <a:xfrm>
            <a:off x="585216" y="1783080"/>
            <a:ext cx="348996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Tensor arguments</a:t>
            </a:r>
          </a:p>
        </p:txBody>
      </p:sp>
      <p:graphicFrame>
        <p:nvGraphicFramePr>
          <p:cNvPr id="10" name="Chart 9"/>
          <p:cNvGraphicFramePr>
            <a:graphicFrameLocks noGrp="1"/>
          </p:cNvGraphicFramePr>
          <p:nvPr/>
        </p:nvGraphicFramePr>
        <p:xfrm>
          <a:off x="493776" y="2103120"/>
          <a:ext cx="3581400" cy="2880360"/>
        </p:xfrm>
        <a:graphic>
          <a:graphicData uri="http://schemas.openxmlformats.org/drawingml/2006/chart">
            <c:chart xmlns:c="http://schemas.openxmlformats.org/drawingml/2006/chart" r:id="rId3"/>
          </a:graphicData>
        </a:graphic>
      </p:graphicFrame>
      <p:sp>
        <p:nvSpPr>
          <p:cNvPr id="11" name="Rectangle 10"/>
          <p:cNvSpPr/>
          <p:nvPr/>
        </p:nvSpPr>
        <p:spPr>
          <a:xfrm>
            <a:off x="585216" y="5120640"/>
            <a:ext cx="3489960" cy="960120"/>
          </a:xfrm>
          <a:prstGeom prst="rect">
            <a:avLst/>
          </a:prstGeom>
          <a:solidFill>
            <a:srgbClr val="F1F3F6"/>
          </a:solidFill>
          <a:ln>
            <a:noFill/>
          </a:ln>
        </p:spPr>
        <p:txBody>
          <a:bodyPr rtlCol="0" anchor="ctr"/>
          <a:lstStyle/>
          <a:p>
            <a:pPr algn="ctr"/>
          </a:p>
        </p:txBody>
      </p:sp>
      <p:sp>
        <p:nvSpPr>
          <p:cNvPr id="12" name="TextBox 11"/>
          <p:cNvSpPr txBox="1"/>
          <p:nvPr/>
        </p:nvSpPr>
        <p:spPr>
          <a:xfrm>
            <a:off x="74980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4A4F57"/>
                </a:solidFill>
                <a:latin typeface="Calibri"/>
              </a:rPr>
              <a:t>Triton </a:t>
            </a:r>
            <a:r>
              <a:rPr sz="1300" b="1" i="0">
                <a:solidFill>
                  <a:srgbClr val="4A4F57"/>
                </a:solidFill>
                <a:latin typeface="Calibri"/>
              </a:rPr>
              <a:t>8.7 → 136.0 µs</a:t>
            </a:r>
          </a:p>
          <a:p>
            <a:pPr algn="l" marL="0" indent="0">
              <a:buNone/>
            </a:pPr>
            <a:r>
              <a:rPr sz="1300" b="0" i="0">
                <a:solidFill>
                  <a:srgbClr val="4A4F57"/>
                </a:solidFill>
                <a:latin typeface="Calibri"/>
              </a:rPr>
              <a:t>intj </a:t>
            </a:r>
            <a:r>
              <a:rPr sz="1300" b="1" i="0">
                <a:solidFill>
                  <a:srgbClr val="EB6834"/>
                </a:solidFill>
                <a:latin typeface="Calibri"/>
              </a:rPr>
              <a:t>3.2 → 7.3 µs</a:t>
            </a:r>
            <a:r>
              <a:rPr sz="1100" b="0" i="0">
                <a:solidFill>
                  <a:srgbClr val="7A7F87"/>
                </a:solidFill>
                <a:latin typeface="Calibri"/>
              </a:rPr>
              <a:t>   host only 0.022 → 0.298</a:t>
            </a:r>
          </a:p>
        </p:txBody>
      </p:sp>
      <p:sp>
        <p:nvSpPr>
          <p:cNvPr id="13" name="TextBox 12"/>
          <p:cNvSpPr txBox="1"/>
          <p:nvPr/>
        </p:nvSpPr>
        <p:spPr>
          <a:xfrm>
            <a:off x="4349496" y="1783080"/>
            <a:ext cx="348996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Constexpr arguments (+4 tensors)</a:t>
            </a:r>
          </a:p>
        </p:txBody>
      </p:sp>
      <p:graphicFrame>
        <p:nvGraphicFramePr>
          <p:cNvPr id="14" name="Chart 13"/>
          <p:cNvGraphicFramePr>
            <a:graphicFrameLocks noGrp="1"/>
          </p:cNvGraphicFramePr>
          <p:nvPr/>
        </p:nvGraphicFramePr>
        <p:xfrm>
          <a:off x="4258056" y="2103120"/>
          <a:ext cx="3581400" cy="2880360"/>
        </p:xfrm>
        <a:graphic>
          <a:graphicData uri="http://schemas.openxmlformats.org/drawingml/2006/chart">
            <c:chart xmlns:c="http://schemas.openxmlformats.org/drawingml/2006/chart" r:id="rId4"/>
          </a:graphicData>
        </a:graphic>
      </p:graphicFrame>
      <p:sp>
        <p:nvSpPr>
          <p:cNvPr id="15" name="Rectangle 14"/>
          <p:cNvSpPr/>
          <p:nvPr/>
        </p:nvSpPr>
        <p:spPr>
          <a:xfrm>
            <a:off x="4349496" y="5120640"/>
            <a:ext cx="3489960" cy="960120"/>
          </a:xfrm>
          <a:prstGeom prst="rect">
            <a:avLst/>
          </a:prstGeom>
          <a:solidFill>
            <a:srgbClr val="F1F3F6"/>
          </a:solidFill>
          <a:ln>
            <a:noFill/>
          </a:ln>
        </p:spPr>
        <p:txBody>
          <a:bodyPr rtlCol="0" anchor="ctr"/>
          <a:lstStyle/>
          <a:p>
            <a:pPr algn="ctr"/>
          </a:p>
        </p:txBody>
      </p:sp>
      <p:sp>
        <p:nvSpPr>
          <p:cNvPr id="16" name="TextBox 15"/>
          <p:cNvSpPr txBox="1"/>
          <p:nvPr/>
        </p:nvSpPr>
        <p:spPr>
          <a:xfrm>
            <a:off x="451408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4A4F57"/>
                </a:solidFill>
                <a:latin typeface="Calibri"/>
              </a:rPr>
              <a:t>Triton </a:t>
            </a:r>
            <a:r>
              <a:rPr sz="1300" b="1" i="0">
                <a:solidFill>
                  <a:srgbClr val="4A4F57"/>
                </a:solidFill>
                <a:latin typeface="Calibri"/>
              </a:rPr>
              <a:t>17.9 → 22.3 µs</a:t>
            </a:r>
          </a:p>
          <a:p>
            <a:pPr algn="l" marL="0" indent="0">
              <a:buNone/>
            </a:pPr>
            <a:r>
              <a:rPr sz="1300" b="0" i="0">
                <a:solidFill>
                  <a:srgbClr val="4A4F57"/>
                </a:solidFill>
                <a:latin typeface="Calibri"/>
              </a:rPr>
              <a:t>intj </a:t>
            </a:r>
            <a:r>
              <a:rPr sz="1300" b="1" i="0">
                <a:solidFill>
                  <a:srgbClr val="EB6834"/>
                </a:solidFill>
                <a:latin typeface="Calibri"/>
              </a:rPr>
              <a:t>3.5 → 3.5 µs</a:t>
            </a:r>
            <a:r>
              <a:rPr sz="1100" b="0" i="0">
                <a:solidFill>
                  <a:srgbClr val="7A7F87"/>
                </a:solidFill>
                <a:latin typeface="Calibri"/>
              </a:rPr>
              <a:t>   host only 0.031 → 0.085</a:t>
            </a:r>
          </a:p>
        </p:txBody>
      </p:sp>
      <p:sp>
        <p:nvSpPr>
          <p:cNvPr id="17" name="TextBox 16"/>
          <p:cNvSpPr txBox="1"/>
          <p:nvPr/>
        </p:nvSpPr>
        <p:spPr>
          <a:xfrm>
            <a:off x="8113776" y="1783080"/>
            <a:ext cx="348996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Cached kernels, hit at random</a:t>
            </a:r>
          </a:p>
        </p:txBody>
      </p:sp>
      <p:graphicFrame>
        <p:nvGraphicFramePr>
          <p:cNvPr id="18" name="Chart 17"/>
          <p:cNvGraphicFramePr>
            <a:graphicFrameLocks noGrp="1"/>
          </p:cNvGraphicFramePr>
          <p:nvPr/>
        </p:nvGraphicFramePr>
        <p:xfrm>
          <a:off x="8022336" y="2103120"/>
          <a:ext cx="3581400" cy="2880360"/>
        </p:xfrm>
        <a:graphic>
          <a:graphicData uri="http://schemas.openxmlformats.org/drawingml/2006/chart">
            <c:chart xmlns:c="http://schemas.openxmlformats.org/drawingml/2006/chart" r:id="rId5"/>
          </a:graphicData>
        </a:graphic>
      </p:graphicFrame>
      <p:sp>
        <p:nvSpPr>
          <p:cNvPr id="19" name="Rectangle 18"/>
          <p:cNvSpPr/>
          <p:nvPr/>
        </p:nvSpPr>
        <p:spPr>
          <a:xfrm>
            <a:off x="8113776" y="5120640"/>
            <a:ext cx="3489960" cy="960120"/>
          </a:xfrm>
          <a:prstGeom prst="rect">
            <a:avLst/>
          </a:prstGeom>
          <a:solidFill>
            <a:srgbClr val="F1F3F6"/>
          </a:solidFill>
          <a:ln>
            <a:noFill/>
          </a:ln>
        </p:spPr>
        <p:txBody>
          <a:bodyPr rtlCol="0" anchor="ctr"/>
          <a:lstStyle/>
          <a:p>
            <a:pPr algn="ctr"/>
          </a:p>
        </p:txBody>
      </p:sp>
      <p:sp>
        <p:nvSpPr>
          <p:cNvPr id="20" name="TextBox 19"/>
          <p:cNvSpPr txBox="1"/>
          <p:nvPr/>
        </p:nvSpPr>
        <p:spPr>
          <a:xfrm>
            <a:off x="827836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4A4F57"/>
                </a:solidFill>
                <a:latin typeface="Calibri"/>
              </a:rPr>
              <a:t>Triton </a:t>
            </a:r>
            <a:r>
              <a:rPr sz="1300" b="1" i="0">
                <a:solidFill>
                  <a:srgbClr val="4A4F57"/>
                </a:solidFill>
                <a:latin typeface="Calibri"/>
              </a:rPr>
              <a:t>17.8 → 18.8 µs</a:t>
            </a:r>
          </a:p>
          <a:p>
            <a:pPr algn="l" marL="0" indent="0">
              <a:buNone/>
            </a:pPr>
            <a:r>
              <a:rPr sz="1300" b="0" i="0">
                <a:solidFill>
                  <a:srgbClr val="4A4F57"/>
                </a:solidFill>
                <a:latin typeface="Calibri"/>
              </a:rPr>
              <a:t>intj </a:t>
            </a:r>
            <a:r>
              <a:rPr sz="1300" b="1" i="0">
                <a:solidFill>
                  <a:srgbClr val="EB6834"/>
                </a:solidFill>
                <a:latin typeface="Calibri"/>
              </a:rPr>
              <a:t>3.5 → 3.9 µs</a:t>
            </a:r>
            <a:r>
              <a:rPr sz="1100" b="0" i="0">
                <a:solidFill>
                  <a:srgbClr val="7A7F87"/>
                </a:solidFill>
                <a:latin typeface="Calibri"/>
              </a:rPr>
              <a:t>   host only 0.035 → 0.046</a:t>
            </a:r>
          </a:p>
        </p:txBody>
      </p:sp>
      <p:sp>
        <p:nvSpPr>
          <p:cNvPr id="21" name="TextBox 2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data/sweep_args_wide.csv, sweep_constexpr_wide.csv, sweep_cache_wide.csv (MI350X and RTX 4080 SUPER rows have the same shape). Empty @triton.jit kernels.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Prior work: TileLang moves the host code into generated C++</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8</a:t>
            </a:r>
          </a:p>
        </p:txBody>
      </p:sp>
      <p:sp>
        <p:nvSpPr>
          <p:cNvPr id="4" name="Rounded Rectangle 3"/>
          <p:cNvSpPr/>
          <p:nvPr/>
        </p:nvSpPr>
        <p:spPr>
          <a:xfrm>
            <a:off x="585216" y="1298448"/>
            <a:ext cx="1600200" cy="384048"/>
          </a:xfrm>
          <a:prstGeom prst="roundRect">
            <a:avLst/>
          </a:prstGeom>
          <a:solidFill>
            <a:srgbClr val="EB6834"/>
          </a:solidFill>
          <a:ln>
            <a:noFill/>
          </a:ln>
        </p:spPr>
        <p:txBody>
          <a:bodyPr rtlCol="0" anchor="ctr" wrap="square" lIns="0" rIns="0" tIns="0" bIns="0">
            <a:noAutofit/>
          </a:bodyPr>
          <a:lstStyle/>
          <a:p>
            <a:pPr algn="ctr" marL="0" indent="0">
              <a:buNone/>
            </a:pPr>
            <a:r>
              <a:rPr sz="1500" b="1" i="0">
                <a:solidFill>
                  <a:srgbClr val="1B1F24"/>
                </a:solidFill>
                <a:latin typeface="Calibri"/>
              </a:rPr>
              <a:t>Dec 11, 2025</a:t>
            </a:r>
          </a:p>
        </p:txBody>
      </p:sp>
      <p:sp>
        <p:nvSpPr>
          <p:cNvPr id="5" name="TextBox 4"/>
          <p:cNvSpPr txBox="1"/>
          <p:nvPr/>
        </p:nvSpPr>
        <p:spPr>
          <a:xfrm>
            <a:off x="2368296" y="1298448"/>
            <a:ext cx="9235440" cy="384048"/>
          </a:xfrm>
          <a:prstGeom prst="rect">
            <a:avLst/>
          </a:prstGeom>
          <a:noFill/>
        </p:spPr>
        <p:txBody>
          <a:bodyPr wrap="square" lIns="0" rIns="0" tIns="0" bIns="0" anchor="ctr">
            <a:noAutofit/>
          </a:bodyPr>
          <a:lstStyle/>
          <a:p>
            <a:pPr algn="l" marL="0" indent="0">
              <a:buNone/>
            </a:pPr>
            <a:r>
              <a:rPr sz="1300" b="1" i="0">
                <a:solidFill>
                  <a:srgbClr val="1B1F24"/>
                </a:solidFill>
                <a:latin typeface="Calibri"/>
              </a:rPr>
              <a:t>TileLang × TVM FFI</a:t>
            </a:r>
            <a:r>
              <a:rPr sz="1300" b="0" i="0">
                <a:solidFill>
                  <a:srgbClr val="7A7F87"/>
                </a:solidFill>
                <a:latin typeface="Calibri"/>
              </a:rPr>
              <a:t>  ·  tilelang.com/blog/2025/12/11/ffi.html</a:t>
            </a:r>
          </a:p>
        </p:txBody>
      </p:sp>
      <p:sp>
        <p:nvSpPr>
          <p:cNvPr id="6" name="Rectangle 5"/>
          <p:cNvSpPr/>
          <p:nvPr/>
        </p:nvSpPr>
        <p:spPr>
          <a:xfrm>
            <a:off x="585216" y="1920240"/>
            <a:ext cx="4663440" cy="3537630"/>
          </a:xfrm>
          <a:prstGeom prst="rect">
            <a:avLst/>
          </a:prstGeom>
          <a:solidFill>
            <a:srgbClr val="FFFFFF"/>
          </a:solidFill>
          <a:ln w="12700">
            <a:solidFill>
              <a:srgbClr val="E1E5EA"/>
            </a:solidFill>
          </a:ln>
        </p:spPr>
        <p:txBody>
          <a:bodyPr rtlCol="0" anchor="ctr"/>
          <a:lstStyle/>
          <a:p>
            <a:pPr algn="ctr"/>
          </a:p>
        </p:txBody>
      </p:sp>
      <p:pic>
        <p:nvPicPr>
          <p:cNvPr id="7" name="Picture 6" descr="image.png"/>
          <p:cNvPicPr>
            <a:picLocks noChangeAspect="1"/>
          </p:cNvPicPr>
          <p:nvPr/>
        </p:nvPicPr>
        <p:blipFill>
          <a:blip r:embed="rId3"/>
          <a:stretch>
            <a:fillRect/>
          </a:stretch>
        </p:blipFill>
        <p:spPr>
          <a:xfrm>
            <a:off x="694944" y="2029968"/>
            <a:ext cx="4443983" cy="3318174"/>
          </a:xfrm>
          <a:prstGeom prst="rect">
            <a:avLst/>
          </a:prstGeom>
        </p:spPr>
      </p:pic>
      <p:sp>
        <p:nvSpPr>
          <p:cNvPr id="8" name="TextBox 7"/>
          <p:cNvSpPr txBox="1"/>
          <p:nvPr/>
        </p:nvSpPr>
        <p:spPr>
          <a:xfrm>
            <a:off x="585216" y="5512734"/>
            <a:ext cx="4663440"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Figure 2 (TileLang half): TileLang vs Triton matmul kernel</a:t>
            </a:r>
          </a:p>
        </p:txBody>
      </p:sp>
      <p:sp>
        <p:nvSpPr>
          <p:cNvPr id="9" name="TextBox 8"/>
          <p:cNvSpPr txBox="1"/>
          <p:nvPr/>
        </p:nvSpPr>
        <p:spPr>
          <a:xfrm>
            <a:off x="5660136" y="1810512"/>
            <a:ext cx="457200" cy="548640"/>
          </a:xfrm>
          <a:prstGeom prst="rect">
            <a:avLst/>
          </a:prstGeom>
          <a:noFill/>
        </p:spPr>
        <p:txBody>
          <a:bodyPr wrap="square" lIns="0" rIns="0" tIns="0" bIns="0" anchor="t">
            <a:noAutofit/>
          </a:bodyPr>
          <a:lstStyle/>
          <a:p>
            <a:pPr algn="l" marL="0" indent="0">
              <a:buNone/>
            </a:pPr>
            <a:r>
              <a:rPr sz="4000" b="1" i="0">
                <a:solidFill>
                  <a:srgbClr val="EB6834"/>
                </a:solidFill>
                <a:latin typeface="Arial"/>
              </a:rPr>
              <a:t>“</a:t>
            </a:r>
          </a:p>
        </p:txBody>
      </p:sp>
      <p:sp>
        <p:nvSpPr>
          <p:cNvPr id="10" name="TextBox 9"/>
          <p:cNvSpPr txBox="1"/>
          <p:nvPr/>
        </p:nvSpPr>
        <p:spPr>
          <a:xfrm>
            <a:off x="6117336" y="1920240"/>
            <a:ext cx="5489143" cy="914400"/>
          </a:xfrm>
          <a:prstGeom prst="rect">
            <a:avLst/>
          </a:prstGeom>
          <a:noFill/>
        </p:spPr>
        <p:txBody>
          <a:bodyPr wrap="square" lIns="0" rIns="0" tIns="0" bIns="0" anchor="t">
            <a:noAutofit/>
          </a:bodyPr>
          <a:lstStyle/>
          <a:p>
            <a:pPr algn="l" marL="0" indent="0">
              <a:buNone/>
            </a:pPr>
            <a:r>
              <a:rPr sz="1400" b="0" i="1">
                <a:solidFill>
                  <a:srgbClr val="4A4F57"/>
                </a:solidFill>
                <a:latin typeface="Calibri"/>
              </a:rPr>
              <a:t>Every time the user accesses torch.Tensor.shape (or device, stride, …) in Python, it adds around </a:t>
            </a:r>
            <a:r>
              <a:rPr sz="1400" b="1" i="1">
                <a:solidFill>
                  <a:srgbClr val="4A4F57"/>
                </a:solidFill>
                <a:latin typeface="Calibri"/>
              </a:rPr>
              <a:t>0.1–1 µs of overhead</a:t>
            </a:r>
            <a:r>
              <a:rPr sz="1400" b="0" i="1">
                <a:solidFill>
                  <a:srgbClr val="4A4F57"/>
                </a:solidFill>
                <a:latin typeface="Calibri"/>
              </a:rPr>
              <a:t>, which is painful when kernels are very fast.</a:t>
            </a:r>
          </a:p>
        </p:txBody>
      </p:sp>
      <p:sp>
        <p:nvSpPr>
          <p:cNvPr id="11" name="TextBox 10"/>
          <p:cNvSpPr txBox="1"/>
          <p:nvPr/>
        </p:nvSpPr>
        <p:spPr>
          <a:xfrm>
            <a:off x="5660136" y="2953512"/>
            <a:ext cx="457200" cy="548640"/>
          </a:xfrm>
          <a:prstGeom prst="rect">
            <a:avLst/>
          </a:prstGeom>
          <a:noFill/>
        </p:spPr>
        <p:txBody>
          <a:bodyPr wrap="square" lIns="0" rIns="0" tIns="0" bIns="0" anchor="t">
            <a:noAutofit/>
          </a:bodyPr>
          <a:lstStyle/>
          <a:p>
            <a:pPr algn="l" marL="0" indent="0">
              <a:buNone/>
            </a:pPr>
            <a:r>
              <a:rPr sz="4000" b="1" i="0">
                <a:solidFill>
                  <a:srgbClr val="EB6834"/>
                </a:solidFill>
                <a:latin typeface="Arial"/>
              </a:rPr>
              <a:t>“</a:t>
            </a:r>
          </a:p>
        </p:txBody>
      </p:sp>
      <p:sp>
        <p:nvSpPr>
          <p:cNvPr id="12" name="TextBox 11"/>
          <p:cNvSpPr txBox="1"/>
          <p:nvPr/>
        </p:nvSpPr>
        <p:spPr>
          <a:xfrm>
            <a:off x="6117336" y="3063240"/>
            <a:ext cx="5489143" cy="868680"/>
          </a:xfrm>
          <a:prstGeom prst="rect">
            <a:avLst/>
          </a:prstGeom>
          <a:noFill/>
        </p:spPr>
        <p:txBody>
          <a:bodyPr wrap="square" lIns="0" rIns="0" tIns="0" bIns="0" anchor="t">
            <a:noAutofit/>
          </a:bodyPr>
          <a:lstStyle/>
          <a:p>
            <a:pPr algn="l" marL="0" indent="0">
              <a:buNone/>
            </a:pPr>
            <a:r>
              <a:rPr sz="1400" b="0" i="1">
                <a:solidFill>
                  <a:srgbClr val="4A4F57"/>
                </a:solidFill>
                <a:latin typeface="Calibri"/>
              </a:rPr>
              <a:t>… after the SplitHostDevice pass, TileLang splits the IR into device and host parts. … Finally, via codegen, </a:t>
            </a:r>
            <a:r>
              <a:rPr sz="1400" b="1" i="1">
                <a:solidFill>
                  <a:srgbClr val="4A4F57"/>
                </a:solidFill>
                <a:latin typeface="Calibri"/>
              </a:rPr>
              <a:t>we generate the C++ host code</a:t>
            </a:r>
            <a:r>
              <a:rPr sz="1400" b="0" i="1">
                <a:solidFill>
                  <a:srgbClr val="4A4F57"/>
                </a:solidFill>
                <a:latin typeface="Calibri"/>
              </a:rPr>
              <a:t>.</a:t>
            </a:r>
          </a:p>
        </p:txBody>
      </p:sp>
      <p:sp>
        <p:nvSpPr>
          <p:cNvPr id="13" name="TextBox 12"/>
          <p:cNvSpPr txBox="1"/>
          <p:nvPr/>
        </p:nvSpPr>
        <p:spPr>
          <a:xfrm>
            <a:off x="5660136" y="4050791"/>
            <a:ext cx="457200" cy="548640"/>
          </a:xfrm>
          <a:prstGeom prst="rect">
            <a:avLst/>
          </a:prstGeom>
          <a:noFill/>
        </p:spPr>
        <p:txBody>
          <a:bodyPr wrap="square" lIns="0" rIns="0" tIns="0" bIns="0" anchor="t">
            <a:noAutofit/>
          </a:bodyPr>
          <a:lstStyle/>
          <a:p>
            <a:pPr algn="l" marL="0" indent="0">
              <a:buNone/>
            </a:pPr>
            <a:r>
              <a:rPr sz="4000" b="1" i="0">
                <a:solidFill>
                  <a:srgbClr val="EB6834"/>
                </a:solidFill>
                <a:latin typeface="Arial"/>
              </a:rPr>
              <a:t>“</a:t>
            </a:r>
          </a:p>
        </p:txBody>
      </p:sp>
      <p:sp>
        <p:nvSpPr>
          <p:cNvPr id="14" name="TextBox 13"/>
          <p:cNvSpPr txBox="1"/>
          <p:nvPr/>
        </p:nvSpPr>
        <p:spPr>
          <a:xfrm>
            <a:off x="6117336" y="4160520"/>
            <a:ext cx="5489143" cy="1783080"/>
          </a:xfrm>
          <a:prstGeom prst="rect">
            <a:avLst/>
          </a:prstGeom>
          <a:noFill/>
        </p:spPr>
        <p:txBody>
          <a:bodyPr wrap="square" lIns="0" rIns="0" tIns="0" bIns="0" anchor="t">
            <a:noAutofit/>
          </a:bodyPr>
          <a:lstStyle/>
          <a:p>
            <a:pPr algn="l" marL="0" indent="0">
              <a:buNone/>
            </a:pPr>
            <a:r>
              <a:rPr sz="1400" b="0" i="1">
                <a:solidFill>
                  <a:srgbClr val="4A4F57"/>
                </a:solidFill>
                <a:latin typeface="Calibri"/>
              </a:rPr>
              <a:t>For a DSL, CPU overhead is mostly kernel host and cache; TileLang leaves very little headroom in these two parts. (In contrast, due to design choices, Triton is weaker on these two aspects. In our experience Triton compiles faster, but </a:t>
            </a:r>
            <a:r>
              <a:rPr sz="1400" b="1" i="1">
                <a:solidFill>
                  <a:srgbClr val="4A4F57"/>
                </a:solidFill>
                <a:latin typeface="Calibri"/>
              </a:rPr>
              <a:t>its runtime CPU overhead is higher</a:t>
            </a:r>
            <a:r>
              <a:rPr sz="1400" b="0" i="1">
                <a:solidFill>
                  <a:srgbClr val="4A4F57"/>
                </a:solidFill>
                <a:latin typeface="Calibri"/>
              </a:rPr>
              <a:t>. </a:t>
            </a:r>
            <a:r>
              <a:rPr sz="1400" b="1" i="1">
                <a:solidFill>
                  <a:srgbClr val="4A4F57"/>
                </a:solidFill>
                <a:latin typeface="Calibri"/>
              </a:rPr>
              <a:t>We won’t benchmark here</a:t>
            </a:r>
            <a:r>
              <a:rPr sz="1400" b="0" i="1">
                <a:solidFill>
                  <a:srgbClr val="4A4F57"/>
                </a:solidFill>
                <a:latin typeface="Calibri"/>
              </a:rPr>
              <a:t>; please feel free to try.)</a:t>
            </a:r>
          </a:p>
        </p:txBody>
      </p:sp>
      <p:sp>
        <p:nvSpPr>
          <p:cNvPr id="15" name="TextBox 14"/>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tilelang.com/blog/2025/12/11/ffi.html, “TileLang x TVM FFI: Reducing Host Overhead and Building an FFI‑Based Compiler” (LeiWang1999, Dec 11,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TVM FFI: TileLang host overhead 2.1–3.8× lower; CuTeDSL ~2 µs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9</a:t>
            </a:r>
          </a:p>
        </p:txBody>
      </p:sp>
      <p:sp>
        <p:nvSpPr>
          <p:cNvPr id="4" name="Rounded Rectangle 3"/>
          <p:cNvSpPr/>
          <p:nvPr/>
        </p:nvSpPr>
        <p:spPr>
          <a:xfrm>
            <a:off x="585216" y="1298448"/>
            <a:ext cx="1600200" cy="384048"/>
          </a:xfrm>
          <a:prstGeom prst="roundRect">
            <a:avLst/>
          </a:prstGeom>
          <a:solidFill>
            <a:srgbClr val="EB6834"/>
          </a:solidFill>
          <a:ln>
            <a:noFill/>
          </a:ln>
        </p:spPr>
        <p:txBody>
          <a:bodyPr rtlCol="0" anchor="ctr" wrap="square" lIns="0" rIns="0" tIns="0" bIns="0">
            <a:noAutofit/>
          </a:bodyPr>
          <a:lstStyle/>
          <a:p>
            <a:pPr algn="ctr" marL="0" indent="0">
              <a:buNone/>
            </a:pPr>
            <a:r>
              <a:rPr sz="1500" b="1" i="0">
                <a:solidFill>
                  <a:srgbClr val="1B1F24"/>
                </a:solidFill>
                <a:latin typeface="Calibri"/>
              </a:rPr>
              <a:t>Dec 11, 2025</a:t>
            </a:r>
          </a:p>
        </p:txBody>
      </p:sp>
      <p:sp>
        <p:nvSpPr>
          <p:cNvPr id="5" name="TextBox 4"/>
          <p:cNvSpPr txBox="1"/>
          <p:nvPr/>
        </p:nvSpPr>
        <p:spPr>
          <a:xfrm>
            <a:off x="2368296" y="1298448"/>
            <a:ext cx="9235440" cy="384048"/>
          </a:xfrm>
          <a:prstGeom prst="rect">
            <a:avLst/>
          </a:prstGeom>
          <a:noFill/>
        </p:spPr>
        <p:txBody>
          <a:bodyPr wrap="square" lIns="0" rIns="0" tIns="0" bIns="0" anchor="ctr">
            <a:noAutofit/>
          </a:bodyPr>
          <a:lstStyle/>
          <a:p>
            <a:pPr algn="l" marL="0" indent="0">
              <a:buNone/>
            </a:pPr>
            <a:r>
              <a:rPr sz="1300" b="1" i="0">
                <a:solidFill>
                  <a:srgbClr val="1B1F24"/>
                </a:solidFill>
                <a:latin typeface="Calibri"/>
              </a:rPr>
              <a:t>TileLang × TVM FFI</a:t>
            </a:r>
            <a:r>
              <a:rPr sz="1300" b="0" i="0">
                <a:solidFill>
                  <a:srgbClr val="7A7F87"/>
                </a:solidFill>
                <a:latin typeface="Calibri"/>
              </a:rPr>
              <a:t>  ·  tilelang.com/blog/2025/12/11/ffi.html</a:t>
            </a:r>
          </a:p>
        </p:txBody>
      </p:sp>
      <p:sp>
        <p:nvSpPr>
          <p:cNvPr id="6" name="Rectangle 5"/>
          <p:cNvSpPr/>
          <p:nvPr/>
        </p:nvSpPr>
        <p:spPr>
          <a:xfrm>
            <a:off x="585216" y="1920240"/>
            <a:ext cx="7406640" cy="2456283"/>
          </a:xfrm>
          <a:prstGeom prst="rect">
            <a:avLst/>
          </a:prstGeom>
          <a:solidFill>
            <a:srgbClr val="FFFFFF"/>
          </a:solidFill>
          <a:ln w="12700">
            <a:solidFill>
              <a:srgbClr val="E1E5EA"/>
            </a:solidFill>
          </a:ln>
        </p:spPr>
        <p:txBody>
          <a:bodyPr rtlCol="0" anchor="ctr"/>
          <a:lstStyle/>
          <a:p>
            <a:pPr algn="ctr"/>
          </a:p>
        </p:txBody>
      </p:sp>
      <p:pic>
        <p:nvPicPr>
          <p:cNvPr id="7" name="Picture 6" descr="figure3_ffi_cpu_overhead.png"/>
          <p:cNvPicPr>
            <a:picLocks noChangeAspect="1"/>
          </p:cNvPicPr>
          <p:nvPr/>
        </p:nvPicPr>
        <p:blipFill>
          <a:blip r:embed="rId3"/>
          <a:stretch>
            <a:fillRect/>
          </a:stretch>
        </p:blipFill>
        <p:spPr>
          <a:xfrm>
            <a:off x="694944" y="2029968"/>
            <a:ext cx="7187183" cy="2236827"/>
          </a:xfrm>
          <a:prstGeom prst="rect">
            <a:avLst/>
          </a:prstGeom>
        </p:spPr>
      </p:pic>
      <p:sp>
        <p:nvSpPr>
          <p:cNvPr id="8" name="TextBox 7"/>
          <p:cNvSpPr txBox="1"/>
          <p:nvPr/>
        </p:nvSpPr>
        <p:spPr>
          <a:xfrm>
            <a:off x="585216" y="4431387"/>
            <a:ext cx="7406640"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Figure 3: CPU host overhead reduction with TVM FFI</a:t>
            </a:r>
          </a:p>
        </p:txBody>
      </p:sp>
      <p:sp>
        <p:nvSpPr>
          <p:cNvPr id="9" name="Rectangle 8"/>
          <p:cNvSpPr/>
          <p:nvPr/>
        </p:nvSpPr>
        <p:spPr>
          <a:xfrm>
            <a:off x="585216" y="4833723"/>
            <a:ext cx="7406640" cy="1384196"/>
          </a:xfrm>
          <a:prstGeom prst="rect">
            <a:avLst/>
          </a:prstGeom>
          <a:solidFill>
            <a:srgbClr val="F1F3F6"/>
          </a:solidFill>
          <a:ln>
            <a:noFill/>
          </a:ln>
        </p:spPr>
        <p:txBody>
          <a:bodyPr rtlCol="0" anchor="ctr"/>
          <a:lstStyle/>
          <a:p>
            <a:pPr algn="ctr"/>
          </a:p>
        </p:txBody>
      </p:sp>
      <p:sp>
        <p:nvSpPr>
          <p:cNvPr id="10" name="TextBox 9"/>
          <p:cNvSpPr txBox="1"/>
          <p:nvPr/>
        </p:nvSpPr>
        <p:spPr>
          <a:xfrm>
            <a:off x="786384" y="4833723"/>
            <a:ext cx="7004303" cy="1384196"/>
          </a:xfrm>
          <a:prstGeom prst="rect">
            <a:avLst/>
          </a:prstGeom>
          <a:noFill/>
        </p:spPr>
        <p:txBody>
          <a:bodyPr wrap="square" lIns="0" rIns="0" tIns="0" bIns="0" anchor="ctr">
            <a:noAutofit/>
          </a:bodyPr>
          <a:lstStyle/>
          <a:p>
            <a:pPr algn="l" marL="201168" indent="-201168">
              <a:spcAft>
                <a:spcPts val="800"/>
              </a:spcAft>
              <a:buClr>
                <a:srgbClr val="7A7F87"/>
              </a:buClr>
              <a:buFont typeface="Arial"/>
              <a:buChar char="•"/>
            </a:pPr>
            <a:r>
              <a:rPr sz="1300" b="1" i="0">
                <a:solidFill>
                  <a:srgbClr val="4A4F57"/>
                </a:solidFill>
                <a:latin typeface="Calibri"/>
              </a:rPr>
              <a:t>TileLang: </a:t>
            </a:r>
            <a:r>
              <a:rPr sz="1300" b="0" i="0">
                <a:solidFill>
                  <a:srgbClr val="4A4F57"/>
                </a:solidFill>
                <a:latin typeface="Calibri"/>
              </a:rPr>
              <a:t>Cython → TVM FFI host code, 2.1–3.8× less CPU overhead per call, kernel launch included.</a:t>
            </a:r>
          </a:p>
          <a:p>
            <a:pPr algn="l" marL="201168" indent="-201168">
              <a:spcAft>
                <a:spcPts val="800"/>
              </a:spcAft>
              <a:buClr>
                <a:srgbClr val="7A7F87"/>
              </a:buClr>
              <a:buFont typeface="Arial"/>
              <a:buChar char="•"/>
            </a:pPr>
            <a:r>
              <a:rPr sz="1300" b="1" i="0">
                <a:solidFill>
                  <a:srgbClr val="4A4F57"/>
                </a:solidFill>
                <a:latin typeface="Calibri"/>
              </a:rPr>
              <a:t>CuTeDSL 4.3.1: </a:t>
            </a:r>
            <a:r>
              <a:rPr sz="1300" b="0" i="0">
                <a:solidFill>
                  <a:srgbClr val="4A4F57"/>
                </a:solidFill>
                <a:latin typeface="Calibri"/>
              </a:rPr>
              <a:t>host overhead 10–40 µs → ~2 µs in hot loops, on the tvm-ffi ABI.</a:t>
            </a:r>
          </a:p>
          <a:p>
            <a:pPr algn="l" marL="201168" indent="-201168">
              <a:buClr>
                <a:srgbClr val="7A7F87"/>
              </a:buClr>
              <a:buFont typeface="Arial"/>
              <a:buChar char="•"/>
            </a:pPr>
            <a:r>
              <a:rPr sz="1300" b="1" i="0">
                <a:solidFill>
                  <a:srgbClr val="4A4F57"/>
                </a:solidFill>
                <a:latin typeface="Calibri"/>
              </a:rPr>
              <a:t>Triton: </a:t>
            </a:r>
            <a:r>
              <a:rPr sz="1300" b="0" i="0">
                <a:solidFill>
                  <a:srgbClr val="4A4F57"/>
                </a:solidFill>
                <a:latin typeface="Calibri"/>
              </a:rPr>
              <a:t>not benchmarked there; its host path measures 6.0–13.8 µs here (4 tensor args).</a:t>
            </a:r>
          </a:p>
        </p:txBody>
      </p:sp>
      <p:sp>
        <p:nvSpPr>
          <p:cNvPr id="11" name="Rectangle 10"/>
          <p:cNvSpPr/>
          <p:nvPr/>
        </p:nvSpPr>
        <p:spPr>
          <a:xfrm>
            <a:off x="8311896" y="1920240"/>
            <a:ext cx="3294583" cy="3006580"/>
          </a:xfrm>
          <a:prstGeom prst="rect">
            <a:avLst/>
          </a:prstGeom>
          <a:solidFill>
            <a:srgbClr val="FFFFFF"/>
          </a:solidFill>
          <a:ln w="12700">
            <a:solidFill>
              <a:srgbClr val="E1E5EA"/>
            </a:solidFill>
          </a:ln>
        </p:spPr>
        <p:txBody>
          <a:bodyPr rtlCol="0" anchor="ctr"/>
          <a:lstStyle/>
          <a:p>
            <a:pPr algn="ctr"/>
          </a:p>
        </p:txBody>
      </p:sp>
      <p:pic>
        <p:nvPicPr>
          <p:cNvPr id="12" name="Picture 11" descr="figure4_ffi_cutedsl_conclusion.png"/>
          <p:cNvPicPr>
            <a:picLocks noChangeAspect="1"/>
          </p:cNvPicPr>
          <p:nvPr/>
        </p:nvPicPr>
        <p:blipFill>
          <a:blip r:embed="rId4"/>
          <a:stretch>
            <a:fillRect/>
          </a:stretch>
        </p:blipFill>
        <p:spPr>
          <a:xfrm>
            <a:off x="8421624" y="2029968"/>
            <a:ext cx="3075127" cy="2787124"/>
          </a:xfrm>
          <a:prstGeom prst="rect">
            <a:avLst/>
          </a:prstGeom>
        </p:spPr>
      </p:pic>
      <p:sp>
        <p:nvSpPr>
          <p:cNvPr id="13" name="TextBox 12"/>
          <p:cNvSpPr txBox="1"/>
          <p:nvPr/>
        </p:nvSpPr>
        <p:spPr>
          <a:xfrm>
            <a:off x="8311896" y="4981684"/>
            <a:ext cx="3294583" cy="274320"/>
          </a:xfrm>
          <a:prstGeom prst="rect">
            <a:avLst/>
          </a:prstGeom>
          <a:noFill/>
        </p:spPr>
        <p:txBody>
          <a:bodyPr wrap="square" lIns="0" rIns="0" tIns="0" bIns="0" anchor="t">
            <a:noAutofit/>
          </a:bodyPr>
          <a:lstStyle/>
          <a:p>
            <a:pPr algn="l" marL="0" indent="0">
              <a:buNone/>
            </a:pPr>
            <a:r>
              <a:rPr sz="1100" b="0" i="1">
                <a:solidFill>
                  <a:srgbClr val="7A7F87"/>
                </a:solidFill>
                <a:latin typeface="Calibri"/>
              </a:rPr>
              <a:t>Figure 4: CuTeDSL results adopting tvm‑ffi</a:t>
            </a:r>
          </a:p>
        </p:txBody>
      </p:sp>
      <p:sp>
        <p:nvSpPr>
          <p:cNvPr id="14" name="TextBox 13"/>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tilelang.com/blog/2025/12/11/ffi.html, “TileLang x TVM FFI: Reducing Host Overhead and Building an FFI‑Based Compiler” (LeiWang1999, Dec 11, 2025). Triton host path: data/sweep_args_wide.csv.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Same binary: intj matches TVM FFI and beats Triton by 2.8–4.9×</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10</a:t>
            </a:r>
          </a:p>
        </p:txBody>
      </p:sp>
      <p:sp>
        <p:nvSpPr>
          <p:cNvPr id="4" name="TextBox 3"/>
          <p:cNvSpPr txBox="1"/>
          <p:nvPr/>
        </p:nvSpPr>
        <p:spPr>
          <a:xfrm>
            <a:off x="585216" y="1417320"/>
            <a:ext cx="470916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Same binary, 1 tensor argument (µs)</a:t>
            </a:r>
          </a:p>
        </p:txBody>
      </p:sp>
      <p:sp>
        <p:nvSpPr>
          <p:cNvPr id="5" name="Rectangle 4"/>
          <p:cNvSpPr/>
          <p:nvPr/>
        </p:nvSpPr>
        <p:spPr>
          <a:xfrm>
            <a:off x="585216" y="1856231"/>
            <a:ext cx="155448" cy="155448"/>
          </a:xfrm>
          <a:prstGeom prst="rect">
            <a:avLst/>
          </a:prstGeom>
          <a:solidFill>
            <a:srgbClr val="2A78D6"/>
          </a:solidFill>
          <a:ln>
            <a:noFill/>
          </a:ln>
        </p:spPr>
        <p:txBody>
          <a:bodyPr rtlCol="0" anchor="ctr"/>
          <a:lstStyle/>
          <a:p>
            <a:pPr algn="ctr"/>
          </a:p>
        </p:txBody>
      </p:sp>
      <p:sp>
        <p:nvSpPr>
          <p:cNvPr id="6" name="TextBox 5"/>
          <p:cNvSpPr txBox="1"/>
          <p:nvPr/>
        </p:nvSpPr>
        <p:spPr>
          <a:xfrm>
            <a:off x="822960" y="1783080"/>
            <a:ext cx="694944"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Triton</a:t>
            </a:r>
          </a:p>
        </p:txBody>
      </p:sp>
      <p:sp>
        <p:nvSpPr>
          <p:cNvPr id="7" name="Rectangle 6"/>
          <p:cNvSpPr/>
          <p:nvPr/>
        </p:nvSpPr>
        <p:spPr>
          <a:xfrm>
            <a:off x="1700784" y="1856231"/>
            <a:ext cx="155448" cy="155448"/>
          </a:xfrm>
          <a:prstGeom prst="rect">
            <a:avLst/>
          </a:prstGeom>
          <a:solidFill>
            <a:srgbClr val="1BAF7A"/>
          </a:solidFill>
          <a:ln>
            <a:noFill/>
          </a:ln>
        </p:spPr>
        <p:txBody>
          <a:bodyPr rtlCol="0" anchor="ctr"/>
          <a:lstStyle/>
          <a:p>
            <a:pPr algn="ctr"/>
          </a:p>
        </p:txBody>
      </p:sp>
      <p:sp>
        <p:nvSpPr>
          <p:cNvPr id="8" name="TextBox 7"/>
          <p:cNvSpPr txBox="1"/>
          <p:nvPr/>
        </p:nvSpPr>
        <p:spPr>
          <a:xfrm>
            <a:off x="1938528" y="1783080"/>
            <a:ext cx="772668"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TVM FFI</a:t>
            </a:r>
          </a:p>
        </p:txBody>
      </p:sp>
      <p:sp>
        <p:nvSpPr>
          <p:cNvPr id="9" name="Rectangle 8"/>
          <p:cNvSpPr/>
          <p:nvPr/>
        </p:nvSpPr>
        <p:spPr>
          <a:xfrm>
            <a:off x="2894076" y="1856231"/>
            <a:ext cx="155448" cy="155448"/>
          </a:xfrm>
          <a:prstGeom prst="rect">
            <a:avLst/>
          </a:prstGeom>
          <a:solidFill>
            <a:srgbClr val="EB6834"/>
          </a:solidFill>
          <a:ln>
            <a:noFill/>
          </a:ln>
        </p:spPr>
        <p:txBody>
          <a:bodyPr rtlCol="0" anchor="ctr"/>
          <a:lstStyle/>
          <a:p>
            <a:pPr algn="ctr"/>
          </a:p>
        </p:txBody>
      </p:sp>
      <p:sp>
        <p:nvSpPr>
          <p:cNvPr id="10" name="TextBox 9"/>
          <p:cNvSpPr txBox="1"/>
          <p:nvPr/>
        </p:nvSpPr>
        <p:spPr>
          <a:xfrm>
            <a:off x="3131820" y="178308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graphicFrame>
        <p:nvGraphicFramePr>
          <p:cNvPr id="11" name="Chart 10"/>
          <p:cNvGraphicFramePr>
            <a:graphicFrameLocks noGrp="1"/>
          </p:cNvGraphicFramePr>
          <p:nvPr/>
        </p:nvGraphicFramePr>
        <p:xfrm>
          <a:off x="493776" y="2148840"/>
          <a:ext cx="4800600" cy="3337560"/>
        </p:xfrm>
        <a:graphic>
          <a:graphicData uri="http://schemas.openxmlformats.org/drawingml/2006/chart">
            <c:chart xmlns:c="http://schemas.openxmlformats.org/drawingml/2006/chart" r:id="rId3"/>
          </a:graphicData>
        </a:graphic>
      </p:graphicFrame>
      <p:sp>
        <p:nvSpPr>
          <p:cNvPr id="12" name="TextBox 11"/>
          <p:cNvSpPr txBox="1"/>
          <p:nvPr/>
        </p:nvSpPr>
        <p:spPr>
          <a:xfrm>
            <a:off x="5614416" y="1417320"/>
            <a:ext cx="5992063"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By argument count, different binaries (µs)</a:t>
            </a:r>
          </a:p>
        </p:txBody>
      </p:sp>
      <p:sp>
        <p:nvSpPr>
          <p:cNvPr id="13" name="Rectangle 12"/>
          <p:cNvSpPr/>
          <p:nvPr/>
        </p:nvSpPr>
        <p:spPr>
          <a:xfrm>
            <a:off x="5614416" y="1856231"/>
            <a:ext cx="155448" cy="155448"/>
          </a:xfrm>
          <a:prstGeom prst="rect">
            <a:avLst/>
          </a:prstGeom>
          <a:solidFill>
            <a:srgbClr val="1BAF7A"/>
          </a:solidFill>
          <a:ln>
            <a:noFill/>
          </a:ln>
        </p:spPr>
        <p:txBody>
          <a:bodyPr rtlCol="0" anchor="ctr"/>
          <a:lstStyle/>
          <a:p>
            <a:pPr algn="ctr"/>
          </a:p>
        </p:txBody>
      </p:sp>
      <p:sp>
        <p:nvSpPr>
          <p:cNvPr id="14" name="TextBox 13"/>
          <p:cNvSpPr txBox="1"/>
          <p:nvPr/>
        </p:nvSpPr>
        <p:spPr>
          <a:xfrm>
            <a:off x="5852159" y="1783080"/>
            <a:ext cx="772668"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TVM FFI</a:t>
            </a:r>
          </a:p>
        </p:txBody>
      </p:sp>
      <p:sp>
        <p:nvSpPr>
          <p:cNvPr id="15" name="Rectangle 14"/>
          <p:cNvSpPr/>
          <p:nvPr/>
        </p:nvSpPr>
        <p:spPr>
          <a:xfrm>
            <a:off x="6807707" y="1856231"/>
            <a:ext cx="155448" cy="155448"/>
          </a:xfrm>
          <a:prstGeom prst="rect">
            <a:avLst/>
          </a:prstGeom>
          <a:solidFill>
            <a:srgbClr val="EB6834"/>
          </a:solidFill>
          <a:ln>
            <a:noFill/>
          </a:ln>
        </p:spPr>
        <p:txBody>
          <a:bodyPr rtlCol="0" anchor="ctr"/>
          <a:lstStyle/>
          <a:p>
            <a:pPr algn="ctr"/>
          </a:p>
        </p:txBody>
      </p:sp>
      <p:sp>
        <p:nvSpPr>
          <p:cNvPr id="16" name="TextBox 15"/>
          <p:cNvSpPr txBox="1"/>
          <p:nvPr/>
        </p:nvSpPr>
        <p:spPr>
          <a:xfrm>
            <a:off x="7045451" y="178308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sp>
        <p:nvSpPr>
          <p:cNvPr id="17" name="TextBox 16"/>
          <p:cNvSpPr txBox="1"/>
          <p:nvPr/>
        </p:nvSpPr>
        <p:spPr>
          <a:xfrm>
            <a:off x="5614416" y="2148840"/>
            <a:ext cx="1905914" cy="274320"/>
          </a:xfrm>
          <a:prstGeom prst="rect">
            <a:avLst/>
          </a:prstGeom>
          <a:noFill/>
        </p:spPr>
        <p:txBody>
          <a:bodyPr wrap="square" lIns="0" rIns="0" tIns="0" bIns="0" anchor="t">
            <a:noAutofit/>
          </a:bodyPr>
          <a:lstStyle/>
          <a:p>
            <a:pPr algn="ctr" marL="0" indent="0">
              <a:buNone/>
            </a:pPr>
            <a:r>
              <a:rPr sz="1200" b="1" i="0">
                <a:solidFill>
                  <a:srgbClr val="1B1F24"/>
                </a:solidFill>
                <a:latin typeface="Calibri"/>
              </a:rPr>
              <a:t>MI308X</a:t>
            </a:r>
          </a:p>
        </p:txBody>
      </p:sp>
      <p:graphicFrame>
        <p:nvGraphicFramePr>
          <p:cNvPr id="18" name="Chart 17"/>
          <p:cNvGraphicFramePr>
            <a:graphicFrameLocks noGrp="1"/>
          </p:cNvGraphicFramePr>
          <p:nvPr/>
        </p:nvGraphicFramePr>
        <p:xfrm>
          <a:off x="5568696" y="2423160"/>
          <a:ext cx="1997354" cy="3063240"/>
        </p:xfrm>
        <a:graphic>
          <a:graphicData uri="http://schemas.openxmlformats.org/drawingml/2006/chart">
            <c:chart xmlns:c="http://schemas.openxmlformats.org/drawingml/2006/chart" r:id="rId4"/>
          </a:graphicData>
        </a:graphic>
      </p:graphicFrame>
      <p:sp>
        <p:nvSpPr>
          <p:cNvPr id="19" name="TextBox 18"/>
          <p:cNvSpPr txBox="1"/>
          <p:nvPr/>
        </p:nvSpPr>
        <p:spPr>
          <a:xfrm>
            <a:off x="7657490" y="2148840"/>
            <a:ext cx="1905914" cy="274320"/>
          </a:xfrm>
          <a:prstGeom prst="rect">
            <a:avLst/>
          </a:prstGeom>
          <a:noFill/>
        </p:spPr>
        <p:txBody>
          <a:bodyPr wrap="square" lIns="0" rIns="0" tIns="0" bIns="0" anchor="t">
            <a:noAutofit/>
          </a:bodyPr>
          <a:lstStyle/>
          <a:p>
            <a:pPr algn="ctr" marL="0" indent="0">
              <a:buNone/>
            </a:pPr>
            <a:r>
              <a:rPr sz="1200" b="1" i="0">
                <a:solidFill>
                  <a:srgbClr val="1B1F24"/>
                </a:solidFill>
                <a:latin typeface="Calibri"/>
              </a:rPr>
              <a:t>MI350X</a:t>
            </a:r>
          </a:p>
        </p:txBody>
      </p:sp>
      <p:graphicFrame>
        <p:nvGraphicFramePr>
          <p:cNvPr id="20" name="Chart 19"/>
          <p:cNvGraphicFramePr>
            <a:graphicFrameLocks noGrp="1"/>
          </p:cNvGraphicFramePr>
          <p:nvPr/>
        </p:nvGraphicFramePr>
        <p:xfrm>
          <a:off x="7611770" y="2423160"/>
          <a:ext cx="1997354" cy="3063240"/>
        </p:xfrm>
        <a:graphic>
          <a:graphicData uri="http://schemas.openxmlformats.org/drawingml/2006/chart">
            <c:chart xmlns:c="http://schemas.openxmlformats.org/drawingml/2006/chart" r:id="rId5"/>
          </a:graphicData>
        </a:graphic>
      </p:graphicFrame>
      <p:sp>
        <p:nvSpPr>
          <p:cNvPr id="21" name="TextBox 20"/>
          <p:cNvSpPr txBox="1"/>
          <p:nvPr/>
        </p:nvSpPr>
        <p:spPr>
          <a:xfrm>
            <a:off x="9700564" y="2148840"/>
            <a:ext cx="1905914" cy="274320"/>
          </a:xfrm>
          <a:prstGeom prst="rect">
            <a:avLst/>
          </a:prstGeom>
          <a:noFill/>
        </p:spPr>
        <p:txBody>
          <a:bodyPr wrap="square" lIns="0" rIns="0" tIns="0" bIns="0" anchor="t">
            <a:noAutofit/>
          </a:bodyPr>
          <a:lstStyle/>
          <a:p>
            <a:pPr algn="ctr" marL="0" indent="0">
              <a:buNone/>
            </a:pPr>
            <a:r>
              <a:rPr sz="1200" b="1" i="0">
                <a:solidFill>
                  <a:srgbClr val="1B1F24"/>
                </a:solidFill>
                <a:latin typeface="Calibri"/>
              </a:rPr>
              <a:t>RTX 4080 SUPER</a:t>
            </a:r>
          </a:p>
        </p:txBody>
      </p:sp>
      <p:graphicFrame>
        <p:nvGraphicFramePr>
          <p:cNvPr id="22" name="Chart 21"/>
          <p:cNvGraphicFramePr>
            <a:graphicFrameLocks noGrp="1"/>
          </p:cNvGraphicFramePr>
          <p:nvPr/>
        </p:nvGraphicFramePr>
        <p:xfrm>
          <a:off x="9654844" y="2423160"/>
          <a:ext cx="1997354" cy="3063240"/>
        </p:xfrm>
        <a:graphic>
          <a:graphicData uri="http://schemas.openxmlformats.org/drawingml/2006/chart">
            <c:chart xmlns:c="http://schemas.openxmlformats.org/drawingml/2006/chart" r:id="rId6"/>
          </a:graphicData>
        </a:graphic>
      </p:graphicFrame>
      <p:sp>
        <p:nvSpPr>
          <p:cNvPr id="23" name="Rectangle 22"/>
          <p:cNvSpPr/>
          <p:nvPr/>
        </p:nvSpPr>
        <p:spPr>
          <a:xfrm>
            <a:off x="585216" y="5623560"/>
            <a:ext cx="11018520" cy="566928"/>
          </a:xfrm>
          <a:prstGeom prst="rect">
            <a:avLst/>
          </a:prstGeom>
          <a:solidFill>
            <a:srgbClr val="F1F3F6"/>
          </a:solidFill>
          <a:ln>
            <a:noFill/>
          </a:ln>
        </p:spPr>
        <p:txBody>
          <a:bodyPr rtlCol="0" anchor="ctr"/>
          <a:lstStyle/>
          <a:p>
            <a:pPr algn="ctr"/>
          </a:p>
        </p:txBody>
      </p:sp>
      <p:sp>
        <p:nvSpPr>
          <p:cNvPr id="24" name="TextBox 23"/>
          <p:cNvSpPr txBox="1"/>
          <p:nvPr/>
        </p:nvSpPr>
        <p:spPr>
          <a:xfrm>
            <a:off x="768096" y="5623560"/>
            <a:ext cx="10652760" cy="566928"/>
          </a:xfrm>
          <a:prstGeom prst="rect">
            <a:avLst/>
          </a:prstGeom>
          <a:noFill/>
        </p:spPr>
        <p:txBody>
          <a:bodyPr wrap="square" lIns="0" rIns="0" tIns="0" bIns="0" anchor="ctr">
            <a:noAutofit/>
          </a:bodyPr>
          <a:lstStyle/>
          <a:p>
            <a:pPr algn="l" marL="0" indent="0">
              <a:buNone/>
            </a:pPr>
            <a:r>
              <a:rPr sz="1200" b="0" i="0">
                <a:solidFill>
                  <a:srgbClr val="4A4F57"/>
                </a:solidFill>
                <a:latin typeface="Calibri"/>
              </a:rPr>
              <a:t>intj takes torch tensors; TVM FFI gets preconverted TensorViews. At 0 arguments FFI's kernel takes a cheaper stream path.</a:t>
            </a:r>
          </a:p>
        </p:txBody>
      </p:sp>
      <p:sp>
        <p:nvSpPr>
          <p:cNvPr id="25" name="TextBox 24"/>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data/same_binary_1arg.csv (one HSACO / cubin per machine), data/ffi_sweep.csv (different binaries). Triton 3.8.0, intj 05e25a9.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AITER ops: 2–4.5× less host time per call, outputs bitwise equal</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11</a:t>
            </a:r>
          </a:p>
        </p:txBody>
      </p:sp>
      <p:sp>
        <p:nvSpPr>
          <p:cNvPr id="4" name="TextBox 3"/>
          <p:cNvSpPr txBox="1"/>
          <p:nvPr/>
        </p:nvSpPr>
        <p:spPr>
          <a:xfrm>
            <a:off x="585216" y="1417320"/>
            <a:ext cx="640080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Host time per eager call (µs), best upstream path vs intj</a:t>
            </a:r>
          </a:p>
        </p:txBody>
      </p:sp>
      <p:sp>
        <p:nvSpPr>
          <p:cNvPr id="5" name="Rectangle 4"/>
          <p:cNvSpPr/>
          <p:nvPr/>
        </p:nvSpPr>
        <p:spPr>
          <a:xfrm>
            <a:off x="585216" y="1856231"/>
            <a:ext cx="155448" cy="155448"/>
          </a:xfrm>
          <a:prstGeom prst="rect">
            <a:avLst/>
          </a:prstGeom>
          <a:solidFill>
            <a:srgbClr val="2A78D6"/>
          </a:solidFill>
          <a:ln>
            <a:noFill/>
          </a:ln>
        </p:spPr>
        <p:txBody>
          <a:bodyPr rtlCol="0" anchor="ctr"/>
          <a:lstStyle/>
          <a:p>
            <a:pPr algn="ctr"/>
          </a:p>
        </p:txBody>
      </p:sp>
      <p:sp>
        <p:nvSpPr>
          <p:cNvPr id="6" name="TextBox 5"/>
          <p:cNvSpPr txBox="1"/>
          <p:nvPr/>
        </p:nvSpPr>
        <p:spPr>
          <a:xfrm>
            <a:off x="822960" y="1783080"/>
            <a:ext cx="850392"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upstream</a:t>
            </a:r>
          </a:p>
        </p:txBody>
      </p:sp>
      <p:sp>
        <p:nvSpPr>
          <p:cNvPr id="7" name="Rectangle 6"/>
          <p:cNvSpPr/>
          <p:nvPr/>
        </p:nvSpPr>
        <p:spPr>
          <a:xfrm>
            <a:off x="1856231" y="1856231"/>
            <a:ext cx="155448" cy="155448"/>
          </a:xfrm>
          <a:prstGeom prst="rect">
            <a:avLst/>
          </a:prstGeom>
          <a:solidFill>
            <a:srgbClr val="EB6834"/>
          </a:solidFill>
          <a:ln>
            <a:noFill/>
          </a:ln>
        </p:spPr>
        <p:txBody>
          <a:bodyPr rtlCol="0" anchor="ctr"/>
          <a:lstStyle/>
          <a:p>
            <a:pPr algn="ctr"/>
          </a:p>
        </p:txBody>
      </p:sp>
      <p:sp>
        <p:nvSpPr>
          <p:cNvPr id="8" name="TextBox 7"/>
          <p:cNvSpPr txBox="1"/>
          <p:nvPr/>
        </p:nvSpPr>
        <p:spPr>
          <a:xfrm>
            <a:off x="2093976" y="178308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graphicFrame>
        <p:nvGraphicFramePr>
          <p:cNvPr id="9" name="Chart 8"/>
          <p:cNvGraphicFramePr>
            <a:graphicFrameLocks noGrp="1"/>
          </p:cNvGraphicFramePr>
          <p:nvPr/>
        </p:nvGraphicFramePr>
        <p:xfrm>
          <a:off x="493776" y="2148840"/>
          <a:ext cx="6583680" cy="4069080"/>
        </p:xfrm>
        <a:graphic>
          <a:graphicData uri="http://schemas.openxmlformats.org/drawingml/2006/chart">
            <c:chart xmlns:c="http://schemas.openxmlformats.org/drawingml/2006/chart" r:id="rId3"/>
          </a:graphicData>
        </a:graphic>
      </p:graphicFrame>
      <p:sp>
        <p:nvSpPr>
          <p:cNvPr id="10" name="Rectangle 9"/>
          <p:cNvSpPr/>
          <p:nvPr/>
        </p:nvSpPr>
        <p:spPr>
          <a:xfrm>
            <a:off x="7360920" y="1417320"/>
            <a:ext cx="4245559" cy="1143000"/>
          </a:xfrm>
          <a:prstGeom prst="rect">
            <a:avLst/>
          </a:prstGeom>
          <a:solidFill>
            <a:srgbClr val="F1F3F6"/>
          </a:solidFill>
          <a:ln>
            <a:noFill/>
          </a:ln>
        </p:spPr>
        <p:txBody>
          <a:bodyPr rtlCol="0" anchor="ctr"/>
          <a:lstStyle/>
          <a:p>
            <a:pPr algn="ctr"/>
          </a:p>
        </p:txBody>
      </p:sp>
      <p:sp>
        <p:nvSpPr>
          <p:cNvPr id="11" name="TextBox 10"/>
          <p:cNvSpPr txBox="1"/>
          <p:nvPr/>
        </p:nvSpPr>
        <p:spPr>
          <a:xfrm>
            <a:off x="7543800" y="1527048"/>
            <a:ext cx="3879799" cy="57150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4.5×</a:t>
            </a:r>
          </a:p>
        </p:txBody>
      </p:sp>
      <p:sp>
        <p:nvSpPr>
          <p:cNvPr id="12" name="TextBox 11"/>
          <p:cNvSpPr txBox="1"/>
          <p:nvPr/>
        </p:nvSpPr>
        <p:spPr>
          <a:xfrm>
            <a:off x="7543800" y="2098548"/>
            <a:ext cx="3879799" cy="388620"/>
          </a:xfrm>
          <a:prstGeom prst="rect">
            <a:avLst/>
          </a:prstGeom>
          <a:noFill/>
        </p:spPr>
        <p:txBody>
          <a:bodyPr wrap="square" lIns="0" rIns="0" tIns="0" bIns="0" anchor="t">
            <a:noAutofit/>
          </a:bodyPr>
          <a:lstStyle/>
          <a:p>
            <a:pPr algn="l" marL="0" indent="0">
              <a:buNone/>
            </a:pPr>
            <a:r>
              <a:rPr sz="1200" b="0" i="0">
                <a:solidFill>
                  <a:srgbClr val="4A4F57"/>
                </a:solidFill>
                <a:latin typeface="Calibri"/>
              </a:rPr>
              <a:t>KDA decode host time, 31.8 → 7.0 µs</a:t>
            </a:r>
          </a:p>
        </p:txBody>
      </p:sp>
      <p:sp>
        <p:nvSpPr>
          <p:cNvPr id="13" name="Rectangle 12"/>
          <p:cNvSpPr/>
          <p:nvPr/>
        </p:nvSpPr>
        <p:spPr>
          <a:xfrm>
            <a:off x="7360920" y="2697480"/>
            <a:ext cx="4245559" cy="1143000"/>
          </a:xfrm>
          <a:prstGeom prst="rect">
            <a:avLst/>
          </a:prstGeom>
          <a:solidFill>
            <a:srgbClr val="F1F3F6"/>
          </a:solidFill>
          <a:ln>
            <a:noFill/>
          </a:ln>
        </p:spPr>
        <p:txBody>
          <a:bodyPr rtlCol="0" anchor="ctr"/>
          <a:lstStyle/>
          <a:p>
            <a:pPr algn="ctr"/>
          </a:p>
        </p:txBody>
      </p:sp>
      <p:sp>
        <p:nvSpPr>
          <p:cNvPr id="14" name="TextBox 13"/>
          <p:cNvSpPr txBox="1"/>
          <p:nvPr/>
        </p:nvSpPr>
        <p:spPr>
          <a:xfrm>
            <a:off x="7543800" y="2807208"/>
            <a:ext cx="3879799" cy="57150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1.9×</a:t>
            </a:r>
          </a:p>
        </p:txBody>
      </p:sp>
      <p:sp>
        <p:nvSpPr>
          <p:cNvPr id="15" name="TextBox 14"/>
          <p:cNvSpPr txBox="1"/>
          <p:nvPr/>
        </p:nvSpPr>
        <p:spPr>
          <a:xfrm>
            <a:off x="7543800" y="3378708"/>
            <a:ext cx="3879799" cy="388620"/>
          </a:xfrm>
          <a:prstGeom prst="rect">
            <a:avLst/>
          </a:prstGeom>
          <a:noFill/>
        </p:spPr>
        <p:txBody>
          <a:bodyPr wrap="square" lIns="0" rIns="0" tIns="0" bIns="0" anchor="t">
            <a:noAutofit/>
          </a:bodyPr>
          <a:lstStyle/>
          <a:p>
            <a:pPr algn="l" marL="0" indent="0">
              <a:buNone/>
            </a:pPr>
            <a:r>
              <a:rPr sz="1200" b="0" i="0">
                <a:solidFill>
                  <a:srgbClr val="4A4F57"/>
                </a:solidFill>
                <a:latin typeface="Calibri"/>
              </a:rPr>
              <a:t>FlashKDA vs AITER's own _FastLaunch (3.6× vs Triton JIT)</a:t>
            </a:r>
          </a:p>
        </p:txBody>
      </p:sp>
      <p:sp>
        <p:nvSpPr>
          <p:cNvPr id="16" name="Rectangle 15"/>
          <p:cNvSpPr/>
          <p:nvPr/>
        </p:nvSpPr>
        <p:spPr>
          <a:xfrm>
            <a:off x="7360920" y="3977639"/>
            <a:ext cx="4245559" cy="1143000"/>
          </a:xfrm>
          <a:prstGeom prst="rect">
            <a:avLst/>
          </a:prstGeom>
          <a:solidFill>
            <a:srgbClr val="F1F3F6"/>
          </a:solidFill>
          <a:ln>
            <a:noFill/>
          </a:ln>
        </p:spPr>
        <p:txBody>
          <a:bodyPr rtlCol="0" anchor="ctr"/>
          <a:lstStyle/>
          <a:p>
            <a:pPr algn="ctr"/>
          </a:p>
        </p:txBody>
      </p:sp>
      <p:sp>
        <p:nvSpPr>
          <p:cNvPr id="17" name="TextBox 16"/>
          <p:cNvSpPr txBox="1"/>
          <p:nvPr/>
        </p:nvSpPr>
        <p:spPr>
          <a:xfrm>
            <a:off x="7543800" y="4087368"/>
            <a:ext cx="3879799" cy="57150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2.4×</a:t>
            </a:r>
          </a:p>
        </p:txBody>
      </p:sp>
      <p:sp>
        <p:nvSpPr>
          <p:cNvPr id="18" name="TextBox 17"/>
          <p:cNvSpPr txBox="1"/>
          <p:nvPr/>
        </p:nvSpPr>
        <p:spPr>
          <a:xfrm>
            <a:off x="7543800" y="4658868"/>
            <a:ext cx="3879799" cy="388620"/>
          </a:xfrm>
          <a:prstGeom prst="rect">
            <a:avLst/>
          </a:prstGeom>
          <a:noFill/>
        </p:spPr>
        <p:txBody>
          <a:bodyPr wrap="square" lIns="0" rIns="0" tIns="0" bIns="0" anchor="t">
            <a:noAutofit/>
          </a:bodyPr>
          <a:lstStyle/>
          <a:p>
            <a:pPr algn="l" marL="0" indent="0">
              <a:buNone/>
            </a:pPr>
            <a:r>
              <a:rPr sz="1200" b="0" i="0">
                <a:solidFill>
                  <a:srgbClr val="4A4F57"/>
                </a:solidFill>
                <a:latin typeface="Calibri"/>
              </a:rPr>
              <a:t>fp8_mqa_logits host time, 35.4 → 14.8 µs</a:t>
            </a:r>
          </a:p>
        </p:txBody>
      </p:sp>
      <p:sp>
        <p:nvSpPr>
          <p:cNvPr id="19" name="TextBox 18"/>
          <p:cNvSpPr txBox="1"/>
          <p:nvPr/>
        </p:nvSpPr>
        <p:spPr>
          <a:xfrm>
            <a:off x="7360920" y="5303520"/>
            <a:ext cx="4245559" cy="868680"/>
          </a:xfrm>
          <a:prstGeom prst="rect">
            <a:avLst/>
          </a:prstGeom>
          <a:noFill/>
        </p:spPr>
        <p:txBody>
          <a:bodyPr wrap="square" lIns="0" rIns="0" tIns="0" bIns="0" anchor="t">
            <a:noAutofit/>
          </a:bodyPr>
          <a:lstStyle/>
          <a:p>
            <a:pPr algn="l" marL="0" indent="0">
              <a:buNone/>
            </a:pPr>
            <a:r>
              <a:rPr sz="1200" b="0" i="0">
                <a:solidFill>
                  <a:srgbClr val="4A4F57"/>
                </a:solidFill>
                <a:latin typeface="Calibri"/>
              </a:rPr>
              <a:t>Eager time where upstream is host-bound: 2.37–2.60× KDA decode (batch ≤ 16), 2.35–2.39× fp8_mqa_logits. GPU kernels unchanged.</a:t>
            </a:r>
          </a:p>
        </p:txBody>
      </p:sp>
      <p:sp>
        <p:nvSpPr>
          <p:cNvPr id="20" name="TextBox 1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data/aiter_*.csv, data/aiter_summary.csv, MI350X. FlashKDA: T ≤ 1024, 2 kernels per call. Medians over shapes.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KDA decode, fp8_mqa_logits: upstream floors at 33–36 µs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12</a:t>
            </a:r>
          </a:p>
        </p:txBody>
      </p:sp>
      <p:sp>
        <p:nvSpPr>
          <p:cNvPr id="4" name="Rectangle 3"/>
          <p:cNvSpPr/>
          <p:nvPr/>
        </p:nvSpPr>
        <p:spPr>
          <a:xfrm>
            <a:off x="585216" y="1426464"/>
            <a:ext cx="155448" cy="155448"/>
          </a:xfrm>
          <a:prstGeom prst="rect">
            <a:avLst/>
          </a:prstGeom>
          <a:solidFill>
            <a:srgbClr val="2A78D6"/>
          </a:solidFill>
          <a:ln>
            <a:noFill/>
          </a:ln>
        </p:spPr>
        <p:txBody>
          <a:bodyPr rtlCol="0" anchor="ctr"/>
          <a:lstStyle/>
          <a:p>
            <a:pPr algn="ctr"/>
          </a:p>
        </p:txBody>
      </p:sp>
      <p:sp>
        <p:nvSpPr>
          <p:cNvPr id="5" name="TextBox 4"/>
          <p:cNvSpPr txBox="1"/>
          <p:nvPr/>
        </p:nvSpPr>
        <p:spPr>
          <a:xfrm>
            <a:off x="822960" y="1353312"/>
            <a:ext cx="1860804"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upstream (Triton JIT)</a:t>
            </a:r>
          </a:p>
        </p:txBody>
      </p:sp>
      <p:sp>
        <p:nvSpPr>
          <p:cNvPr id="6" name="Rectangle 5"/>
          <p:cNvSpPr/>
          <p:nvPr/>
        </p:nvSpPr>
        <p:spPr>
          <a:xfrm>
            <a:off x="2866644" y="1426464"/>
            <a:ext cx="155448" cy="155448"/>
          </a:xfrm>
          <a:prstGeom prst="rect">
            <a:avLst/>
          </a:prstGeom>
          <a:solidFill>
            <a:srgbClr val="EB6834"/>
          </a:solidFill>
          <a:ln>
            <a:noFill/>
          </a:ln>
        </p:spPr>
        <p:txBody>
          <a:bodyPr rtlCol="0" anchor="ctr"/>
          <a:lstStyle/>
          <a:p>
            <a:pPr algn="ctr"/>
          </a:p>
        </p:txBody>
      </p:sp>
      <p:sp>
        <p:nvSpPr>
          <p:cNvPr id="7" name="TextBox 6"/>
          <p:cNvSpPr txBox="1"/>
          <p:nvPr/>
        </p:nvSpPr>
        <p:spPr>
          <a:xfrm>
            <a:off x="3104388" y="1353312"/>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cxnSp>
        <p:nvCxnSpPr>
          <p:cNvPr id="8" name="Connector 7"/>
          <p:cNvCxnSpPr/>
          <p:nvPr/>
        </p:nvCxnSpPr>
        <p:spPr>
          <a:xfrm>
            <a:off x="3826764" y="1499616"/>
            <a:ext cx="274320" cy="0"/>
          </a:xfrm>
          <a:prstGeom prst="line">
            <a:avLst/>
          </a:prstGeom>
          <a:ln w="28575">
            <a:solidFill>
              <a:srgbClr val="EB6834"/>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83380" y="1353312"/>
            <a:ext cx="2793492"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 + leaner wrapper (prototype)</a:t>
            </a:r>
          </a:p>
        </p:txBody>
      </p:sp>
      <p:sp>
        <p:nvSpPr>
          <p:cNvPr id="10" name="Rectangle 9"/>
          <p:cNvSpPr/>
          <p:nvPr/>
        </p:nvSpPr>
        <p:spPr>
          <a:xfrm>
            <a:off x="7159752" y="1426464"/>
            <a:ext cx="155448" cy="155448"/>
          </a:xfrm>
          <a:prstGeom prst="rect">
            <a:avLst/>
          </a:prstGeom>
          <a:solidFill>
            <a:srgbClr val="1BAF7A"/>
          </a:solidFill>
          <a:ln>
            <a:noFill/>
          </a:ln>
        </p:spPr>
        <p:txBody>
          <a:bodyPr rtlCol="0" anchor="ctr"/>
          <a:lstStyle/>
          <a:p>
            <a:pPr algn="ctr"/>
          </a:p>
        </p:txBody>
      </p:sp>
      <p:sp>
        <p:nvSpPr>
          <p:cNvPr id="11" name="TextBox 10"/>
          <p:cNvSpPr txBox="1"/>
          <p:nvPr/>
        </p:nvSpPr>
        <p:spPr>
          <a:xfrm>
            <a:off x="7397496" y="1353312"/>
            <a:ext cx="1394460"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GPU kernel time</a:t>
            </a:r>
          </a:p>
        </p:txBody>
      </p:sp>
      <p:sp>
        <p:nvSpPr>
          <p:cNvPr id="12" name="TextBox 11"/>
          <p:cNvSpPr txBox="1"/>
          <p:nvPr/>
        </p:nvSpPr>
        <p:spPr>
          <a:xfrm>
            <a:off x="585216" y="1719072"/>
            <a:ext cx="6812280" cy="274320"/>
          </a:xfrm>
          <a:prstGeom prst="rect">
            <a:avLst/>
          </a:prstGeom>
          <a:noFill/>
        </p:spPr>
        <p:txBody>
          <a:bodyPr wrap="square" lIns="0" rIns="0" tIns="0" bIns="0" anchor="t">
            <a:noAutofit/>
          </a:bodyPr>
          <a:lstStyle/>
          <a:p>
            <a:pPr algn="l" marL="0" indent="0">
              <a:buNone/>
            </a:pPr>
            <a:r>
              <a:rPr sz="1200" b="1" i="0">
                <a:solidFill>
                  <a:srgbClr val="1B1F24"/>
                </a:solidFill>
                <a:latin typeface="Calibri"/>
              </a:rPr>
              <a:t>Fused KDA decode, H = 12: eager µs per call vs batch</a:t>
            </a:r>
          </a:p>
        </p:txBody>
      </p:sp>
      <p:graphicFrame>
        <p:nvGraphicFramePr>
          <p:cNvPr id="13" name="Chart 12"/>
          <p:cNvGraphicFramePr>
            <a:graphicFrameLocks noGrp="1"/>
          </p:cNvGraphicFramePr>
          <p:nvPr/>
        </p:nvGraphicFramePr>
        <p:xfrm>
          <a:off x="493776" y="1975104"/>
          <a:ext cx="6903720" cy="2011680"/>
        </p:xfrm>
        <a:graphic>
          <a:graphicData uri="http://schemas.openxmlformats.org/drawingml/2006/chart">
            <c:chart xmlns:c="http://schemas.openxmlformats.org/drawingml/2006/chart" r:id="rId3"/>
          </a:graphicData>
        </a:graphic>
      </p:graphicFrame>
      <p:sp>
        <p:nvSpPr>
          <p:cNvPr id="14" name="Rectangle 13"/>
          <p:cNvSpPr/>
          <p:nvPr/>
        </p:nvSpPr>
        <p:spPr>
          <a:xfrm>
            <a:off x="7671816" y="2221991"/>
            <a:ext cx="3934663" cy="45720"/>
          </a:xfrm>
          <a:prstGeom prst="rect">
            <a:avLst/>
          </a:prstGeom>
          <a:solidFill>
            <a:srgbClr val="EB6834"/>
          </a:solidFill>
          <a:ln>
            <a:noFill/>
          </a:ln>
        </p:spPr>
        <p:txBody>
          <a:bodyPr rtlCol="0" anchor="ctr"/>
          <a:lstStyle/>
          <a:p>
            <a:pPr algn="ctr"/>
          </a:p>
        </p:txBody>
      </p:sp>
      <p:sp>
        <p:nvSpPr>
          <p:cNvPr id="15" name="Rectangle 14"/>
          <p:cNvSpPr/>
          <p:nvPr/>
        </p:nvSpPr>
        <p:spPr>
          <a:xfrm>
            <a:off x="7671816" y="2267711"/>
            <a:ext cx="3934663" cy="411480"/>
          </a:xfrm>
          <a:prstGeom prst="rect">
            <a:avLst/>
          </a:prstGeom>
          <a:solidFill>
            <a:srgbClr val="E1E5EA"/>
          </a:solidFill>
          <a:ln>
            <a:noFill/>
          </a:ln>
        </p:spPr>
        <p:txBody>
          <a:bodyPr rtlCol="0" anchor="ctr"/>
          <a:lstStyle/>
          <a:p>
            <a:pPr algn="ctr"/>
          </a:p>
        </p:txBody>
      </p:sp>
      <p:sp>
        <p:nvSpPr>
          <p:cNvPr id="16" name="Rectangle 15"/>
          <p:cNvSpPr/>
          <p:nvPr/>
        </p:nvSpPr>
        <p:spPr>
          <a:xfrm>
            <a:off x="7671816" y="2679191"/>
            <a:ext cx="3934663" cy="1005840"/>
          </a:xfrm>
          <a:prstGeom prst="rect">
            <a:avLst/>
          </a:prstGeom>
          <a:solidFill>
            <a:srgbClr val="F1F3F6"/>
          </a:solidFill>
          <a:ln>
            <a:noFill/>
          </a:ln>
        </p:spPr>
        <p:txBody>
          <a:bodyPr rtlCol="0" anchor="ctr"/>
          <a:lstStyle/>
          <a:p>
            <a:pPr algn="ctr"/>
          </a:p>
        </p:txBody>
      </p:sp>
      <p:sp>
        <p:nvSpPr>
          <p:cNvPr id="17" name="TextBox 16"/>
          <p:cNvSpPr txBox="1"/>
          <p:nvPr/>
        </p:nvSpPr>
        <p:spPr>
          <a:xfrm>
            <a:off x="7854696" y="2267711"/>
            <a:ext cx="3568903" cy="41148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Fused KDA decode</a:t>
            </a:r>
          </a:p>
        </p:txBody>
      </p:sp>
      <p:sp>
        <p:nvSpPr>
          <p:cNvPr id="18" name="TextBox 17"/>
          <p:cNvSpPr txBox="1"/>
          <p:nvPr/>
        </p:nvSpPr>
        <p:spPr>
          <a:xfrm>
            <a:off x="7854696" y="2679191"/>
            <a:ext cx="3568903" cy="1005840"/>
          </a:xfrm>
          <a:prstGeom prst="rect">
            <a:avLst/>
          </a:prstGeom>
          <a:noFill/>
        </p:spPr>
        <p:txBody>
          <a:bodyPr wrap="square" lIns="0" rIns="0" tIns="0" bIns="0" anchor="ctr">
            <a:noAutofit/>
          </a:bodyPr>
          <a:lstStyle/>
          <a:p>
            <a:pPr algn="l" marL="201168" indent="-201168">
              <a:spcAft>
                <a:spcPts val="800"/>
              </a:spcAft>
              <a:buClr>
                <a:srgbClr val="7A7F87"/>
              </a:buClr>
              <a:buFont typeface="Arial"/>
              <a:buChar char="•"/>
            </a:pPr>
            <a:r>
              <a:rPr sz="1200" b="1" i="0">
                <a:solidFill>
                  <a:srgbClr val="4A4F57"/>
                </a:solidFill>
                <a:latin typeface="Calibri"/>
              </a:rPr>
              <a:t>Upstream: </a:t>
            </a:r>
            <a:r>
              <a:rPr sz="1200" b="0" i="0">
                <a:solidFill>
                  <a:srgbClr val="4A4F57"/>
                </a:solidFill>
                <a:latin typeface="Calibri"/>
              </a:rPr>
              <a:t>flat 32.6–33.4 µs to batch 32</a:t>
            </a:r>
          </a:p>
          <a:p>
            <a:pPr algn="l" marL="201168" indent="-201168">
              <a:buClr>
                <a:srgbClr val="7A7F87"/>
              </a:buClr>
              <a:buFont typeface="Arial"/>
              <a:buChar char="•"/>
            </a:pPr>
            <a:r>
              <a:rPr sz="1200" b="1" i="0">
                <a:solidFill>
                  <a:srgbClr val="4A4F57"/>
                </a:solidFill>
                <a:latin typeface="Calibri"/>
              </a:rPr>
              <a:t>intj: </a:t>
            </a:r>
            <a:r>
              <a:rPr sz="1200" b="0" i="0">
                <a:solidFill>
                  <a:srgbClr val="4A4F57"/>
                </a:solidFill>
                <a:latin typeface="Calibri"/>
              </a:rPr>
              <a:t>12.6–25.3 µs, the kernel's own time</a:t>
            </a:r>
          </a:p>
        </p:txBody>
      </p:sp>
      <p:sp>
        <p:nvSpPr>
          <p:cNvPr id="19" name="TextBox 18"/>
          <p:cNvSpPr txBox="1"/>
          <p:nvPr/>
        </p:nvSpPr>
        <p:spPr>
          <a:xfrm>
            <a:off x="585216" y="4050791"/>
            <a:ext cx="6812280" cy="274320"/>
          </a:xfrm>
          <a:prstGeom prst="rect">
            <a:avLst/>
          </a:prstGeom>
          <a:noFill/>
        </p:spPr>
        <p:txBody>
          <a:bodyPr wrap="square" lIns="0" rIns="0" tIns="0" bIns="0" anchor="t">
            <a:noAutofit/>
          </a:bodyPr>
          <a:lstStyle/>
          <a:p>
            <a:pPr algn="l" marL="0" indent="0">
              <a:buNone/>
            </a:pPr>
            <a:r>
              <a:rPr sz="1200" b="1" i="0">
                <a:solidFill>
                  <a:srgbClr val="1B1F24"/>
                </a:solidFill>
                <a:latin typeface="Calibri"/>
              </a:rPr>
              <a:t>fp8_mqa_logits, H = 64: eager µs per call vs q = kv</a:t>
            </a:r>
          </a:p>
        </p:txBody>
      </p:sp>
      <p:graphicFrame>
        <p:nvGraphicFramePr>
          <p:cNvPr id="20" name="Chart 19"/>
          <p:cNvGraphicFramePr>
            <a:graphicFrameLocks noGrp="1"/>
          </p:cNvGraphicFramePr>
          <p:nvPr/>
        </p:nvGraphicFramePr>
        <p:xfrm>
          <a:off x="493776" y="4306824"/>
          <a:ext cx="6903720" cy="2011680"/>
        </p:xfrm>
        <a:graphic>
          <a:graphicData uri="http://schemas.openxmlformats.org/drawingml/2006/chart">
            <c:chart xmlns:c="http://schemas.openxmlformats.org/drawingml/2006/chart" r:id="rId4"/>
          </a:graphicData>
        </a:graphic>
      </p:graphicFrame>
      <p:sp>
        <p:nvSpPr>
          <p:cNvPr id="21" name="Rectangle 20"/>
          <p:cNvSpPr/>
          <p:nvPr/>
        </p:nvSpPr>
        <p:spPr>
          <a:xfrm>
            <a:off x="7671816" y="4306824"/>
            <a:ext cx="3934663" cy="45720"/>
          </a:xfrm>
          <a:prstGeom prst="rect">
            <a:avLst/>
          </a:prstGeom>
          <a:solidFill>
            <a:srgbClr val="EB6834"/>
          </a:solidFill>
          <a:ln>
            <a:noFill/>
          </a:ln>
        </p:spPr>
        <p:txBody>
          <a:bodyPr rtlCol="0" anchor="ctr"/>
          <a:lstStyle/>
          <a:p>
            <a:pPr algn="ctr"/>
          </a:p>
        </p:txBody>
      </p:sp>
      <p:sp>
        <p:nvSpPr>
          <p:cNvPr id="22" name="Rectangle 21"/>
          <p:cNvSpPr/>
          <p:nvPr/>
        </p:nvSpPr>
        <p:spPr>
          <a:xfrm>
            <a:off x="7671816" y="4352544"/>
            <a:ext cx="3934663" cy="411480"/>
          </a:xfrm>
          <a:prstGeom prst="rect">
            <a:avLst/>
          </a:prstGeom>
          <a:solidFill>
            <a:srgbClr val="E1E5EA"/>
          </a:solidFill>
          <a:ln>
            <a:noFill/>
          </a:ln>
        </p:spPr>
        <p:txBody>
          <a:bodyPr rtlCol="0" anchor="ctr"/>
          <a:lstStyle/>
          <a:p>
            <a:pPr algn="ctr"/>
          </a:p>
        </p:txBody>
      </p:sp>
      <p:sp>
        <p:nvSpPr>
          <p:cNvPr id="23" name="Rectangle 22"/>
          <p:cNvSpPr/>
          <p:nvPr/>
        </p:nvSpPr>
        <p:spPr>
          <a:xfrm>
            <a:off x="7671816" y="4764024"/>
            <a:ext cx="3934663" cy="1554480"/>
          </a:xfrm>
          <a:prstGeom prst="rect">
            <a:avLst/>
          </a:prstGeom>
          <a:solidFill>
            <a:srgbClr val="F1F3F6"/>
          </a:solidFill>
          <a:ln>
            <a:noFill/>
          </a:ln>
        </p:spPr>
        <p:txBody>
          <a:bodyPr rtlCol="0" anchor="ctr"/>
          <a:lstStyle/>
          <a:p>
            <a:pPr algn="ctr"/>
          </a:p>
        </p:txBody>
      </p:sp>
      <p:sp>
        <p:nvSpPr>
          <p:cNvPr id="24" name="TextBox 23"/>
          <p:cNvSpPr txBox="1"/>
          <p:nvPr/>
        </p:nvSpPr>
        <p:spPr>
          <a:xfrm>
            <a:off x="7854696" y="4352544"/>
            <a:ext cx="3568903" cy="41148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fp8_mqa_logits</a:t>
            </a:r>
          </a:p>
        </p:txBody>
      </p:sp>
      <p:sp>
        <p:nvSpPr>
          <p:cNvPr id="25" name="TextBox 24"/>
          <p:cNvSpPr txBox="1"/>
          <p:nvPr/>
        </p:nvSpPr>
        <p:spPr>
          <a:xfrm>
            <a:off x="7854696" y="4764024"/>
            <a:ext cx="3568903" cy="1600200"/>
          </a:xfrm>
          <a:prstGeom prst="rect">
            <a:avLst/>
          </a:prstGeom>
          <a:noFill/>
        </p:spPr>
        <p:txBody>
          <a:bodyPr wrap="square" lIns="0" rIns="0" tIns="0" bIns="0" anchor="ctr">
            <a:noAutofit/>
          </a:bodyPr>
          <a:lstStyle/>
          <a:p>
            <a:pPr algn="l" marL="201168" indent="-201168">
              <a:spcAft>
                <a:spcPts val="600"/>
              </a:spcAft>
              <a:buClr>
                <a:srgbClr val="7A7F87"/>
              </a:buClr>
              <a:buFont typeface="Arial"/>
              <a:buChar char="•"/>
            </a:pPr>
            <a:r>
              <a:rPr sz="1100" b="1" i="0">
                <a:solidFill>
                  <a:srgbClr val="4A4F57"/>
                </a:solidFill>
                <a:latin typeface="Calibri"/>
              </a:rPr>
              <a:t>Upstream: </a:t>
            </a:r>
            <a:r>
              <a:rPr sz="1100" b="0" i="0">
                <a:solidFill>
                  <a:srgbClr val="4A4F57"/>
                </a:solidFill>
                <a:latin typeface="Calibri"/>
              </a:rPr>
              <a:t>flat 35.4–35.7 µs to q = kv 1024</a:t>
            </a:r>
          </a:p>
          <a:p>
            <a:pPr algn="l" marL="201168" indent="-201168">
              <a:spcAft>
                <a:spcPts val="600"/>
              </a:spcAft>
              <a:buClr>
                <a:srgbClr val="7A7F87"/>
              </a:buClr>
              <a:buFont typeface="Arial"/>
              <a:buChar char="•"/>
            </a:pPr>
            <a:r>
              <a:rPr sz="1100" b="1" i="0">
                <a:solidFill>
                  <a:srgbClr val="4A4F57"/>
                </a:solidFill>
                <a:latin typeface="Calibri"/>
              </a:rPr>
              <a:t>intj: </a:t>
            </a:r>
            <a:r>
              <a:rPr sz="1100" b="0" i="0">
                <a:solidFill>
                  <a:srgbClr val="4A4F57"/>
                </a:solidFill>
                <a:latin typeface="Calibri"/>
              </a:rPr>
              <a:t>14.9–15.2 µs, its own host time; launch 3.5 µs</a:t>
            </a:r>
          </a:p>
          <a:p>
            <a:pPr algn="l" marL="201168" indent="-201168">
              <a:spcAft>
                <a:spcPts val="600"/>
              </a:spcAft>
              <a:buClr>
                <a:srgbClr val="7A7F87"/>
              </a:buClr>
              <a:buFont typeface="Arial"/>
              <a:buChar char="•"/>
            </a:pPr>
            <a:r>
              <a:rPr sz="1100" b="1" i="0">
                <a:solidFill>
                  <a:srgbClr val="4A4F57"/>
                </a:solidFill>
                <a:latin typeface="Calibri"/>
              </a:rPr>
              <a:t>Outside intj: </a:t>
            </a:r>
            <a:r>
              <a:rPr sz="1100" b="0" i="0">
                <a:solidFill>
                  <a:srgbClr val="4A4F57"/>
                </a:solidFill>
                <a:latin typeface="Calibri"/>
              </a:rPr>
              <a:t>−inf fill 4.9 · config 3.2 · slice 0.9 · free 0.7 · checks 1.4 µs</a:t>
            </a:r>
          </a:p>
          <a:p>
            <a:pPr algn="l" marL="201168" indent="-201168">
              <a:buClr>
                <a:srgbClr val="7A7F87"/>
              </a:buClr>
              <a:buFont typeface="Arial"/>
              <a:buChar char="•"/>
            </a:pPr>
            <a:r>
              <a:rPr sz="1100" b="1" i="0">
                <a:solidFill>
                  <a:srgbClr val="4A4F57"/>
                </a:solidFill>
                <a:latin typeface="Calibri"/>
              </a:rPr>
              <a:t>Prototype: </a:t>
            </a:r>
            <a:r>
              <a:rPr sz="1100" b="0" i="0">
                <a:solidFill>
                  <a:srgbClr val="4A4F57"/>
                </a:solidFill>
                <a:latin typeface="Calibri"/>
              </a:rPr>
              <a:t>10.0–11.0 µs to q = kv 512; config cached, slice skipped</a:t>
            </a:r>
          </a:p>
        </p:txBody>
      </p:sp>
      <p:sp>
        <p:nvSpPr>
          <p:cNvPr id="26" name="TextBox 25"/>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data/aiter_kda_decode.csv, aiter_fp8_mqa_logits.csv, aiter_summary.csv (rocprofv3, regime), aiter_fp8_mqa_logits_breakdown.csv, aiter_fp8_mqa_logits_prototype.csv. MI350X.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AITER moved to intj: 426 launchers, 11 launches left on Triton</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13</a:t>
            </a:r>
          </a:p>
        </p:txBody>
      </p:sp>
      <p:sp>
        <p:nvSpPr>
          <p:cNvPr id="4" name="Rectangle 3"/>
          <p:cNvSpPr/>
          <p:nvPr/>
        </p:nvSpPr>
        <p:spPr>
          <a:xfrm>
            <a:off x="585216" y="1417320"/>
            <a:ext cx="2548890" cy="1188720"/>
          </a:xfrm>
          <a:prstGeom prst="rect">
            <a:avLst/>
          </a:prstGeom>
          <a:solidFill>
            <a:srgbClr val="F1F3F6"/>
          </a:solidFill>
          <a:ln>
            <a:noFill/>
          </a:ln>
        </p:spPr>
        <p:txBody>
          <a:bodyPr rtlCol="0" anchor="ctr"/>
          <a:lstStyle/>
          <a:p>
            <a:pPr algn="ctr"/>
          </a:p>
        </p:txBody>
      </p:sp>
      <p:sp>
        <p:nvSpPr>
          <p:cNvPr id="5" name="TextBox 4"/>
          <p:cNvSpPr txBox="1"/>
          <p:nvPr/>
        </p:nvSpPr>
        <p:spPr>
          <a:xfrm>
            <a:off x="768096" y="1527048"/>
            <a:ext cx="2183130" cy="59436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109</a:t>
            </a:r>
          </a:p>
        </p:txBody>
      </p:sp>
      <p:sp>
        <p:nvSpPr>
          <p:cNvPr id="6" name="TextBox 5"/>
          <p:cNvSpPr txBox="1"/>
          <p:nvPr/>
        </p:nvSpPr>
        <p:spPr>
          <a:xfrm>
            <a:off x="768096" y="2121408"/>
            <a:ext cx="2183130" cy="411480"/>
          </a:xfrm>
          <a:prstGeom prst="rect">
            <a:avLst/>
          </a:prstGeom>
          <a:noFill/>
        </p:spPr>
        <p:txBody>
          <a:bodyPr wrap="square" lIns="0" rIns="0" tIns="0" bIns="0" anchor="t">
            <a:noAutofit/>
          </a:bodyPr>
          <a:lstStyle/>
          <a:p>
            <a:pPr algn="l" marL="0" indent="0">
              <a:buNone/>
            </a:pPr>
            <a:r>
              <a:rPr sz="1200" b="0" i="0">
                <a:solidFill>
                  <a:srgbClr val="4A4F57"/>
                </a:solidFill>
                <a:latin typeface="Calibri"/>
              </a:rPr>
              <a:t>commits, 2026-09-24 → 10-14</a:t>
            </a:r>
          </a:p>
        </p:txBody>
      </p:sp>
      <p:sp>
        <p:nvSpPr>
          <p:cNvPr id="7" name="Rectangle 6"/>
          <p:cNvSpPr/>
          <p:nvPr/>
        </p:nvSpPr>
        <p:spPr>
          <a:xfrm>
            <a:off x="3408426" y="1417320"/>
            <a:ext cx="2548890" cy="1188720"/>
          </a:xfrm>
          <a:prstGeom prst="rect">
            <a:avLst/>
          </a:prstGeom>
          <a:solidFill>
            <a:srgbClr val="F1F3F6"/>
          </a:solidFill>
          <a:ln>
            <a:noFill/>
          </a:ln>
        </p:spPr>
        <p:txBody>
          <a:bodyPr rtlCol="0" anchor="ctr"/>
          <a:lstStyle/>
          <a:p>
            <a:pPr algn="ctr"/>
          </a:p>
        </p:txBody>
      </p:sp>
      <p:sp>
        <p:nvSpPr>
          <p:cNvPr id="8" name="TextBox 7"/>
          <p:cNvSpPr txBox="1"/>
          <p:nvPr/>
        </p:nvSpPr>
        <p:spPr>
          <a:xfrm>
            <a:off x="3591306" y="1527048"/>
            <a:ext cx="2183130" cy="59436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426</a:t>
            </a:r>
          </a:p>
        </p:txBody>
      </p:sp>
      <p:sp>
        <p:nvSpPr>
          <p:cNvPr id="9" name="TextBox 8"/>
          <p:cNvSpPr txBox="1"/>
          <p:nvPr/>
        </p:nvSpPr>
        <p:spPr>
          <a:xfrm>
            <a:off x="3591306" y="2121408"/>
            <a:ext cx="2183130" cy="411480"/>
          </a:xfrm>
          <a:prstGeom prst="rect">
            <a:avLst/>
          </a:prstGeom>
          <a:noFill/>
        </p:spPr>
        <p:txBody>
          <a:bodyPr wrap="square" lIns="0" rIns="0" tIns="0" bIns="0" anchor="t">
            <a:noAutofit/>
          </a:bodyPr>
          <a:lstStyle/>
          <a:p>
            <a:pPr algn="l" marL="0" indent="0">
              <a:buNone/>
            </a:pPr>
            <a:r>
              <a:rPr sz="1200" b="0" i="0">
                <a:solidFill>
                  <a:srgbClr val="4A4F57"/>
                </a:solidFill>
                <a:latin typeface="Calibri"/>
              </a:rPr>
              <a:t>@make_launcher decorators (0 before)</a:t>
            </a:r>
          </a:p>
        </p:txBody>
      </p:sp>
      <p:sp>
        <p:nvSpPr>
          <p:cNvPr id="10" name="Rectangle 9"/>
          <p:cNvSpPr/>
          <p:nvPr/>
        </p:nvSpPr>
        <p:spPr>
          <a:xfrm>
            <a:off x="6231636" y="1417320"/>
            <a:ext cx="2548890" cy="1188720"/>
          </a:xfrm>
          <a:prstGeom prst="rect">
            <a:avLst/>
          </a:prstGeom>
          <a:solidFill>
            <a:srgbClr val="F1F3F6"/>
          </a:solidFill>
          <a:ln>
            <a:noFill/>
          </a:ln>
        </p:spPr>
        <p:txBody>
          <a:bodyPr rtlCol="0" anchor="ctr"/>
          <a:lstStyle/>
          <a:p>
            <a:pPr algn="ctr"/>
          </a:p>
        </p:txBody>
      </p:sp>
      <p:sp>
        <p:nvSpPr>
          <p:cNvPr id="11" name="TextBox 10"/>
          <p:cNvSpPr txBox="1"/>
          <p:nvPr/>
        </p:nvSpPr>
        <p:spPr>
          <a:xfrm>
            <a:off x="6414516" y="1527048"/>
            <a:ext cx="2183130" cy="59436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200</a:t>
            </a:r>
          </a:p>
        </p:txBody>
      </p:sp>
      <p:sp>
        <p:nvSpPr>
          <p:cNvPr id="12" name="TextBox 11"/>
          <p:cNvSpPr txBox="1"/>
          <p:nvPr/>
        </p:nvSpPr>
        <p:spPr>
          <a:xfrm>
            <a:off x="6414516" y="2121408"/>
            <a:ext cx="2183130" cy="411480"/>
          </a:xfrm>
          <a:prstGeom prst="rect">
            <a:avLst/>
          </a:prstGeom>
          <a:noFill/>
        </p:spPr>
        <p:txBody>
          <a:bodyPr wrap="square" lIns="0" rIns="0" tIns="0" bIns="0" anchor="t">
            <a:noAutofit/>
          </a:bodyPr>
          <a:lstStyle/>
          <a:p>
            <a:pPr algn="l" marL="0" indent="0">
              <a:buNone/>
            </a:pPr>
            <a:r>
              <a:rPr sz="1200" b="0" i="0">
                <a:solidFill>
                  <a:srgbClr val="4A4F57"/>
                </a:solidFill>
                <a:latin typeface="Calibri"/>
              </a:rPr>
              <a:t>.py files import intj</a:t>
            </a:r>
          </a:p>
        </p:txBody>
      </p:sp>
      <p:sp>
        <p:nvSpPr>
          <p:cNvPr id="13" name="Rectangle 12"/>
          <p:cNvSpPr/>
          <p:nvPr/>
        </p:nvSpPr>
        <p:spPr>
          <a:xfrm>
            <a:off x="9054846" y="1417320"/>
            <a:ext cx="2548890" cy="1188720"/>
          </a:xfrm>
          <a:prstGeom prst="rect">
            <a:avLst/>
          </a:prstGeom>
          <a:solidFill>
            <a:srgbClr val="F1F3F6"/>
          </a:solidFill>
          <a:ln>
            <a:noFill/>
          </a:ln>
        </p:spPr>
        <p:txBody>
          <a:bodyPr rtlCol="0" anchor="ctr"/>
          <a:lstStyle/>
          <a:p>
            <a:pPr algn="ctr"/>
          </a:p>
        </p:txBody>
      </p:sp>
      <p:sp>
        <p:nvSpPr>
          <p:cNvPr id="14" name="TextBox 13"/>
          <p:cNvSpPr txBox="1"/>
          <p:nvPr/>
        </p:nvSpPr>
        <p:spPr>
          <a:xfrm>
            <a:off x="9237726" y="1527048"/>
            <a:ext cx="2183130" cy="59436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−402</a:t>
            </a:r>
          </a:p>
        </p:txBody>
      </p:sp>
      <p:sp>
        <p:nvSpPr>
          <p:cNvPr id="15" name="TextBox 14"/>
          <p:cNvSpPr txBox="1"/>
          <p:nvPr/>
        </p:nvSpPr>
        <p:spPr>
          <a:xfrm>
            <a:off x="9237726" y="2121408"/>
            <a:ext cx="2183130" cy="411480"/>
          </a:xfrm>
          <a:prstGeom prst="rect">
            <a:avLst/>
          </a:prstGeom>
          <a:noFill/>
        </p:spPr>
        <p:txBody>
          <a:bodyPr wrap="square" lIns="0" rIns="0" tIns="0" bIns="0" anchor="t">
            <a:noAutofit/>
          </a:bodyPr>
          <a:lstStyle/>
          <a:p>
            <a:pPr algn="l" marL="0" indent="0">
              <a:buNone/>
            </a:pPr>
            <a:r>
              <a:rPr sz="1200" b="0" i="0">
                <a:solidFill>
                  <a:srgbClr val="4A4F57"/>
                </a:solidFill>
                <a:latin typeface="Calibri"/>
              </a:rPr>
              <a:t>net kernel[grid](…) launch lines</a:t>
            </a:r>
          </a:p>
        </p:txBody>
      </p:sp>
      <p:sp>
        <p:nvSpPr>
          <p:cNvPr id="16" name="TextBox 15"/>
          <p:cNvSpPr txBox="1"/>
          <p:nvPr/>
        </p:nvSpPr>
        <p:spPr>
          <a:xfrm>
            <a:off x="585216" y="2880360"/>
            <a:ext cx="5120640" cy="320040"/>
          </a:xfrm>
          <a:prstGeom prst="rect">
            <a:avLst/>
          </a:prstGeom>
          <a:noFill/>
        </p:spPr>
        <p:txBody>
          <a:bodyPr wrap="square" lIns="0" rIns="0" tIns="0" bIns="0" anchor="t">
            <a:noAutofit/>
          </a:bodyPr>
          <a:lstStyle/>
          <a:p>
            <a:pPr algn="l" marL="0" indent="0">
              <a:buNone/>
            </a:pPr>
            <a:r>
              <a:rPr sz="1400" b="1" i="0">
                <a:solidFill>
                  <a:srgbClr val="1B1F24"/>
                </a:solidFill>
                <a:latin typeface="Calibri"/>
              </a:rPr>
              <a:t>Still on Triton, by reason</a:t>
            </a:r>
          </a:p>
        </p:txBody>
      </p:sp>
      <p:sp>
        <p:nvSpPr>
          <p:cNvPr id="17" name="Oval 16"/>
          <p:cNvSpPr/>
          <p:nvPr/>
        </p:nvSpPr>
        <p:spPr>
          <a:xfrm>
            <a:off x="585216" y="3310128"/>
            <a:ext cx="438912" cy="438912"/>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3</a:t>
            </a:r>
          </a:p>
        </p:txBody>
      </p:sp>
      <p:sp>
        <p:nvSpPr>
          <p:cNvPr id="18" name="TextBox 17"/>
          <p:cNvSpPr txBox="1"/>
          <p:nvPr/>
        </p:nvSpPr>
        <p:spPr>
          <a:xfrm>
            <a:off x="1207008" y="3310128"/>
            <a:ext cx="4572000" cy="438912"/>
          </a:xfrm>
          <a:prstGeom prst="rect">
            <a:avLst/>
          </a:prstGeom>
          <a:noFill/>
        </p:spPr>
        <p:txBody>
          <a:bodyPr wrap="square" lIns="0" rIns="0" tIns="0" bIns="0" anchor="ctr">
            <a:noAutofit/>
          </a:bodyPr>
          <a:lstStyle/>
          <a:p>
            <a:pPr algn="l" marL="0" indent="0">
              <a:buNone/>
            </a:pPr>
            <a:r>
              <a:rPr sz="1400" b="0" i="0">
                <a:solidFill>
                  <a:srgbClr val="1B1F24"/>
                </a:solidFill>
                <a:latin typeface="Calibri"/>
              </a:rPr>
              <a:t>num_ctas &gt; 1 (CGA / multicast)</a:t>
            </a:r>
          </a:p>
        </p:txBody>
      </p:sp>
      <p:sp>
        <p:nvSpPr>
          <p:cNvPr id="19" name="Oval 18"/>
          <p:cNvSpPr/>
          <p:nvPr/>
        </p:nvSpPr>
        <p:spPr>
          <a:xfrm>
            <a:off x="585216" y="3968496"/>
            <a:ext cx="438912" cy="438912"/>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3</a:t>
            </a:r>
          </a:p>
        </p:txBody>
      </p:sp>
      <p:sp>
        <p:nvSpPr>
          <p:cNvPr id="20" name="TextBox 19"/>
          <p:cNvSpPr txBox="1"/>
          <p:nvPr/>
        </p:nvSpPr>
        <p:spPr>
          <a:xfrm>
            <a:off x="1207008" y="3968496"/>
            <a:ext cx="4572000" cy="438912"/>
          </a:xfrm>
          <a:prstGeom prst="rect">
            <a:avLst/>
          </a:prstGeom>
          <a:noFill/>
        </p:spPr>
        <p:txBody>
          <a:bodyPr wrap="square" lIns="0" rIns="0" tIns="0" bIns="0" anchor="ctr">
            <a:noAutofit/>
          </a:bodyPr>
          <a:lstStyle/>
          <a:p>
            <a:pPr algn="l" marL="0" indent="0">
              <a:buNone/>
            </a:pPr>
            <a:r>
              <a:rPr sz="1400" b="0" i="0">
                <a:solidFill>
                  <a:srgbClr val="1B1F24"/>
                </a:solidFill>
                <a:latin typeface="Calibri"/>
              </a:rPr>
              <a:t>Iris multi-GPU helpers</a:t>
            </a:r>
          </a:p>
        </p:txBody>
      </p:sp>
      <p:sp>
        <p:nvSpPr>
          <p:cNvPr id="21" name="Oval 20"/>
          <p:cNvSpPr/>
          <p:nvPr/>
        </p:nvSpPr>
        <p:spPr>
          <a:xfrm>
            <a:off x="585216" y="4626864"/>
            <a:ext cx="438912" cy="438912"/>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3</a:t>
            </a:r>
          </a:p>
        </p:txBody>
      </p:sp>
      <p:sp>
        <p:nvSpPr>
          <p:cNvPr id="22" name="TextBox 21"/>
          <p:cNvSpPr txBox="1"/>
          <p:nvPr/>
        </p:nvSpPr>
        <p:spPr>
          <a:xfrm>
            <a:off x="1207008" y="4626864"/>
            <a:ext cx="4572000" cy="438912"/>
          </a:xfrm>
          <a:prstGeom prst="rect">
            <a:avLst/>
          </a:prstGeom>
          <a:noFill/>
        </p:spPr>
        <p:txBody>
          <a:bodyPr wrap="square" lIns="0" rIns="0" tIns="0" bIns="0" anchor="ctr">
            <a:noAutofit/>
          </a:bodyPr>
          <a:lstStyle/>
          <a:p>
            <a:pPr algn="l" marL="0" indent="0">
              <a:buNone/>
            </a:pPr>
            <a:r>
              <a:rPr sz="1400" b="0" i="0">
                <a:solidFill>
                  <a:srgbClr val="1B1F24"/>
                </a:solidFill>
                <a:latin typeface="Calibri"/>
              </a:rPr>
              <a:t>torch.compile graphs</a:t>
            </a:r>
          </a:p>
        </p:txBody>
      </p:sp>
      <p:sp>
        <p:nvSpPr>
          <p:cNvPr id="23" name="Oval 22"/>
          <p:cNvSpPr/>
          <p:nvPr/>
        </p:nvSpPr>
        <p:spPr>
          <a:xfrm>
            <a:off x="585216" y="5285232"/>
            <a:ext cx="438912" cy="438912"/>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2</a:t>
            </a:r>
          </a:p>
        </p:txBody>
      </p:sp>
      <p:sp>
        <p:nvSpPr>
          <p:cNvPr id="24" name="TextBox 23"/>
          <p:cNvSpPr txBox="1"/>
          <p:nvPr/>
        </p:nvSpPr>
        <p:spPr>
          <a:xfrm>
            <a:off x="1207008" y="5285232"/>
            <a:ext cx="4572000" cy="438912"/>
          </a:xfrm>
          <a:prstGeom prst="rect">
            <a:avLst/>
          </a:prstGeom>
          <a:noFill/>
        </p:spPr>
        <p:txBody>
          <a:bodyPr wrap="square" lIns="0" rIns="0" tIns="0" bIns="0" anchor="ctr">
            <a:noAutofit/>
          </a:bodyPr>
          <a:lstStyle/>
          <a:p>
            <a:pPr algn="l" marL="0" indent="0">
              <a:buNone/>
            </a:pPr>
            <a:r>
              <a:rPr sz="1400" b="0" i="0">
                <a:solidFill>
                  <a:srgbClr val="1B1F24"/>
                </a:solidFill>
                <a:latin typeface="Calibri"/>
              </a:rPr>
              <a:t>PDL (launch_pdl)</a:t>
            </a:r>
          </a:p>
        </p:txBody>
      </p:sp>
      <p:sp>
        <p:nvSpPr>
          <p:cNvPr id="25" name="Rectangle 24"/>
          <p:cNvSpPr/>
          <p:nvPr/>
        </p:nvSpPr>
        <p:spPr>
          <a:xfrm>
            <a:off x="6035040" y="2880360"/>
            <a:ext cx="5571439" cy="45720"/>
          </a:xfrm>
          <a:prstGeom prst="rect">
            <a:avLst/>
          </a:prstGeom>
          <a:solidFill>
            <a:srgbClr val="6B7079"/>
          </a:solidFill>
          <a:ln>
            <a:noFill/>
          </a:ln>
        </p:spPr>
        <p:txBody>
          <a:bodyPr rtlCol="0" anchor="ctr"/>
          <a:lstStyle/>
          <a:p>
            <a:pPr algn="ctr"/>
          </a:p>
        </p:txBody>
      </p:sp>
      <p:sp>
        <p:nvSpPr>
          <p:cNvPr id="26" name="Rectangle 25"/>
          <p:cNvSpPr/>
          <p:nvPr/>
        </p:nvSpPr>
        <p:spPr>
          <a:xfrm>
            <a:off x="6035040" y="2926079"/>
            <a:ext cx="5571439" cy="411480"/>
          </a:xfrm>
          <a:prstGeom prst="rect">
            <a:avLst/>
          </a:prstGeom>
          <a:solidFill>
            <a:srgbClr val="E1E5EA"/>
          </a:solidFill>
          <a:ln>
            <a:noFill/>
          </a:ln>
        </p:spPr>
        <p:txBody>
          <a:bodyPr rtlCol="0" anchor="ctr"/>
          <a:lstStyle/>
          <a:p>
            <a:pPr algn="ctr"/>
          </a:p>
        </p:txBody>
      </p:sp>
      <p:sp>
        <p:nvSpPr>
          <p:cNvPr id="27" name="Rectangle 26"/>
          <p:cNvSpPr/>
          <p:nvPr/>
        </p:nvSpPr>
        <p:spPr>
          <a:xfrm>
            <a:off x="6035040" y="3337560"/>
            <a:ext cx="5571439" cy="2834640"/>
          </a:xfrm>
          <a:prstGeom prst="rect">
            <a:avLst/>
          </a:prstGeom>
          <a:solidFill>
            <a:srgbClr val="F1F3F6"/>
          </a:solidFill>
          <a:ln>
            <a:noFill/>
          </a:ln>
        </p:spPr>
        <p:txBody>
          <a:bodyPr rtlCol="0" anchor="ctr"/>
          <a:lstStyle/>
          <a:p>
            <a:pPr algn="ctr"/>
          </a:p>
        </p:txBody>
      </p:sp>
      <p:sp>
        <p:nvSpPr>
          <p:cNvPr id="28" name="TextBox 27"/>
          <p:cNvSpPr txBox="1"/>
          <p:nvPr/>
        </p:nvSpPr>
        <p:spPr>
          <a:xfrm>
            <a:off x="6217920" y="2926079"/>
            <a:ext cx="5205679" cy="41148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How it was checked</a:t>
            </a:r>
          </a:p>
        </p:txBody>
      </p:sp>
      <p:sp>
        <p:nvSpPr>
          <p:cNvPr id="29" name="TextBox 28"/>
          <p:cNvSpPr txBox="1"/>
          <p:nvPr/>
        </p:nvSpPr>
        <p:spPr>
          <a:xfrm>
            <a:off x="6217920" y="3474720"/>
            <a:ext cx="5205679" cy="2651760"/>
          </a:xfrm>
          <a:prstGeom prst="rect">
            <a:avLst/>
          </a:prstGeom>
          <a:noFill/>
        </p:spPr>
        <p:txBody>
          <a:bodyPr wrap="square" lIns="0" rIns="0" tIns="0" bIns="0" anchor="t">
            <a:noAutofit/>
          </a:bodyPr>
          <a:lstStyle/>
          <a:p>
            <a:pPr algn="l" marL="201168" indent="-201168">
              <a:spcAft>
                <a:spcPts val="700"/>
              </a:spcAft>
              <a:buClr>
                <a:srgbClr val="7A7F87"/>
              </a:buClr>
              <a:buFont typeface="Arial"/>
              <a:buChar char="•"/>
            </a:pPr>
            <a:r>
              <a:rPr sz="1300" b="1" i="0">
                <a:solidFill>
                  <a:srgbClr val="4A4F57"/>
                </a:solidFill>
                <a:latin typeface="Calibri"/>
              </a:rPr>
              <a:t>Check sweep: </a:t>
            </a:r>
            <a:r>
              <a:rPr sz="1300" b="0" i="0">
                <a:solidFill>
                  <a:srgbClr val="4A4F57"/>
                </a:solidFill>
                <a:latin typeface="Calibri"/>
              </a:rPr>
              <a:t>all 424 launchers check and build on intj 20e578f.</a:t>
            </a:r>
          </a:p>
          <a:p>
            <a:pPr algn="l" marL="201168" indent="-201168">
              <a:spcAft>
                <a:spcPts val="700"/>
              </a:spcAft>
              <a:buClr>
                <a:srgbClr val="7A7F87"/>
              </a:buClr>
              <a:buFont typeface="Arial"/>
              <a:buChar char="•"/>
            </a:pPr>
            <a:r>
              <a:rPr sz="1300" b="1" i="0">
                <a:solidFill>
                  <a:srgbClr val="4A4F57"/>
                </a:solidFill>
                <a:latin typeface="Calibri"/>
              </a:rPr>
              <a:t>Differential test: </a:t>
            </a:r>
            <a:r>
              <a:rPr sz="1300" b="0" i="0">
                <a:solidFill>
                  <a:srgbClr val="4A4F57"/>
                </a:solidFill>
                <a:latin typeface="Calibri"/>
              </a:rPr>
              <a:t>247 kernels, ~7,300 launches vs Triton, bitwise equal (except atomic_add and two self-nondeterministic cases; at intj 429d8e1).</a:t>
            </a:r>
          </a:p>
          <a:p>
            <a:pPr algn="l" marL="201168" indent="-201168">
              <a:spcAft>
                <a:spcPts val="700"/>
              </a:spcAft>
              <a:buClr>
                <a:srgbClr val="7A7F87"/>
              </a:buClr>
              <a:buFont typeface="Arial"/>
              <a:buChar char="•"/>
            </a:pPr>
            <a:r>
              <a:rPr sz="1300" b="1" i="0">
                <a:solidFill>
                  <a:srgbClr val="4A4F57"/>
                </a:solidFill>
                <a:latin typeface="Calibri"/>
              </a:rPr>
              <a:t>gfx942 host time: </a:t>
            </a:r>
            <a:r>
              <a:rPr sz="1300" b="0" i="0">
                <a:solidFill>
                  <a:srgbClr val="4A4F57"/>
                </a:solidFill>
                <a:latin typeface="Calibri"/>
              </a:rPr>
              <a:t>rope 68.8 → 19.1 µs, flash_attn_func fwd 102.7 → 45.1 µs, attn_res_gate 20.0 → 12.2 µs.</a:t>
            </a:r>
          </a:p>
          <a:p>
            <a:pPr algn="l" marL="201168" indent="-201168">
              <a:buClr>
                <a:srgbClr val="7A7F87"/>
              </a:buClr>
              <a:buFont typeface="Arial"/>
              <a:buChar char="•"/>
            </a:pPr>
            <a:r>
              <a:rPr sz="1300" b="1" i="0">
                <a:solidFill>
                  <a:srgbClr val="4A4F57"/>
                </a:solidFill>
                <a:latin typeface="Calibri"/>
              </a:rPr>
              <a:t>Untested: </a:t>
            </a:r>
            <a:r>
              <a:rPr sz="1300" b="0" i="0">
                <a:solidFill>
                  <a:srgbClr val="4A4F57"/>
                </a:solidFill>
                <a:latin typeface="Calibri"/>
              </a:rPr>
              <a:t>CUDA; gfx1250 is compile-identity only.</a:t>
            </a:r>
          </a:p>
        </p:txBody>
      </p:sp>
      <p:sp>
        <p:nvSpPr>
          <p:cNvPr id="30" name="TextBox 2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aiter 874d253dd3..5d710e670 (git rev-list / git grep), aiter docs/intj_launch_exceptions.md, MIGRATION_GAP.md.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Incompatible launch syntax: no per-call grid or kernel[grid]</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14</a:t>
            </a:r>
          </a:p>
        </p:txBody>
      </p:sp>
      <p:sp>
        <p:nvSpPr>
          <p:cNvPr id="4" name="Rectangle 3"/>
          <p:cNvSpPr/>
          <p:nvPr/>
        </p:nvSpPr>
        <p:spPr>
          <a:xfrm>
            <a:off x="585216" y="1371600"/>
            <a:ext cx="6035040" cy="1325880"/>
          </a:xfrm>
          <a:prstGeom prst="rect">
            <a:avLst/>
          </a:prstGeom>
          <a:solidFill>
            <a:srgbClr val="1F2329"/>
          </a:solidFill>
          <a:ln w="12700">
            <a:solidFill>
              <a:srgbClr val="1F2329"/>
            </a:solidFill>
          </a:ln>
        </p:spPr>
        <p:txBody>
          <a:bodyPr rtlCol="0" anchor="ctr"/>
          <a:lstStyle/>
          <a:p>
            <a:pPr algn="ctr"/>
          </a:p>
        </p:txBody>
      </p:sp>
      <p:sp>
        <p:nvSpPr>
          <p:cNvPr id="5" name="TextBox 4"/>
          <p:cNvSpPr txBox="1"/>
          <p:nvPr/>
        </p:nvSpPr>
        <p:spPr>
          <a:xfrm>
            <a:off x="786384" y="1481328"/>
            <a:ext cx="5632703" cy="1106424"/>
          </a:xfrm>
          <a:prstGeom prst="rect">
            <a:avLst/>
          </a:prstGeom>
          <a:noFill/>
        </p:spPr>
        <p:txBody>
          <a:bodyPr wrap="square" lIns="0" rIns="0" tIns="0" bIns="0" anchor="ctr">
            <a:noAutofit/>
          </a:bodyPr>
          <a:lstStyle/>
          <a:p>
            <a:pPr algn="l" marL="0" indent="0">
              <a:buNone/>
            </a:pPr>
            <a:r>
              <a:rPr sz="1100" b="0" i="0">
                <a:solidFill>
                  <a:srgbClr val="E3E6EA"/>
                </a:solidFill>
                <a:latin typeface="Courier New"/>
              </a:rPr>
              <a:t># Triton: device and stream implicit; keywords, defaults</a:t>
            </a:r>
          </a:p>
          <a:p>
            <a:pPr algn="l" marL="0" indent="0">
              <a:buNone/>
            </a:pPr>
            <a:r>
              <a:rPr sz="1100" b="0" i="0">
                <a:solidFill>
                  <a:srgbClr val="E3E6EA"/>
                </a:solidFill>
                <a:latin typeface="Courier New"/>
              </a:rPr>
              <a:t>kernel[(triton.cdiv(n, 128),)](x, y, o, n, BLOCK=128)</a:t>
            </a:r>
          </a:p>
          <a:p>
            <a:pPr algn="l" marL="0" indent="0">
              <a:buNone/>
            </a:pPr>
            <a:r>
              <a:rPr sz="1100" b="0" i="0">
                <a:solidFill>
                  <a:srgbClr val="E3E6EA"/>
                </a:solidFill>
                <a:latin typeface="Courier New"/>
              </a:rPr>
              <a:t># intj: device, stream, grid passed in; positional only</a:t>
            </a:r>
          </a:p>
          <a:p>
            <a:pPr algn="l" marL="0" indent="0">
              <a:buNone/>
            </a:pPr>
            <a:r>
              <a:rPr sz="1100" b="0" i="0">
                <a:solidFill>
                  <a:srgbClr val="E3E6EA"/>
                </a:solidFill>
                <a:latin typeface="Courier New"/>
              </a:rPr>
              <a:t>k = make_launcher(kernel)</a:t>
            </a:r>
          </a:p>
          <a:p>
            <a:pPr algn="l" marL="0" indent="0">
              <a:buNone/>
            </a:pPr>
            <a:r>
              <a:rPr sz="1100" b="0" i="0">
                <a:solidFill>
                  <a:srgbClr val="E3E6EA"/>
                </a:solidFill>
                <a:latin typeface="Courier New"/>
              </a:rPr>
              <a:t>k(dev, stream, (triton.cdiv(n, 128),), x, y, o, n, 128)</a:t>
            </a:r>
          </a:p>
        </p:txBody>
      </p:sp>
      <p:sp>
        <p:nvSpPr>
          <p:cNvPr id="6" name="Rectangle 5"/>
          <p:cNvSpPr/>
          <p:nvPr/>
        </p:nvSpPr>
        <p:spPr>
          <a:xfrm>
            <a:off x="6894575" y="1371600"/>
            <a:ext cx="4709160" cy="1325880"/>
          </a:xfrm>
          <a:prstGeom prst="rect">
            <a:avLst/>
          </a:prstGeom>
          <a:solidFill>
            <a:srgbClr val="1F2329"/>
          </a:solidFill>
          <a:ln w="12700">
            <a:solidFill>
              <a:srgbClr val="1F2329"/>
            </a:solidFill>
          </a:ln>
        </p:spPr>
        <p:txBody>
          <a:bodyPr rtlCol="0" anchor="ctr"/>
          <a:lstStyle/>
          <a:p>
            <a:pPr algn="ctr"/>
          </a:p>
        </p:txBody>
      </p:sp>
      <p:sp>
        <p:nvSpPr>
          <p:cNvPr id="7" name="TextBox 6"/>
          <p:cNvSpPr txBox="1"/>
          <p:nvPr/>
        </p:nvSpPr>
        <p:spPr>
          <a:xfrm>
            <a:off x="7095743" y="1481328"/>
            <a:ext cx="4306824" cy="1106424"/>
          </a:xfrm>
          <a:prstGeom prst="rect">
            <a:avLst/>
          </a:prstGeom>
          <a:noFill/>
        </p:spPr>
        <p:txBody>
          <a:bodyPr wrap="square" lIns="0" rIns="0" tIns="0" bIns="0" anchor="ctr">
            <a:noAutofit/>
          </a:bodyPr>
          <a:lstStyle/>
          <a:p>
            <a:pPr algn="l" marL="0" indent="0">
              <a:buNone/>
            </a:pPr>
            <a:r>
              <a:rPr sz="1100" b="0" i="0">
                <a:solidFill>
                  <a:srgbClr val="E3E6EA"/>
                </a:solidFill>
                <a:latin typeface="Courier New"/>
              </a:rPr>
              <a:t># Triton's kernel[grid] (triton/runtime/jit.py)</a:t>
            </a:r>
          </a:p>
          <a:p>
            <a:pPr algn="l" marL="0" indent="0">
              <a:buNone/>
            </a:pPr>
            <a:r>
              <a:rPr sz="1100" b="0" i="0">
                <a:solidFill>
                  <a:srgbClr val="E3E6EA"/>
                </a:solidFill>
                <a:latin typeface="Courier New"/>
              </a:rPr>
              <a:t>def __getitem__(self, grid) -&gt; T:</a:t>
            </a:r>
          </a:p>
          <a:p>
            <a:pPr algn="l" marL="0" indent="0">
              <a:buNone/>
            </a:pPr>
            <a:r>
              <a:rPr sz="1100" b="0" i="0">
                <a:solidFill>
                  <a:srgbClr val="E3E6EA"/>
                </a:solidFill>
                <a:latin typeface="Courier New"/>
              </a:rPr>
              <a:t>    return lambda *args, **kwargs: self.run(</a:t>
            </a:r>
          </a:p>
          <a:p>
            <a:pPr algn="l" marL="0" indent="0">
              <a:buNone/>
            </a:pPr>
            <a:r>
              <a:rPr sz="1100" b="0" i="0">
                <a:solidFill>
                  <a:srgbClr val="E3E6EA"/>
                </a:solidFill>
                <a:latin typeface="Courier New"/>
              </a:rPr>
              <a:t>        grid=grid, warmup=False, *args, **kwargs)</a:t>
            </a:r>
          </a:p>
        </p:txBody>
      </p:sp>
      <p:sp>
        <p:nvSpPr>
          <p:cNvPr id="8" name="Rectangle 7"/>
          <p:cNvSpPr/>
          <p:nvPr/>
        </p:nvSpPr>
        <p:spPr>
          <a:xfrm>
            <a:off x="585216" y="2880360"/>
            <a:ext cx="5257800" cy="45720"/>
          </a:xfrm>
          <a:prstGeom prst="rect">
            <a:avLst/>
          </a:prstGeom>
          <a:solidFill>
            <a:srgbClr val="EB6834"/>
          </a:solidFill>
          <a:ln>
            <a:noFill/>
          </a:ln>
        </p:spPr>
        <p:txBody>
          <a:bodyPr rtlCol="0" anchor="ctr"/>
          <a:lstStyle/>
          <a:p>
            <a:pPr algn="ctr"/>
          </a:p>
        </p:txBody>
      </p:sp>
      <p:sp>
        <p:nvSpPr>
          <p:cNvPr id="9" name="Rectangle 8"/>
          <p:cNvSpPr/>
          <p:nvPr/>
        </p:nvSpPr>
        <p:spPr>
          <a:xfrm>
            <a:off x="585216" y="2926079"/>
            <a:ext cx="5257800" cy="365760"/>
          </a:xfrm>
          <a:prstGeom prst="rect">
            <a:avLst/>
          </a:prstGeom>
          <a:solidFill>
            <a:srgbClr val="E1E5EA"/>
          </a:solidFill>
          <a:ln>
            <a:noFill/>
          </a:ln>
        </p:spPr>
        <p:txBody>
          <a:bodyPr rtlCol="0" anchor="ctr"/>
          <a:lstStyle/>
          <a:p>
            <a:pPr algn="ctr"/>
          </a:p>
        </p:txBody>
      </p:sp>
      <p:sp>
        <p:nvSpPr>
          <p:cNvPr id="10" name="Rectangle 9"/>
          <p:cNvSpPr/>
          <p:nvPr/>
        </p:nvSpPr>
        <p:spPr>
          <a:xfrm>
            <a:off x="585216" y="3291839"/>
            <a:ext cx="5257800" cy="1097279"/>
          </a:xfrm>
          <a:prstGeom prst="rect">
            <a:avLst/>
          </a:prstGeom>
          <a:solidFill>
            <a:srgbClr val="F1F3F6"/>
          </a:solidFill>
          <a:ln>
            <a:noFill/>
          </a:ln>
        </p:spPr>
        <p:txBody>
          <a:bodyPr rtlCol="0" anchor="ctr"/>
          <a:lstStyle/>
          <a:p>
            <a:pPr algn="ctr"/>
          </a:p>
        </p:txBody>
      </p:sp>
      <p:sp>
        <p:nvSpPr>
          <p:cNvPr id="11" name="TextBox 10"/>
          <p:cNvSpPr txBox="1"/>
          <p:nvPr/>
        </p:nvSpPr>
        <p:spPr>
          <a:xfrm>
            <a:off x="768096" y="2926079"/>
            <a:ext cx="4892040" cy="36576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Gain</a:t>
            </a:r>
          </a:p>
        </p:txBody>
      </p:sp>
      <p:sp>
        <p:nvSpPr>
          <p:cNvPr id="12" name="TextBox 11"/>
          <p:cNvSpPr txBox="1"/>
          <p:nvPr/>
        </p:nvSpPr>
        <p:spPr>
          <a:xfrm>
            <a:off x="768096" y="3383279"/>
            <a:ext cx="4892040" cy="1005839"/>
          </a:xfrm>
          <a:prstGeom prst="rect">
            <a:avLst/>
          </a:prstGeom>
          <a:noFill/>
        </p:spPr>
        <p:txBody>
          <a:bodyPr wrap="square" lIns="0" rIns="0" tIns="0" bIns="0" anchor="t">
            <a:noAutofit/>
          </a:bodyPr>
          <a:lstStyle/>
          <a:p>
            <a:pPr algn="l" marL="201168" indent="-201168">
              <a:spcAft>
                <a:spcPts val="500"/>
              </a:spcAft>
              <a:buClr>
                <a:srgbClr val="7A7F87"/>
              </a:buClr>
              <a:buFont typeface="Arial"/>
              <a:buChar char="•"/>
            </a:pPr>
            <a:r>
              <a:rPr sz="1200" b="0" i="0">
                <a:solidFill>
                  <a:srgbClr val="4A4F57"/>
                </a:solidFill>
                <a:latin typeface="Calibri"/>
              </a:rPr>
              <a:t>Nothing is queried per call: device, stream and grid come from the caller.</a:t>
            </a:r>
          </a:p>
          <a:p>
            <a:pPr algn="l" marL="201168" indent="-201168">
              <a:buClr>
                <a:srgbClr val="7A7F87"/>
              </a:buClr>
              <a:buFont typeface="Arial"/>
              <a:buChar char="•"/>
            </a:pPr>
            <a:r>
              <a:rPr sz="1200" b="0" i="0">
                <a:solidFill>
                  <a:srgbClr val="4A4F57"/>
                </a:solidFill>
                <a:latin typeface="Calibri"/>
              </a:rPr>
              <a:t>grid_arg / grid_cpp compute the grid in C; grid_py is opt-in.</a:t>
            </a:r>
          </a:p>
        </p:txBody>
      </p:sp>
      <p:sp>
        <p:nvSpPr>
          <p:cNvPr id="13" name="Rectangle 12"/>
          <p:cNvSpPr/>
          <p:nvPr/>
        </p:nvSpPr>
        <p:spPr>
          <a:xfrm>
            <a:off x="585216" y="4526280"/>
            <a:ext cx="5257800" cy="45720"/>
          </a:xfrm>
          <a:prstGeom prst="rect">
            <a:avLst/>
          </a:prstGeom>
          <a:solidFill>
            <a:srgbClr val="7A7F87"/>
          </a:solidFill>
          <a:ln>
            <a:noFill/>
          </a:ln>
        </p:spPr>
        <p:txBody>
          <a:bodyPr rtlCol="0" anchor="ctr"/>
          <a:lstStyle/>
          <a:p>
            <a:pPr algn="ctr"/>
          </a:p>
        </p:txBody>
      </p:sp>
      <p:sp>
        <p:nvSpPr>
          <p:cNvPr id="14" name="Rectangle 13"/>
          <p:cNvSpPr/>
          <p:nvPr/>
        </p:nvSpPr>
        <p:spPr>
          <a:xfrm>
            <a:off x="585216" y="4572000"/>
            <a:ext cx="5257800" cy="365760"/>
          </a:xfrm>
          <a:prstGeom prst="rect">
            <a:avLst/>
          </a:prstGeom>
          <a:solidFill>
            <a:srgbClr val="E1E5EA"/>
          </a:solidFill>
          <a:ln>
            <a:noFill/>
          </a:ln>
        </p:spPr>
        <p:txBody>
          <a:bodyPr rtlCol="0" anchor="ctr"/>
          <a:lstStyle/>
          <a:p>
            <a:pPr algn="ctr"/>
          </a:p>
        </p:txBody>
      </p:sp>
      <p:sp>
        <p:nvSpPr>
          <p:cNvPr id="15" name="Rectangle 14"/>
          <p:cNvSpPr/>
          <p:nvPr/>
        </p:nvSpPr>
        <p:spPr>
          <a:xfrm>
            <a:off x="585216" y="4937760"/>
            <a:ext cx="5257800" cy="1325879"/>
          </a:xfrm>
          <a:prstGeom prst="rect">
            <a:avLst/>
          </a:prstGeom>
          <a:solidFill>
            <a:srgbClr val="F1F3F6"/>
          </a:solidFill>
          <a:ln>
            <a:noFill/>
          </a:ln>
        </p:spPr>
        <p:txBody>
          <a:bodyPr rtlCol="0" anchor="ctr"/>
          <a:lstStyle/>
          <a:p>
            <a:pPr algn="ctr"/>
          </a:p>
        </p:txBody>
      </p:sp>
      <p:sp>
        <p:nvSpPr>
          <p:cNvPr id="16" name="TextBox 15"/>
          <p:cNvSpPr txBox="1"/>
          <p:nvPr/>
        </p:nvSpPr>
        <p:spPr>
          <a:xfrm>
            <a:off x="768096" y="4572000"/>
            <a:ext cx="4892040" cy="36576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Price</a:t>
            </a:r>
          </a:p>
        </p:txBody>
      </p:sp>
      <p:sp>
        <p:nvSpPr>
          <p:cNvPr id="17" name="TextBox 16"/>
          <p:cNvSpPr txBox="1"/>
          <p:nvPr/>
        </p:nvSpPr>
        <p:spPr>
          <a:xfrm>
            <a:off x="768096" y="5029200"/>
            <a:ext cx="4892040" cy="1234439"/>
          </a:xfrm>
          <a:prstGeom prst="rect">
            <a:avLst/>
          </a:prstGeom>
          <a:noFill/>
        </p:spPr>
        <p:txBody>
          <a:bodyPr wrap="square" lIns="0" rIns="0" tIns="0" bIns="0" anchor="t">
            <a:noAutofit/>
          </a:bodyPr>
          <a:lstStyle/>
          <a:p>
            <a:pPr algn="l" marL="201168" indent="-201168">
              <a:spcAft>
                <a:spcPts val="500"/>
              </a:spcAft>
              <a:buClr>
                <a:srgbClr val="7A7F87"/>
              </a:buClr>
              <a:buFont typeface="Arial"/>
              <a:buChar char="•"/>
            </a:pPr>
            <a:r>
              <a:rPr sz="1200" b="0" i="0">
                <a:solidFill>
                  <a:srgbClr val="4A4F57"/>
                </a:solidFill>
                <a:latin typeface="Calibri"/>
              </a:rPr>
              <a:t>Every call site is rewritten; defaulted parameters are passed explicitly.</a:t>
            </a:r>
          </a:p>
          <a:p>
            <a:pPr algn="l" marL="201168" indent="-201168">
              <a:spcAft>
                <a:spcPts val="500"/>
              </a:spcAft>
              <a:buClr>
                <a:srgbClr val="7A7F87"/>
              </a:buClr>
              <a:buFont typeface="Arial"/>
              <a:buChar char="•"/>
            </a:pPr>
            <a:r>
              <a:rPr sz="1200" b="0" i="0">
                <a:solidFill>
                  <a:srgbClr val="4A4F57"/>
                </a:solidFill>
                <a:latin typeface="Calibri"/>
              </a:rPr>
              <a:t>Refused: TensorWrapper, tuples, Gluon layout objects, num_ctas &gt; 1, scratch, PDL, launch hooks.</a:t>
            </a:r>
          </a:p>
          <a:p>
            <a:pPr algn="l" marL="201168" indent="-201168">
              <a:buClr>
                <a:srgbClr val="7A7F87"/>
              </a:buClr>
              <a:buFont typeface="Arial"/>
              <a:buChar char="•"/>
            </a:pPr>
            <a:r>
              <a:rPr sz="1200" b="0" i="0">
                <a:solidFill>
                  <a:srgbClr val="4A4F57"/>
                </a:solidFill>
                <a:latin typeface="Calibri"/>
              </a:rPr>
              <a:t>Undeclared cache-invalidating knobs freeze at the first call.</a:t>
            </a:r>
          </a:p>
        </p:txBody>
      </p:sp>
      <p:sp>
        <p:nvSpPr>
          <p:cNvPr id="18" name="TextBox 17"/>
          <p:cNvSpPr txBox="1"/>
          <p:nvPr/>
        </p:nvSpPr>
        <p:spPr>
          <a:xfrm>
            <a:off x="6163055" y="2880360"/>
            <a:ext cx="5443423" cy="274320"/>
          </a:xfrm>
          <a:prstGeom prst="rect">
            <a:avLst/>
          </a:prstGeom>
          <a:noFill/>
        </p:spPr>
        <p:txBody>
          <a:bodyPr wrap="square" lIns="0" rIns="0" tIns="0" bIns="0" anchor="t">
            <a:noAutofit/>
          </a:bodyPr>
          <a:lstStyle/>
          <a:p>
            <a:pPr algn="l" marL="0" indent="0">
              <a:buNone/>
            </a:pPr>
            <a:r>
              <a:rPr sz="1400" b="1" i="0">
                <a:solidFill>
                  <a:srgbClr val="1B1F24"/>
                </a:solidFill>
                <a:latin typeface="Calibri"/>
              </a:rPr>
              <a:t>Host ns per call</a:t>
            </a:r>
          </a:p>
        </p:txBody>
      </p:sp>
      <p:graphicFrame>
        <p:nvGraphicFramePr>
          <p:cNvPr id="19" name="Table 18"/>
          <p:cNvGraphicFramePr>
            <a:graphicFrameLocks noGrp="1"/>
          </p:cNvGraphicFramePr>
          <p:nvPr/>
        </p:nvGraphicFramePr>
        <p:xfrm>
          <a:off x="6163055" y="3246120"/>
          <a:ext cx="5443422" cy="2304288"/>
        </p:xfrm>
        <a:graphic>
          <a:graphicData uri="http://schemas.openxmlformats.org/drawingml/2006/table">
            <a:tbl>
              <a:tblPr firstRow="1" bandRow="1">
                <a:tableStyleId>{2D5ABB26-0587-4C30-8999-92F81FD0307C}</a:tableStyleId>
              </a:tblPr>
              <a:tblGrid>
                <a:gridCol w="2514600"/>
                <a:gridCol w="976274"/>
                <a:gridCol w="976274"/>
                <a:gridCol w="976274"/>
              </a:tblGrid>
              <a:tr h="384048">
                <a:tc>
                  <a:txBody>
                    <a:bodyPr wrap="square" lIns="0" rIns="0" tIns="0" bIns="0" anchor="ctr">
                      <a:noAutofit/>
                    </a:bodyPr>
                    <a:lstStyle/>
                    <a:p>
                      <a:pPr algn="l" marL="0" indent="0">
                        <a:buNone/>
                      </a:pPr>
                      <a:r>
                        <a:rPr sz="1200" b="1" i="0">
                          <a:solidFill>
                            <a:srgbClr val="1B1F24"/>
                          </a:solidFill>
                          <a:latin typeface="Calibri"/>
                        </a:rPr>
                        <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MI308X</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MI350X</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RTX 4080 SUPER</a:t>
                      </a:r>
                    </a:p>
                  </a:txBody>
                  <a:tcPr marL="73152" marR="73152" marT="27432" marB="27432">
                    <a:solidFill>
                      <a:srgbClr val="E1E5EA"/>
                    </a:solidFill>
                  </a:tcPr>
                </a:tc>
              </a:tr>
              <a:tr h="384048">
                <a:tc>
                  <a:txBody>
                    <a:bodyPr wrap="square" lIns="0" rIns="0" tIns="0" bIns="0" anchor="ctr">
                      <a:noAutofit/>
                    </a:bodyPr>
                    <a:lstStyle/>
                    <a:p>
                      <a:pPr algn="l" marL="0" indent="0">
                        <a:buNone/>
                      </a:pPr>
                      <a:r>
                        <a:rPr sz="1200" b="0" i="0">
                          <a:solidFill>
                            <a:srgbClr val="1B1F24"/>
                          </a:solidFill>
                          <a:latin typeface="Calibri"/>
                        </a:rPr>
                        <a:t>triton.cdiv(n, 128)</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989</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602</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809</a:t>
                      </a:r>
                    </a:p>
                  </a:txBody>
                  <a:tcPr marL="73152" marR="73152" marT="27432" marB="27432">
                    <a:solidFill>
                      <a:srgbClr val="F1F3F6"/>
                    </a:solidFill>
                  </a:tcPr>
                </a:tc>
              </a:tr>
              <a:tr h="384048">
                <a:tc>
                  <a:txBody>
                    <a:bodyPr wrap="square" lIns="0" rIns="0" tIns="0" bIns="0" anchor="ctr">
                      <a:noAutofit/>
                    </a:bodyPr>
                    <a:lstStyle/>
                    <a:p>
                      <a:pPr algn="l" marL="0" indent="0">
                        <a:buNone/>
                      </a:pPr>
                      <a:r>
                        <a:rPr sz="1200" b="0" i="0">
                          <a:solidFill>
                            <a:srgbClr val="1B1F24"/>
                          </a:solidFill>
                          <a:latin typeface="Calibri"/>
                        </a:rPr>
                        <a:t>(x + y - 1) // y</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35</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20</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34</a:t>
                      </a:r>
                    </a:p>
                  </a:txBody>
                  <a:tcPr marL="73152" marR="73152" marT="27432" marB="27432">
                    <a:solidFill>
                      <a:srgbClr val="FFFFFF"/>
                    </a:solidFill>
                  </a:tcPr>
                </a:tc>
              </a:tr>
              <a:tr h="384048">
                <a:tc>
                  <a:txBody>
                    <a:bodyPr wrap="square" lIns="0" rIns="0" tIns="0" bIns="0" anchor="ctr">
                      <a:noAutofit/>
                    </a:bodyPr>
                    <a:lstStyle/>
                    <a:p>
                      <a:pPr algn="l" marL="0" indent="0">
                        <a:buNone/>
                      </a:pPr>
                      <a:r>
                        <a:rPr sz="1200" b="0" i="0">
                          <a:solidFill>
                            <a:srgbClr val="1B1F24"/>
                          </a:solidFill>
                          <a:latin typeface="Calibri"/>
                        </a:rPr>
                        <a:t>intj grid_cpp: cdiv in C</a:t>
                      </a:r>
                    </a:p>
                  </a:txBody>
                  <a:tcPr marL="73152" marR="73152" marT="27432" marB="27432">
                    <a:solidFill>
                      <a:srgbClr val="F1F3F6"/>
                    </a:solidFill>
                  </a:tcPr>
                </a:tc>
                <a:tc>
                  <a:txBody>
                    <a:bodyPr wrap="square" lIns="0" rIns="0" tIns="0" bIns="0" anchor="ctr">
                      <a:noAutofit/>
                    </a:bodyPr>
                    <a:lstStyle/>
                    <a:p>
                      <a:pPr algn="r" marL="0" indent="0">
                        <a:buNone/>
                      </a:pPr>
                      <a:r>
                        <a:rPr sz="1200" b="1" i="0">
                          <a:solidFill>
                            <a:srgbClr val="EB6834"/>
                          </a:solidFill>
                          <a:latin typeface="Calibri"/>
                        </a:rPr>
                        <a:t>+3</a:t>
                      </a:r>
                    </a:p>
                  </a:txBody>
                  <a:tcPr marL="73152" marR="73152" marT="27432" marB="27432">
                    <a:solidFill>
                      <a:srgbClr val="F1F3F6"/>
                    </a:solidFill>
                  </a:tcPr>
                </a:tc>
                <a:tc>
                  <a:txBody>
                    <a:bodyPr wrap="square" lIns="0" rIns="0" tIns="0" bIns="0" anchor="ctr">
                      <a:noAutofit/>
                    </a:bodyPr>
                    <a:lstStyle/>
                    <a:p>
                      <a:pPr algn="r" marL="0" indent="0">
                        <a:buNone/>
                      </a:pPr>
                      <a:r>
                        <a:rPr sz="1200" b="1" i="0">
                          <a:solidFill>
                            <a:srgbClr val="EB6834"/>
                          </a:solidFill>
                          <a:latin typeface="Calibri"/>
                        </a:rPr>
                        <a:t>≈0</a:t>
                      </a:r>
                    </a:p>
                  </a:txBody>
                  <a:tcPr marL="73152" marR="73152" marT="27432" marB="27432">
                    <a:solidFill>
                      <a:srgbClr val="F1F3F6"/>
                    </a:solidFill>
                  </a:tcPr>
                </a:tc>
                <a:tc>
                  <a:txBody>
                    <a:bodyPr wrap="square" lIns="0" rIns="0" tIns="0" bIns="0" anchor="ctr">
                      <a:noAutofit/>
                    </a:bodyPr>
                    <a:lstStyle/>
                    <a:p>
                      <a:pPr algn="r" marL="0" indent="0">
                        <a:buNone/>
                      </a:pPr>
                      <a:r>
                        <a:rPr sz="1200" b="1" i="0">
                          <a:solidFill>
                            <a:srgbClr val="EB6834"/>
                          </a:solidFill>
                          <a:latin typeface="Calibri"/>
                        </a:rPr>
                        <a:t>≈0</a:t>
                      </a:r>
                    </a:p>
                  </a:txBody>
                  <a:tcPr marL="73152" marR="73152" marT="27432" marB="27432">
                    <a:solidFill>
                      <a:srgbClr val="F1F3F6"/>
                    </a:solidFill>
                  </a:tcPr>
                </a:tc>
              </a:tr>
              <a:tr h="384048">
                <a:tc>
                  <a:txBody>
                    <a:bodyPr wrap="square" lIns="0" rIns="0" tIns="0" bIns="0" anchor="ctr">
                      <a:noAutofit/>
                    </a:bodyPr>
                    <a:lstStyle/>
                    <a:p>
                      <a:pPr algn="l" marL="0" indent="0">
                        <a:buNone/>
                      </a:pPr>
                      <a:r>
                        <a:rPr sz="1200" b="0" i="0">
                          <a:solidFill>
                            <a:srgbClr val="1B1F24"/>
                          </a:solidFill>
                          <a:latin typeface="Calibri"/>
                        </a:rPr>
                        <a:t>kernel[grid] alone</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131</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80</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120</a:t>
                      </a:r>
                    </a:p>
                  </a:txBody>
                  <a:tcPr marL="73152" marR="73152" marT="27432" marB="27432">
                    <a:solidFill>
                      <a:srgbClr val="FFFFFF"/>
                    </a:solidFill>
                  </a:tcPr>
                </a:tc>
              </a:tr>
              <a:tr h="384048">
                <a:tc>
                  <a:txBody>
                    <a:bodyPr wrap="square" lIns="0" rIns="0" tIns="0" bIns="0" anchor="ctr">
                      <a:noAutofit/>
                    </a:bodyPr>
                    <a:lstStyle/>
                    <a:p>
                      <a:pPr algn="l" marL="0" indent="0">
                        <a:buNone/>
                      </a:pPr>
                      <a:r>
                        <a:rPr sz="1200" b="0" i="0">
                          <a:solidFill>
                            <a:srgbClr val="1B1F24"/>
                          </a:solidFill>
                          <a:latin typeface="Calibri"/>
                        </a:rPr>
                        <a:t>kernel[grid](...) over run(...)</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420</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240</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322</a:t>
                      </a:r>
                    </a:p>
                  </a:txBody>
                  <a:tcPr marL="73152" marR="73152" marT="27432" marB="27432">
                    <a:solidFill>
                      <a:srgbClr val="F1F3F6"/>
                    </a:solidFill>
                  </a:tcPr>
                </a:tc>
              </a:tr>
            </a:tbl>
          </a:graphicData>
        </a:graphic>
      </p:graphicFrame>
      <p:sp>
        <p:nvSpPr>
          <p:cNvPr id="20" name="TextBox 19"/>
          <p:cNvSpPr txBox="1"/>
          <p:nvPr/>
        </p:nvSpPr>
        <p:spPr>
          <a:xfrm>
            <a:off x="6163055" y="5623560"/>
            <a:ext cx="5443423" cy="594360"/>
          </a:xfrm>
          <a:prstGeom prst="rect">
            <a:avLst/>
          </a:prstGeom>
          <a:noFill/>
        </p:spPr>
        <p:txBody>
          <a:bodyPr wrap="square" lIns="0" rIns="0" tIns="0" bIns="0" anchor="t">
            <a:noAutofit/>
          </a:bodyPr>
          <a:lstStyle/>
          <a:p>
            <a:pPr algn="l" marL="0" indent="0">
              <a:buNone/>
            </a:pPr>
            <a:r>
              <a:rPr sz="1100" b="0" i="0">
                <a:solidFill>
                  <a:srgbClr val="7A7F87"/>
                </a:solidFill>
                <a:latin typeface="Calibri"/>
              </a:rPr>
              <a:t>kernel[grid] builds that lambda on every launch; calling it packs *args and **kwargs, then unpacks them into run(). intj's grid_cpp is the extra over passing the grid in.</a:t>
            </a:r>
          </a:p>
        </p:txBody>
      </p:sp>
      <p:sp>
        <p:nvSpPr>
          <p:cNvPr id="21" name="TextBox 2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data/incompatible_micro.csv (scripts/bench_incompatible.py, 3 processes per machine), README.md, docs/Usage.md, MIGRATION_GAP.md.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Incompatible ptr_range: 0.9–1.3 µs per tensor in Triton</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15</a:t>
            </a:r>
          </a:p>
        </p:txBody>
      </p:sp>
      <p:sp>
        <p:nvSpPr>
          <p:cNvPr id="4" name="Rectangle 3"/>
          <p:cNvSpPr/>
          <p:nvPr/>
        </p:nvSpPr>
        <p:spPr>
          <a:xfrm>
            <a:off x="585216" y="1371600"/>
            <a:ext cx="5760720" cy="1417320"/>
          </a:xfrm>
          <a:prstGeom prst="rect">
            <a:avLst/>
          </a:prstGeom>
          <a:solidFill>
            <a:srgbClr val="1F2329"/>
          </a:solidFill>
          <a:ln w="12700">
            <a:solidFill>
              <a:srgbClr val="1F2329"/>
            </a:solidFill>
          </a:ln>
        </p:spPr>
        <p:txBody>
          <a:bodyPr rtlCol="0" anchor="ctr"/>
          <a:lstStyle/>
          <a:p>
            <a:pPr algn="ctr"/>
          </a:p>
        </p:txBody>
      </p:sp>
      <p:sp>
        <p:nvSpPr>
          <p:cNvPr id="5" name="TextBox 4"/>
          <p:cNvSpPr txBox="1"/>
          <p:nvPr/>
        </p:nvSpPr>
        <p:spPr>
          <a:xfrm>
            <a:off x="786384" y="1481328"/>
            <a:ext cx="5358383" cy="1197864"/>
          </a:xfrm>
          <a:prstGeom prst="rect">
            <a:avLst/>
          </a:prstGeom>
          <a:noFill/>
        </p:spPr>
        <p:txBody>
          <a:bodyPr wrap="square" lIns="0" rIns="0" tIns="0" bIns="0" anchor="ctr">
            <a:noAutofit/>
          </a:bodyPr>
          <a:lstStyle/>
          <a:p>
            <a:pPr algn="l" marL="0" indent="0">
              <a:buNone/>
            </a:pPr>
            <a:r>
              <a:rPr sz="1100" b="0" i="0">
                <a:solidFill>
                  <a:srgbClr val="E3E6EA"/>
                </a:solidFill>
                <a:latin typeface="Courier New"/>
              </a:rPr>
              <a:t># Triton, per tensor argument, per launch (HIPBackend)</a:t>
            </a:r>
          </a:p>
          <a:p>
            <a:pPr algn="l" marL="0" indent="0">
              <a:buNone/>
            </a:pPr>
            <a:r>
              <a:rPr sz="1100" b="0" i="0">
                <a:solidFill>
                  <a:srgbClr val="E3E6EA"/>
                </a:solidFill>
                <a:latin typeface="Courier New"/>
              </a:rPr>
              <a:t>if hasattr(arg, "ptr_range"):  # duck-typed objects</a:t>
            </a:r>
          </a:p>
          <a:p>
            <a:pPr algn="l" marL="0" indent="0">
              <a:buNone/>
            </a:pPr>
            <a:r>
              <a:rPr sz="1100" b="0" i="0">
                <a:solidFill>
                  <a:srgbClr val="E3E6EA"/>
                </a:solidFill>
                <a:latin typeface="Courier New"/>
              </a:rPr>
              <a:t>    return arg.ptr_range() &lt;= 2**31-1</a:t>
            </a:r>
          </a:p>
          <a:p>
            <a:pPr algn="l" marL="0" indent="0">
              <a:buNone/>
            </a:pPr>
            <a:r>
              <a:rPr sz="1100" b="0" i="0">
                <a:solidFill>
                  <a:srgbClr val="E3E6EA"/>
                </a:solidFill>
                <a:latin typeface="Courier New"/>
              </a:rPr>
              <a:t>if isinstance(arg, torch.Tensor):</a:t>
            </a:r>
          </a:p>
          <a:p>
            <a:pPr algn="l" marL="0" indent="0">
              <a:buNone/>
            </a:pPr>
            <a:r>
              <a:rPr sz="1100" b="0" i="0">
                <a:solidFill>
                  <a:srgbClr val="E3E6EA"/>
                </a:solidFill>
                <a:latin typeface="Courier New"/>
              </a:rPr>
              <a:t>    return arg.untyped_storage().size() &lt;= 2**31-1</a:t>
            </a:r>
          </a:p>
        </p:txBody>
      </p:sp>
      <p:sp>
        <p:nvSpPr>
          <p:cNvPr id="6" name="Rectangle 5"/>
          <p:cNvSpPr/>
          <p:nvPr/>
        </p:nvSpPr>
        <p:spPr>
          <a:xfrm>
            <a:off x="585216" y="2971800"/>
            <a:ext cx="5760720" cy="868680"/>
          </a:xfrm>
          <a:prstGeom prst="rect">
            <a:avLst/>
          </a:prstGeom>
          <a:solidFill>
            <a:srgbClr val="F1F3F6"/>
          </a:solidFill>
          <a:ln>
            <a:noFill/>
          </a:ln>
        </p:spPr>
        <p:txBody>
          <a:bodyPr rtlCol="0" anchor="ctr"/>
          <a:lstStyle/>
          <a:p>
            <a:pPr algn="ctr"/>
          </a:p>
        </p:txBody>
      </p:sp>
      <p:sp>
        <p:nvSpPr>
          <p:cNvPr id="7" name="TextBox 6"/>
          <p:cNvSpPr txBox="1"/>
          <p:nvPr/>
        </p:nvSpPr>
        <p:spPr>
          <a:xfrm>
            <a:off x="768096" y="2971800"/>
            <a:ext cx="5394960" cy="868680"/>
          </a:xfrm>
          <a:prstGeom prst="rect">
            <a:avLst/>
          </a:prstGeom>
          <a:noFill/>
        </p:spPr>
        <p:txBody>
          <a:bodyPr wrap="square" lIns="0" rIns="0" tIns="0" bIns="0" anchor="ctr">
            <a:noAutofit/>
          </a:bodyPr>
          <a:lstStyle/>
          <a:p>
            <a:pPr algn="l" marL="0" indent="0">
              <a:buNone/>
            </a:pPr>
            <a:r>
              <a:rPr sz="1300" b="1" i="0">
                <a:solidFill>
                  <a:srgbClr val="EB6834"/>
                </a:solidFill>
                <a:latin typeface="Calibri"/>
              </a:rPr>
              <a:t>intj: </a:t>
            </a:r>
            <a:r>
              <a:rPr sz="1300" b="0" i="0">
                <a:solidFill>
                  <a:srgbClr val="1B1F24"/>
                </a:solidFill>
                <a:latin typeface="Calibri"/>
              </a:rPr>
              <a:t>the storage size is read through PyTorch's C++ structures, in C, as part of intj args -&gt; spec-key.</a:t>
            </a:r>
          </a:p>
        </p:txBody>
      </p:sp>
      <p:sp>
        <p:nvSpPr>
          <p:cNvPr id="8" name="Rectangle 7"/>
          <p:cNvSpPr/>
          <p:nvPr/>
        </p:nvSpPr>
        <p:spPr>
          <a:xfrm>
            <a:off x="585216" y="4023360"/>
            <a:ext cx="2743200" cy="2194560"/>
          </a:xfrm>
          <a:prstGeom prst="rect">
            <a:avLst/>
          </a:prstGeom>
          <a:solidFill>
            <a:srgbClr val="F1F3F6"/>
          </a:solidFill>
          <a:ln>
            <a:noFill/>
          </a:ln>
        </p:spPr>
        <p:txBody>
          <a:bodyPr rtlCol="0" anchor="ctr"/>
          <a:lstStyle/>
          <a:p>
            <a:pPr algn="ctr"/>
          </a:p>
        </p:txBody>
      </p:sp>
      <p:sp>
        <p:nvSpPr>
          <p:cNvPr id="9" name="TextBox 8"/>
          <p:cNvSpPr txBox="1"/>
          <p:nvPr/>
        </p:nvSpPr>
        <p:spPr>
          <a:xfrm>
            <a:off x="768096" y="4133088"/>
            <a:ext cx="2377440" cy="1097280"/>
          </a:xfrm>
          <a:prstGeom prst="rect">
            <a:avLst/>
          </a:prstGeom>
          <a:noFill/>
        </p:spPr>
        <p:txBody>
          <a:bodyPr wrap="square" lIns="0" rIns="0" tIns="0" bIns="0" anchor="ctr">
            <a:noAutofit/>
          </a:bodyPr>
          <a:lstStyle/>
          <a:p>
            <a:pPr algn="l" marL="0" indent="0">
              <a:buNone/>
            </a:pPr>
            <a:r>
              <a:rPr sz="2600" b="1" i="0">
                <a:solidFill>
                  <a:srgbClr val="2A78D6"/>
                </a:solidFill>
                <a:latin typeface="Calibri"/>
              </a:rPr>
              <a:t>1.94 µs</a:t>
            </a:r>
          </a:p>
        </p:txBody>
      </p:sp>
      <p:sp>
        <p:nvSpPr>
          <p:cNvPr id="10" name="TextBox 9"/>
          <p:cNvSpPr txBox="1"/>
          <p:nvPr/>
        </p:nvSpPr>
        <p:spPr>
          <a:xfrm>
            <a:off x="768096" y="5230368"/>
            <a:ext cx="2377440" cy="914400"/>
          </a:xfrm>
          <a:prstGeom prst="rect">
            <a:avLst/>
          </a:prstGeom>
          <a:noFill/>
        </p:spPr>
        <p:txBody>
          <a:bodyPr wrap="square" lIns="0" rIns="0" tIns="0" bIns="0" anchor="t">
            <a:noAutofit/>
          </a:bodyPr>
          <a:lstStyle/>
          <a:p>
            <a:pPr algn="l" marL="0" indent="0">
              <a:buNone/>
            </a:pPr>
            <a:r>
              <a:rPr sz="1200" b="0" i="0">
                <a:solidFill>
                  <a:srgbClr val="4A4F57"/>
                </a:solidFill>
                <a:latin typeface="Calibri"/>
              </a:rPr>
              <a:t>Triton host time per tensor argument, MI308X (1.31 MI350X; 0.37 RTX 4080 SUPER, which has no S bit)</a:t>
            </a:r>
          </a:p>
        </p:txBody>
      </p:sp>
      <p:sp>
        <p:nvSpPr>
          <p:cNvPr id="11" name="Rectangle 10"/>
          <p:cNvSpPr/>
          <p:nvPr/>
        </p:nvSpPr>
        <p:spPr>
          <a:xfrm>
            <a:off x="3602736" y="4023360"/>
            <a:ext cx="2743200" cy="2194560"/>
          </a:xfrm>
          <a:prstGeom prst="rect">
            <a:avLst/>
          </a:prstGeom>
          <a:solidFill>
            <a:srgbClr val="F1F3F6"/>
          </a:solidFill>
          <a:ln>
            <a:noFill/>
          </a:ln>
        </p:spPr>
        <p:txBody>
          <a:bodyPr rtlCol="0" anchor="ctr"/>
          <a:lstStyle/>
          <a:p>
            <a:pPr algn="ctr"/>
          </a:p>
        </p:txBody>
      </p:sp>
      <p:sp>
        <p:nvSpPr>
          <p:cNvPr id="12" name="TextBox 11"/>
          <p:cNvSpPr txBox="1"/>
          <p:nvPr/>
        </p:nvSpPr>
        <p:spPr>
          <a:xfrm>
            <a:off x="3785615" y="4133088"/>
            <a:ext cx="2377440" cy="1097280"/>
          </a:xfrm>
          <a:prstGeom prst="rect">
            <a:avLst/>
          </a:prstGeom>
          <a:noFill/>
        </p:spPr>
        <p:txBody>
          <a:bodyPr wrap="square" lIns="0" rIns="0" tIns="0" bIns="0" anchor="ctr">
            <a:noAutofit/>
          </a:bodyPr>
          <a:lstStyle/>
          <a:p>
            <a:pPr algn="l" marL="0" indent="0">
              <a:buNone/>
            </a:pPr>
            <a:r>
              <a:rPr sz="2600" b="1" i="0">
                <a:solidFill>
                  <a:srgbClr val="EB6834"/>
                </a:solidFill>
                <a:latin typeface="Calibri"/>
              </a:rPr>
              <a:t>4.3 ns</a:t>
            </a:r>
          </a:p>
        </p:txBody>
      </p:sp>
      <p:sp>
        <p:nvSpPr>
          <p:cNvPr id="13" name="TextBox 12"/>
          <p:cNvSpPr txBox="1"/>
          <p:nvPr/>
        </p:nvSpPr>
        <p:spPr>
          <a:xfrm>
            <a:off x="3785615" y="5230368"/>
            <a:ext cx="2377440" cy="914400"/>
          </a:xfrm>
          <a:prstGeom prst="rect">
            <a:avLst/>
          </a:prstGeom>
          <a:noFill/>
        </p:spPr>
        <p:txBody>
          <a:bodyPr wrap="square" lIns="0" rIns="0" tIns="0" bIns="0" anchor="t">
            <a:noAutofit/>
          </a:bodyPr>
          <a:lstStyle/>
          <a:p>
            <a:pPr algn="l" marL="0" indent="0">
              <a:buNone/>
            </a:pPr>
            <a:r>
              <a:rPr sz="1200" b="0" i="0">
                <a:solidFill>
                  <a:srgbClr val="4A4F57"/>
                </a:solidFill>
                <a:latin typeface="Calibri"/>
              </a:rPr>
              <a:t>intj host time per tensor argument, MI308X (1.8 MI350X, 1.6 RTX 4080 SUPER), range included</a:t>
            </a:r>
          </a:p>
        </p:txBody>
      </p:sp>
      <p:sp>
        <p:nvSpPr>
          <p:cNvPr id="14" name="TextBox 13"/>
          <p:cNvSpPr txBox="1"/>
          <p:nvPr/>
        </p:nvSpPr>
        <p:spPr>
          <a:xfrm>
            <a:off x="6665975" y="1371600"/>
            <a:ext cx="4940503" cy="274320"/>
          </a:xfrm>
          <a:prstGeom prst="rect">
            <a:avLst/>
          </a:prstGeom>
          <a:noFill/>
        </p:spPr>
        <p:txBody>
          <a:bodyPr wrap="square" lIns="0" rIns="0" tIns="0" bIns="0" anchor="t">
            <a:noAutofit/>
          </a:bodyPr>
          <a:lstStyle/>
          <a:p>
            <a:pPr algn="l" marL="0" indent="0">
              <a:buNone/>
            </a:pPr>
            <a:r>
              <a:rPr sz="1400" b="1" i="0">
                <a:solidFill>
                  <a:srgbClr val="1B1F24"/>
                </a:solidFill>
                <a:latin typeface="Calibri"/>
              </a:rPr>
              <a:t>Triton's per-tensor check, MI308X, ns per call</a:t>
            </a:r>
          </a:p>
        </p:txBody>
      </p:sp>
      <p:graphicFrame>
        <p:nvGraphicFramePr>
          <p:cNvPr id="15" name="Chart 14"/>
          <p:cNvGraphicFramePr>
            <a:graphicFrameLocks noGrp="1"/>
          </p:cNvGraphicFramePr>
          <p:nvPr/>
        </p:nvGraphicFramePr>
        <p:xfrm>
          <a:off x="6574536" y="1691640"/>
          <a:ext cx="5031943" cy="3566160"/>
        </p:xfrm>
        <a:graphic>
          <a:graphicData uri="http://schemas.openxmlformats.org/drawingml/2006/chart">
            <c:chart xmlns:c="http://schemas.openxmlformats.org/drawingml/2006/chart" r:id="rId3"/>
          </a:graphicData>
        </a:graphic>
      </p:graphicFrame>
      <p:sp>
        <p:nvSpPr>
          <p:cNvPr id="16" name="TextBox 15"/>
          <p:cNvSpPr txBox="1"/>
          <p:nvPr/>
        </p:nvSpPr>
        <p:spPr>
          <a:xfrm>
            <a:off x="6665975" y="5349240"/>
            <a:ext cx="4940503" cy="868680"/>
          </a:xfrm>
          <a:prstGeom prst="rect">
            <a:avLst/>
          </a:prstGeom>
          <a:noFill/>
        </p:spPr>
        <p:txBody>
          <a:bodyPr wrap="square" lIns="0" rIns="0" tIns="0" bIns="0" anchor="t">
            <a:noAutofit/>
          </a:bodyPr>
          <a:lstStyle/>
          <a:p>
            <a:pPr algn="l" marL="0" indent="0">
              <a:buNone/>
            </a:pPr>
            <a:r>
              <a:rPr sz="1100" b="0" i="0">
                <a:solidFill>
                  <a:srgbClr val="7A7F87"/>
                </a:solidFill>
                <a:latin typeface="Calibri"/>
              </a:rPr>
              <a:t>MI350X: 857 / 260 / 73 / 43 / 14 ns. The rest of is_within_2gb is isinstance, a second hasattr and the call itself.</a:t>
            </a:r>
          </a:p>
        </p:txBody>
      </p:sp>
      <p:sp>
        <p:nvSpPr>
          <p:cNvPr id="17" name="TextBox 16"/>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data/incompatible_micro.csv (scripts/bench_incompatible.py), data/sweep_args_wide.csv (per-tensor slopes), triton/backends/amd/compiler.py (Triton 3.8.0).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Lazy building: make_launcher records; the first call builds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16</a:t>
            </a:r>
          </a:p>
        </p:txBody>
      </p:sp>
      <p:cxnSp>
        <p:nvCxnSpPr>
          <p:cNvPr id="4" name="Connector 3"/>
          <p:cNvCxnSpPr/>
          <p:nvPr/>
        </p:nvCxnSpPr>
        <p:spPr>
          <a:xfrm>
            <a:off x="777240" y="1600200"/>
            <a:ext cx="0" cy="2057400"/>
          </a:xfrm>
          <a:prstGeom prst="line">
            <a:avLst/>
          </a:prstGeom>
          <a:ln w="25400">
            <a:solidFill>
              <a:srgbClr val="E1E5E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85216" y="1371600"/>
            <a:ext cx="384048" cy="384048"/>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1</a:t>
            </a:r>
          </a:p>
        </p:txBody>
      </p:sp>
      <p:sp>
        <p:nvSpPr>
          <p:cNvPr id="6" name="TextBox 5"/>
          <p:cNvSpPr txBox="1"/>
          <p:nvPr/>
        </p:nvSpPr>
        <p:spPr>
          <a:xfrm>
            <a:off x="1179576" y="1353312"/>
            <a:ext cx="4983479" cy="274320"/>
          </a:xfrm>
          <a:prstGeom prst="rect">
            <a:avLst/>
          </a:prstGeom>
          <a:noFill/>
        </p:spPr>
        <p:txBody>
          <a:bodyPr wrap="square" lIns="0" rIns="0" tIns="0" bIns="0" anchor="t">
            <a:noAutofit/>
          </a:bodyPr>
          <a:lstStyle/>
          <a:p>
            <a:pPr algn="l" marL="0" indent="0">
              <a:buNone/>
            </a:pPr>
            <a:r>
              <a:rPr sz="1300" b="1" i="0">
                <a:solidFill>
                  <a:srgbClr val="1B1F24"/>
                </a:solidFill>
                <a:latin typeface="Courier New"/>
              </a:rPr>
              <a:t>@make_launcher</a:t>
            </a:r>
          </a:p>
        </p:txBody>
      </p:sp>
      <p:sp>
        <p:nvSpPr>
          <p:cNvPr id="7" name="TextBox 6"/>
          <p:cNvSpPr txBox="1"/>
          <p:nvPr/>
        </p:nvSpPr>
        <p:spPr>
          <a:xfrm>
            <a:off x="1179576" y="1645920"/>
            <a:ext cx="4983479" cy="411480"/>
          </a:xfrm>
          <a:prstGeom prst="rect">
            <a:avLst/>
          </a:prstGeom>
          <a:noFill/>
        </p:spPr>
        <p:txBody>
          <a:bodyPr wrap="square" lIns="0" rIns="0" tIns="0" bIns="0" anchor="t">
            <a:noAutofit/>
          </a:bodyPr>
          <a:lstStyle/>
          <a:p>
            <a:pPr algn="l" marL="0" indent="0">
              <a:buNone/>
            </a:pPr>
            <a:r>
              <a:rPr sz="1100" b="0" i="0">
                <a:solidFill>
                  <a:srgbClr val="4A4F57"/>
                </a:solidFill>
                <a:latin typeface="Calibri"/>
              </a:rPr>
              <a:t>Records the kernel and options: no GPU, no torch import.</a:t>
            </a:r>
          </a:p>
        </p:txBody>
      </p:sp>
      <p:sp>
        <p:nvSpPr>
          <p:cNvPr id="8" name="Oval 7"/>
          <p:cNvSpPr/>
          <p:nvPr/>
        </p:nvSpPr>
        <p:spPr>
          <a:xfrm>
            <a:off x="585216" y="2103120"/>
            <a:ext cx="384048" cy="384048"/>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2</a:t>
            </a:r>
          </a:p>
        </p:txBody>
      </p:sp>
      <p:sp>
        <p:nvSpPr>
          <p:cNvPr id="9" name="TextBox 8"/>
          <p:cNvSpPr txBox="1"/>
          <p:nvPr/>
        </p:nvSpPr>
        <p:spPr>
          <a:xfrm>
            <a:off x="1179576" y="2084831"/>
            <a:ext cx="4983479" cy="274320"/>
          </a:xfrm>
          <a:prstGeom prst="rect">
            <a:avLst/>
          </a:prstGeom>
          <a:noFill/>
        </p:spPr>
        <p:txBody>
          <a:bodyPr wrap="square" lIns="0" rIns="0" tIns="0" bIns="0" anchor="t">
            <a:noAutofit/>
          </a:bodyPr>
          <a:lstStyle/>
          <a:p>
            <a:pPr algn="l" marL="0" indent="0">
              <a:buNone/>
            </a:pPr>
            <a:r>
              <a:rPr sz="1300" b="1" i="0">
                <a:solidFill>
                  <a:srgbClr val="1B1F24"/>
                </a:solidFill>
                <a:latin typeface="Courier New"/>
              </a:rPr>
              <a:t>launcher.__self__.check()</a:t>
            </a:r>
          </a:p>
        </p:txBody>
      </p:sp>
      <p:sp>
        <p:nvSpPr>
          <p:cNvPr id="10" name="TextBox 9"/>
          <p:cNvSpPr txBox="1"/>
          <p:nvPr/>
        </p:nvSpPr>
        <p:spPr>
          <a:xfrm>
            <a:off x="1179576" y="2377439"/>
            <a:ext cx="4983479" cy="411480"/>
          </a:xfrm>
          <a:prstGeom prst="rect">
            <a:avLst/>
          </a:prstGeom>
          <a:noFill/>
        </p:spPr>
        <p:txBody>
          <a:bodyPr wrap="square" lIns="0" rIns="0" tIns="0" bIns="0" anchor="t">
            <a:noAutofit/>
          </a:bodyPr>
          <a:lstStyle/>
          <a:p>
            <a:pPr algn="l" marL="0" indent="0">
              <a:buNone/>
            </a:pPr>
            <a:r>
              <a:rPr sz="1100" b="0" i="0">
                <a:solidFill>
                  <a:srgbClr val="4A4F57"/>
                </a:solidFill>
                <a:latin typeface="Calibri"/>
              </a:rPr>
              <a:t>Optional: runs delayed= and every GPU-free refusal now.</a:t>
            </a:r>
          </a:p>
        </p:txBody>
      </p:sp>
      <p:sp>
        <p:nvSpPr>
          <p:cNvPr id="11" name="Oval 10"/>
          <p:cNvSpPr/>
          <p:nvPr/>
        </p:nvSpPr>
        <p:spPr>
          <a:xfrm>
            <a:off x="585216" y="2834640"/>
            <a:ext cx="384048" cy="384048"/>
          </a:xfrm>
          <a:prstGeom prst="ellipse">
            <a:avLst/>
          </a:prstGeom>
          <a:solidFill>
            <a:srgbClr val="6B7079"/>
          </a:solidFill>
          <a:ln>
            <a:noFill/>
          </a:ln>
        </p:spPr>
        <p:txBody>
          <a:bodyPr rtlCol="0" anchor="ctr" wrap="square" lIns="0" rIns="0" tIns="0" bIns="0">
            <a:noAutofit/>
          </a:bodyPr>
          <a:lstStyle/>
          <a:p>
            <a:pPr algn="ctr" marL="0" indent="0">
              <a:buNone/>
            </a:pPr>
            <a:r>
              <a:rPr sz="1400" b="1" i="0">
                <a:solidFill>
                  <a:srgbClr val="FFFFFF"/>
                </a:solidFill>
                <a:latin typeface="Calibri"/>
              </a:rPr>
              <a:t>3</a:t>
            </a:r>
          </a:p>
        </p:txBody>
      </p:sp>
      <p:sp>
        <p:nvSpPr>
          <p:cNvPr id="12" name="TextBox 11"/>
          <p:cNvSpPr txBox="1"/>
          <p:nvPr/>
        </p:nvSpPr>
        <p:spPr>
          <a:xfrm>
            <a:off x="1179576" y="2816352"/>
            <a:ext cx="4983479"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First call</a:t>
            </a:r>
          </a:p>
        </p:txBody>
      </p:sp>
      <p:sp>
        <p:nvSpPr>
          <p:cNvPr id="13" name="TextBox 12"/>
          <p:cNvSpPr txBox="1"/>
          <p:nvPr/>
        </p:nvSpPr>
        <p:spPr>
          <a:xfrm>
            <a:off x="1179576" y="3108960"/>
            <a:ext cx="4983479" cy="411480"/>
          </a:xfrm>
          <a:prstGeom prst="rect">
            <a:avLst/>
          </a:prstGeom>
          <a:noFill/>
        </p:spPr>
        <p:txBody>
          <a:bodyPr wrap="square" lIns="0" rIns="0" tIns="0" bIns="0" anchor="t">
            <a:noAutofit/>
          </a:bodyPr>
          <a:lstStyle/>
          <a:p>
            <a:pPr algn="l" marL="0" indent="0">
              <a:buNone/>
            </a:pPr>
            <a:r>
              <a:rPr sz="1100" b="0" i="0">
                <a:solidFill>
                  <a:srgbClr val="4A4F57"/>
                </a:solidFill>
                <a:latin typeface="Calibri"/>
              </a:rPr>
              <a:t>delayed= (if check() did not), render, compile, load, swap ml_meth: 0.6–1.9 s cold, 8.5 ms with the .so on disk.</a:t>
            </a:r>
          </a:p>
        </p:txBody>
      </p:sp>
      <p:sp>
        <p:nvSpPr>
          <p:cNvPr id="14" name="Oval 13"/>
          <p:cNvSpPr/>
          <p:nvPr/>
        </p:nvSpPr>
        <p:spPr>
          <a:xfrm>
            <a:off x="585216" y="3566160"/>
            <a:ext cx="384048" cy="384048"/>
          </a:xfrm>
          <a:prstGeom prst="ellipse">
            <a:avLst/>
          </a:prstGeom>
          <a:solidFill>
            <a:srgbClr val="EB6834"/>
          </a:solidFill>
          <a:ln>
            <a:noFill/>
          </a:ln>
        </p:spPr>
        <p:txBody>
          <a:bodyPr rtlCol="0" anchor="ctr" wrap="square" lIns="0" rIns="0" tIns="0" bIns="0">
            <a:noAutofit/>
          </a:bodyPr>
          <a:lstStyle/>
          <a:p>
            <a:pPr algn="ctr" marL="0" indent="0">
              <a:buNone/>
            </a:pPr>
            <a:r>
              <a:rPr sz="1400" b="1" i="0">
                <a:solidFill>
                  <a:srgbClr val="1B1F24"/>
                </a:solidFill>
                <a:latin typeface="Calibri"/>
              </a:rPr>
              <a:t>4</a:t>
            </a:r>
          </a:p>
        </p:txBody>
      </p:sp>
      <p:sp>
        <p:nvSpPr>
          <p:cNvPr id="15" name="TextBox 14"/>
          <p:cNvSpPr txBox="1"/>
          <p:nvPr/>
        </p:nvSpPr>
        <p:spPr>
          <a:xfrm>
            <a:off x="1179576" y="3547872"/>
            <a:ext cx="4983479"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Every later call</a:t>
            </a:r>
          </a:p>
        </p:txBody>
      </p:sp>
      <p:sp>
        <p:nvSpPr>
          <p:cNvPr id="16" name="TextBox 15"/>
          <p:cNvSpPr txBox="1"/>
          <p:nvPr/>
        </p:nvSpPr>
        <p:spPr>
          <a:xfrm>
            <a:off x="1179576" y="3840480"/>
            <a:ext cx="4983479" cy="411480"/>
          </a:xfrm>
          <a:prstGeom prst="rect">
            <a:avLst/>
          </a:prstGeom>
          <a:noFill/>
        </p:spPr>
        <p:txBody>
          <a:bodyPr wrap="square" lIns="0" rIns="0" tIns="0" bIns="0" anchor="t">
            <a:noAutofit/>
          </a:bodyPr>
          <a:lstStyle/>
          <a:p>
            <a:pPr algn="l" marL="0" indent="0">
              <a:buNone/>
            </a:pPr>
            <a:r>
              <a:rPr sz="1100" b="0" i="0">
                <a:solidFill>
                  <a:srgbClr val="4A4F57"/>
                </a:solidFill>
                <a:latin typeface="Calibri"/>
              </a:rPr>
              <a:t>The native entry, even through references taken before the build.</a:t>
            </a:r>
          </a:p>
        </p:txBody>
      </p:sp>
      <p:sp>
        <p:nvSpPr>
          <p:cNvPr id="17" name="TextBox 16"/>
          <p:cNvSpPr txBox="1"/>
          <p:nvPr/>
        </p:nvSpPr>
        <p:spPr>
          <a:xfrm>
            <a:off x="585216" y="4315968"/>
            <a:ext cx="5577840" cy="274320"/>
          </a:xfrm>
          <a:prstGeom prst="rect">
            <a:avLst/>
          </a:prstGeom>
          <a:noFill/>
        </p:spPr>
        <p:txBody>
          <a:bodyPr wrap="square" lIns="0" rIns="0" tIns="0" bIns="0" anchor="t">
            <a:noAutofit/>
          </a:bodyPr>
          <a:lstStyle/>
          <a:p>
            <a:pPr algn="l" marL="0" indent="0">
              <a:buNone/>
            </a:pPr>
            <a:r>
              <a:rPr sz="1200" b="1" i="0">
                <a:solidFill>
                  <a:srgbClr val="1B1F24"/>
                </a:solidFill>
                <a:latin typeface="Calibri"/>
              </a:rPr>
              <a:t>AITER: an option that needs the GPU goes in delayed=</a:t>
            </a:r>
          </a:p>
        </p:txBody>
      </p:sp>
      <p:sp>
        <p:nvSpPr>
          <p:cNvPr id="18" name="TextBox 17"/>
          <p:cNvSpPr txBox="1"/>
          <p:nvPr/>
        </p:nvSpPr>
        <p:spPr>
          <a:xfrm>
            <a:off x="585216" y="4572000"/>
            <a:ext cx="5577840" cy="228600"/>
          </a:xfrm>
          <a:prstGeom prst="rect">
            <a:avLst/>
          </a:prstGeom>
          <a:noFill/>
        </p:spPr>
        <p:txBody>
          <a:bodyPr wrap="square" lIns="0" rIns="0" tIns="0" bIns="0" anchor="t">
            <a:noAutofit/>
          </a:bodyPr>
          <a:lstStyle/>
          <a:p>
            <a:pPr algn="l" marL="0" indent="0">
              <a:buNone/>
            </a:pPr>
            <a:r>
              <a:rPr sz="1000" b="0" i="0">
                <a:solidFill>
                  <a:srgbClr val="7A7F87"/>
                </a:solidFill>
                <a:latin typeface="Courier New"/>
              </a:rPr>
              <a:t>_triton_kernels/attention/chunked_pa_prefill.py</a:t>
            </a:r>
          </a:p>
        </p:txBody>
      </p:sp>
      <p:sp>
        <p:nvSpPr>
          <p:cNvPr id="19" name="Rectangle 18"/>
          <p:cNvSpPr/>
          <p:nvPr/>
        </p:nvSpPr>
        <p:spPr>
          <a:xfrm>
            <a:off x="585216" y="4828032"/>
            <a:ext cx="5577840" cy="1435608"/>
          </a:xfrm>
          <a:prstGeom prst="rect">
            <a:avLst/>
          </a:prstGeom>
          <a:solidFill>
            <a:srgbClr val="1F2329"/>
          </a:solidFill>
          <a:ln w="12700">
            <a:solidFill>
              <a:srgbClr val="1F2329"/>
            </a:solidFill>
          </a:ln>
        </p:spPr>
        <p:txBody>
          <a:bodyPr rtlCol="0" anchor="ctr"/>
          <a:lstStyle/>
          <a:p>
            <a:pPr algn="ctr"/>
          </a:p>
        </p:txBody>
      </p:sp>
      <p:sp>
        <p:nvSpPr>
          <p:cNvPr id="20" name="TextBox 19"/>
          <p:cNvSpPr txBox="1"/>
          <p:nvPr/>
        </p:nvSpPr>
        <p:spPr>
          <a:xfrm>
            <a:off x="786384" y="4937760"/>
            <a:ext cx="5175503" cy="1216152"/>
          </a:xfrm>
          <a:prstGeom prst="rect">
            <a:avLst/>
          </a:prstGeom>
          <a:noFill/>
        </p:spPr>
        <p:txBody>
          <a:bodyPr wrap="square" lIns="0" rIns="0" tIns="0" bIns="0" anchor="ctr">
            <a:noAutofit/>
          </a:bodyPr>
          <a:lstStyle/>
          <a:p>
            <a:pPr algn="l" marL="0" indent="0">
              <a:buNone/>
            </a:pPr>
            <a:r>
              <a:rPr sz="1000" b="0" i="0">
                <a:solidFill>
                  <a:srgbClr val="E3E6EA"/>
                </a:solidFill>
                <a:latin typeface="Courier New"/>
              </a:rPr>
              <a:t>def _decode_launch_keywords():  # runs on the first call</a:t>
            </a:r>
          </a:p>
          <a:p>
            <a:pPr algn="l" marL="0" indent="0">
              <a:buNone/>
            </a:pPr>
            <a:r>
              <a:rPr sz="1000" b="0" i="0">
                <a:solidFill>
                  <a:srgbClr val="E3E6EA"/>
                </a:solidFill>
                <a:latin typeface="Courier New"/>
              </a:rPr>
              <a:t>    from aiter.ops.triton.utils._triton import arch_info</a:t>
            </a:r>
          </a:p>
          <a:p>
            <a:pPr algn="l" marL="0" indent="0">
              <a:buNone/>
            </a:pPr>
            <a:r>
              <a:rPr sz="1000" b="0" i="0">
                <a:solidFill>
                  <a:srgbClr val="E3E6EA"/>
                </a:solidFill>
                <a:latin typeface="Courier New"/>
              </a:rPr>
              <a:t>    if arch_info.get_arch() == "gfx950":  # queries the GPU</a:t>
            </a:r>
          </a:p>
          <a:p>
            <a:pPr algn="l" marL="0" indent="0">
              <a:buNone/>
            </a:pPr>
            <a:r>
              <a:rPr sz="1000" b="0" i="0">
                <a:solidFill>
                  <a:srgbClr val="E3E6EA"/>
                </a:solidFill>
                <a:latin typeface="Courier New"/>
              </a:rPr>
              <a:t>        return {"options": {"num_warps": 1, "waves_per_eu": 2, ...}}</a:t>
            </a:r>
          </a:p>
          <a:p>
            <a:pPr algn="l" marL="0" indent="0">
              <a:buNone/>
            </a:pPr>
            <a:r>
              <a:rPr sz="1000" b="0" i="0">
                <a:solidFill>
                  <a:srgbClr val="E3E6EA"/>
                </a:solidFill>
                <a:latin typeface="Courier New"/>
              </a:rPr>
              <a:t>    return {}</a:t>
            </a:r>
          </a:p>
          <a:p>
            <a:pPr algn="l" marL="0" indent="0">
              <a:buNone/>
            </a:pPr>
            <a:r>
              <a:rPr sz="1000" b="0" i="0">
                <a:solidFill>
                  <a:srgbClr val="E3E6EA"/>
                </a:solidFill>
                <a:latin typeface="Courier New"/>
              </a:rPr>
              <a:t/>
            </a:r>
          </a:p>
          <a:p>
            <a:pPr algn="l" marL="0" indent="0">
              <a:buNone/>
            </a:pPr>
            <a:r>
              <a:rPr sz="1000" b="0" i="0">
                <a:solidFill>
                  <a:srgbClr val="E3E6EA"/>
                </a:solidFill>
                <a:latin typeface="Courier New"/>
              </a:rPr>
              <a:t>@make_launcher(grid_arg=2, delayed=_decode_launch_keywords)</a:t>
            </a:r>
          </a:p>
        </p:txBody>
      </p:sp>
      <p:sp>
        <p:nvSpPr>
          <p:cNvPr id="21" name="Rectangle 20"/>
          <p:cNvSpPr/>
          <p:nvPr/>
        </p:nvSpPr>
        <p:spPr>
          <a:xfrm>
            <a:off x="6483095" y="1371600"/>
            <a:ext cx="5123383" cy="45720"/>
          </a:xfrm>
          <a:prstGeom prst="rect">
            <a:avLst/>
          </a:prstGeom>
          <a:solidFill>
            <a:srgbClr val="EB6834"/>
          </a:solidFill>
          <a:ln>
            <a:noFill/>
          </a:ln>
        </p:spPr>
        <p:txBody>
          <a:bodyPr rtlCol="0" anchor="ctr"/>
          <a:lstStyle/>
          <a:p>
            <a:pPr algn="ctr"/>
          </a:p>
        </p:txBody>
      </p:sp>
      <p:sp>
        <p:nvSpPr>
          <p:cNvPr id="22" name="Rectangle 21"/>
          <p:cNvSpPr/>
          <p:nvPr/>
        </p:nvSpPr>
        <p:spPr>
          <a:xfrm>
            <a:off x="6483095" y="1417320"/>
            <a:ext cx="5123383" cy="411480"/>
          </a:xfrm>
          <a:prstGeom prst="rect">
            <a:avLst/>
          </a:prstGeom>
          <a:solidFill>
            <a:srgbClr val="E1E5EA"/>
          </a:solidFill>
          <a:ln>
            <a:noFill/>
          </a:ln>
        </p:spPr>
        <p:txBody>
          <a:bodyPr rtlCol="0" anchor="ctr"/>
          <a:lstStyle/>
          <a:p>
            <a:pPr algn="ctr"/>
          </a:p>
        </p:txBody>
      </p:sp>
      <p:sp>
        <p:nvSpPr>
          <p:cNvPr id="23" name="Rectangle 22"/>
          <p:cNvSpPr/>
          <p:nvPr/>
        </p:nvSpPr>
        <p:spPr>
          <a:xfrm>
            <a:off x="6483095" y="1828800"/>
            <a:ext cx="5123383" cy="1783080"/>
          </a:xfrm>
          <a:prstGeom prst="rect">
            <a:avLst/>
          </a:prstGeom>
          <a:solidFill>
            <a:srgbClr val="F1F3F6"/>
          </a:solidFill>
          <a:ln>
            <a:noFill/>
          </a:ln>
        </p:spPr>
        <p:txBody>
          <a:bodyPr rtlCol="0" anchor="ctr"/>
          <a:lstStyle/>
          <a:p>
            <a:pPr algn="ctr"/>
          </a:p>
        </p:txBody>
      </p:sp>
      <p:sp>
        <p:nvSpPr>
          <p:cNvPr id="24" name="TextBox 23"/>
          <p:cNvSpPr txBox="1"/>
          <p:nvPr/>
        </p:nvSpPr>
        <p:spPr>
          <a:xfrm>
            <a:off x="6665975" y="1417320"/>
            <a:ext cx="4757623" cy="411480"/>
          </a:xfrm>
          <a:prstGeom prst="rect">
            <a:avLst/>
          </a:prstGeom>
          <a:noFill/>
        </p:spPr>
        <p:txBody>
          <a:bodyPr wrap="square" lIns="0" rIns="0" tIns="0" bIns="0" anchor="ctr">
            <a:noAutofit/>
          </a:bodyPr>
          <a:lstStyle/>
          <a:p>
            <a:pPr algn="l" marL="0" indent="0">
              <a:buNone/>
            </a:pPr>
            <a:r>
              <a:rPr sz="1500" b="1" i="0">
                <a:solidFill>
                  <a:srgbClr val="1B1F24"/>
                </a:solidFill>
                <a:latin typeface="Calibri"/>
              </a:rPr>
              <a:t>Gain</a:t>
            </a:r>
          </a:p>
        </p:txBody>
      </p:sp>
      <p:sp>
        <p:nvSpPr>
          <p:cNvPr id="25" name="TextBox 24"/>
          <p:cNvSpPr txBox="1"/>
          <p:nvPr/>
        </p:nvSpPr>
        <p:spPr>
          <a:xfrm>
            <a:off x="6684263" y="1938528"/>
            <a:ext cx="4721047" cy="1645920"/>
          </a:xfrm>
          <a:prstGeom prst="rect">
            <a:avLst/>
          </a:prstGeom>
          <a:noFill/>
        </p:spPr>
        <p:txBody>
          <a:bodyPr wrap="square" lIns="0" rIns="0" tIns="0" bIns="0" anchor="t">
            <a:noAutofit/>
          </a:bodyPr>
          <a:lstStyle/>
          <a:p>
            <a:pPr algn="l" marL="201168" indent="-201168">
              <a:spcAft>
                <a:spcPts val="600"/>
              </a:spcAft>
              <a:buClr>
                <a:srgbClr val="7A7F87"/>
              </a:buClr>
              <a:buFont typeface="Arial"/>
              <a:buChar char="•"/>
            </a:pPr>
            <a:r>
              <a:rPr sz="1200" b="0" i="0">
                <a:solidFill>
                  <a:srgbClr val="4A4F57"/>
                </a:solidFill>
                <a:latin typeface="Calibri"/>
              </a:rPr>
              <a:t>import intj loads neither triton nor torch; decorating needs no GPU.</a:t>
            </a:r>
          </a:p>
          <a:p>
            <a:pPr algn="l" marL="201168" indent="-201168">
              <a:spcAft>
                <a:spcPts val="600"/>
              </a:spcAft>
              <a:buClr>
                <a:srgbClr val="7A7F87"/>
              </a:buClr>
              <a:buFont typeface="Arial"/>
              <a:buChar char="•"/>
            </a:pPr>
            <a:r>
              <a:rPr sz="1200" b="0" i="0">
                <a:solidFill>
                  <a:srgbClr val="4A4F57"/>
                </a:solidFill>
                <a:latin typeface="Calibri"/>
              </a:rPr>
              <a:t>Hit path unchanged: 0.4–3.0 ns faster on every untuned row after the change.</a:t>
            </a:r>
          </a:p>
          <a:p>
            <a:pPr algn="l" marL="201168" indent="-201168">
              <a:buClr>
                <a:srgbClr val="7A7F87"/>
              </a:buClr>
              <a:buFont typeface="Arial"/>
              <a:buChar char="•"/>
            </a:pPr>
            <a:r>
              <a:rPr sz="1200" b="0" i="0">
                <a:solidFill>
                  <a:srgbClr val="4A4F57"/>
                </a:solidFill>
                <a:latin typeface="Calibri"/>
              </a:rPr>
              <a:t>Swapping ml_meth beat a custom callable type by 1.4–5 ns per call.</a:t>
            </a:r>
          </a:p>
        </p:txBody>
      </p:sp>
      <p:sp>
        <p:nvSpPr>
          <p:cNvPr id="26" name="Rectangle 25"/>
          <p:cNvSpPr/>
          <p:nvPr/>
        </p:nvSpPr>
        <p:spPr>
          <a:xfrm>
            <a:off x="6483095" y="3794760"/>
            <a:ext cx="5123383" cy="45720"/>
          </a:xfrm>
          <a:prstGeom prst="rect">
            <a:avLst/>
          </a:prstGeom>
          <a:solidFill>
            <a:srgbClr val="7A7F87"/>
          </a:solidFill>
          <a:ln>
            <a:noFill/>
          </a:ln>
        </p:spPr>
        <p:txBody>
          <a:bodyPr rtlCol="0" anchor="ctr"/>
          <a:lstStyle/>
          <a:p>
            <a:pPr algn="ctr"/>
          </a:p>
        </p:txBody>
      </p:sp>
      <p:sp>
        <p:nvSpPr>
          <p:cNvPr id="27" name="Rectangle 26"/>
          <p:cNvSpPr/>
          <p:nvPr/>
        </p:nvSpPr>
        <p:spPr>
          <a:xfrm>
            <a:off x="6483095" y="3840480"/>
            <a:ext cx="5123383" cy="411480"/>
          </a:xfrm>
          <a:prstGeom prst="rect">
            <a:avLst/>
          </a:prstGeom>
          <a:solidFill>
            <a:srgbClr val="E1E5EA"/>
          </a:solidFill>
          <a:ln>
            <a:noFill/>
          </a:ln>
        </p:spPr>
        <p:txBody>
          <a:bodyPr rtlCol="0" anchor="ctr"/>
          <a:lstStyle/>
          <a:p>
            <a:pPr algn="ctr"/>
          </a:p>
        </p:txBody>
      </p:sp>
      <p:sp>
        <p:nvSpPr>
          <p:cNvPr id="28" name="Rectangle 27"/>
          <p:cNvSpPr/>
          <p:nvPr/>
        </p:nvSpPr>
        <p:spPr>
          <a:xfrm>
            <a:off x="6483095" y="4251960"/>
            <a:ext cx="5123383" cy="2011680"/>
          </a:xfrm>
          <a:prstGeom prst="rect">
            <a:avLst/>
          </a:prstGeom>
          <a:solidFill>
            <a:srgbClr val="F1F3F6"/>
          </a:solidFill>
          <a:ln>
            <a:noFill/>
          </a:ln>
        </p:spPr>
        <p:txBody>
          <a:bodyPr rtlCol="0" anchor="ctr"/>
          <a:lstStyle/>
          <a:p>
            <a:pPr algn="ctr"/>
          </a:p>
        </p:txBody>
      </p:sp>
      <p:sp>
        <p:nvSpPr>
          <p:cNvPr id="29" name="TextBox 28"/>
          <p:cNvSpPr txBox="1"/>
          <p:nvPr/>
        </p:nvSpPr>
        <p:spPr>
          <a:xfrm>
            <a:off x="6665975" y="3840480"/>
            <a:ext cx="4757623" cy="411480"/>
          </a:xfrm>
          <a:prstGeom prst="rect">
            <a:avLst/>
          </a:prstGeom>
          <a:noFill/>
        </p:spPr>
        <p:txBody>
          <a:bodyPr wrap="square" lIns="0" rIns="0" tIns="0" bIns="0" anchor="ctr">
            <a:noAutofit/>
          </a:bodyPr>
          <a:lstStyle/>
          <a:p>
            <a:pPr algn="l" marL="0" indent="0">
              <a:buNone/>
            </a:pPr>
            <a:r>
              <a:rPr sz="1500" b="1" i="0">
                <a:solidFill>
                  <a:srgbClr val="1B1F24"/>
                </a:solidFill>
                <a:latin typeface="Calibri"/>
              </a:rPr>
              <a:t>Price</a:t>
            </a:r>
          </a:p>
        </p:txBody>
      </p:sp>
      <p:sp>
        <p:nvSpPr>
          <p:cNvPr id="30" name="TextBox 29"/>
          <p:cNvSpPr txBox="1"/>
          <p:nvPr/>
        </p:nvSpPr>
        <p:spPr>
          <a:xfrm>
            <a:off x="6684263" y="4361688"/>
            <a:ext cx="4721047" cy="1874520"/>
          </a:xfrm>
          <a:prstGeom prst="rect">
            <a:avLst/>
          </a:prstGeom>
          <a:noFill/>
        </p:spPr>
        <p:txBody>
          <a:bodyPr wrap="square" lIns="0" rIns="0" tIns="0" bIns="0" anchor="t">
            <a:noAutofit/>
          </a:bodyPr>
          <a:lstStyle/>
          <a:p>
            <a:pPr algn="l" marL="201168" indent="-201168">
              <a:spcAft>
                <a:spcPts val="600"/>
              </a:spcAft>
              <a:buClr>
                <a:srgbClr val="7A7F87"/>
              </a:buClr>
              <a:buFont typeface="Arial"/>
              <a:buChar char="•"/>
            </a:pPr>
            <a:r>
              <a:rPr sz="1200" b="0" i="0">
                <a:solidFill>
                  <a:srgbClr val="4A4F57"/>
                </a:solidFill>
                <a:latin typeface="Calibri"/>
              </a:rPr>
              <a:t>First call pays the build: 0.6 s, or 1.9 s for STATIC_COMPILE.</a:t>
            </a:r>
          </a:p>
          <a:p>
            <a:pPr algn="l" marL="201168" indent="-201168">
              <a:spcAft>
                <a:spcPts val="600"/>
              </a:spcAft>
              <a:buClr>
                <a:srgbClr val="7A7F87"/>
              </a:buClr>
              <a:buFont typeface="Arial"/>
              <a:buChar char="•"/>
            </a:pPr>
            <a:r>
              <a:rPr sz="1200" b="0" i="0">
                <a:solidFill>
                  <a:srgbClr val="4A4F57"/>
                </a:solidFill>
                <a:latin typeface="Calibri"/>
              </a:rPr>
              <a:t>Refusals move to check() or the first call.</a:t>
            </a:r>
          </a:p>
          <a:p>
            <a:pPr algn="l" marL="201168" indent="-201168">
              <a:spcAft>
                <a:spcPts val="600"/>
              </a:spcAft>
              <a:buClr>
                <a:srgbClr val="7A7F87"/>
              </a:buClr>
              <a:buFont typeface="Arial"/>
              <a:buChar char="•"/>
            </a:pPr>
            <a:r>
              <a:rPr sz="1200" b="0" i="0">
                <a:solidFill>
                  <a:srgbClr val="4A4F57"/>
                </a:solidFill>
                <a:latin typeface="Calibri"/>
              </a:rPr>
              <a:t>Thread-safe first call: a build lock.</a:t>
            </a:r>
          </a:p>
          <a:p>
            <a:pPr algn="l" marL="201168" indent="-201168">
              <a:buClr>
                <a:srgbClr val="7A7F87"/>
              </a:buClr>
              <a:buFont typeface="Arial"/>
              <a:buChar char="•"/>
            </a:pPr>
            <a:r>
              <a:rPr sz="1200" b="0" i="0">
                <a:solidFill>
                  <a:srgbClr val="4A4F57"/>
                </a:solidFill>
                <a:latin typeface="Calibri"/>
              </a:rPr>
              <a:t>ARM64: publishing the built entry to other threads is unverified (TODO).</a:t>
            </a:r>
          </a:p>
        </p:txBody>
      </p:sp>
      <p:sp>
        <p:nvSpPr>
          <p:cNvPr id="31" name="TextBox 3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README.md (build times, MI300X), benchmarks/journals/2026-09-28_lazy-task5_0_8d95e66.md, docs/superpowers/specs/2026-10-13-delayed-launcher-options-design.md, commit 8d9d5d5.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Autotune and heuristics need a chain of hash tables, not one key</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17</a:t>
            </a:r>
          </a:p>
        </p:txBody>
      </p:sp>
      <p:sp>
        <p:nvSpPr>
          <p:cNvPr id="4" name="Rectangle 3"/>
          <p:cNvSpPr/>
          <p:nvPr/>
        </p:nvSpPr>
        <p:spPr>
          <a:xfrm>
            <a:off x="585216" y="1371600"/>
            <a:ext cx="7040880" cy="1874519"/>
          </a:xfrm>
          <a:prstGeom prst="rect">
            <a:avLst/>
          </a:prstGeom>
          <a:solidFill>
            <a:srgbClr val="1F2329"/>
          </a:solidFill>
          <a:ln w="12700">
            <a:solidFill>
              <a:srgbClr val="1F2329"/>
            </a:solidFill>
          </a:ln>
        </p:spPr>
        <p:txBody>
          <a:bodyPr rtlCol="0" anchor="ctr"/>
          <a:lstStyle/>
          <a:p>
            <a:pPr algn="ctr"/>
          </a:p>
        </p:txBody>
      </p:sp>
      <p:sp>
        <p:nvSpPr>
          <p:cNvPr id="5" name="TextBox 4"/>
          <p:cNvSpPr txBox="1"/>
          <p:nvPr/>
        </p:nvSpPr>
        <p:spPr>
          <a:xfrm>
            <a:off x="786384" y="1481328"/>
            <a:ext cx="6638544" cy="1655063"/>
          </a:xfrm>
          <a:prstGeom prst="rect">
            <a:avLst/>
          </a:prstGeom>
          <a:noFill/>
        </p:spPr>
        <p:txBody>
          <a:bodyPr wrap="square" lIns="0" rIns="0" tIns="0" bIns="0" anchor="ctr">
            <a:noAutofit/>
          </a:bodyPr>
          <a:lstStyle/>
          <a:p>
            <a:pPr algn="l" marL="0" indent="0">
              <a:buNone/>
            </a:pPr>
            <a:r>
              <a:rPr sz="1000" b="0" i="0">
                <a:solidFill>
                  <a:srgbClr val="E3E6EA"/>
                </a:solidFill>
                <a:latin typeface="Courier New"/>
              </a:rPr>
              <a:t># intj tests/test_tuned.py::test_two_level_chain, condensed</a:t>
            </a:r>
          </a:p>
          <a:p>
            <a:pPr algn="l" marL="0" indent="0">
              <a:buNone/>
            </a:pPr>
            <a:r>
              <a:rPr sz="1000" b="0" i="0">
                <a:solidFill>
                  <a:srgbClr val="E3E6EA"/>
                </a:solidFill>
                <a:latin typeface="Courier New"/>
              </a:rPr>
              <a:t>@triton.autotune(configs=[Config({"BLOCK": 32}), Config({"BLOCK": 64})],</a:t>
            </a:r>
          </a:p>
          <a:p>
            <a:pPr algn="l" marL="0" indent="0">
              <a:buNone/>
            </a:pPr>
            <a:r>
              <a:rPr sz="1000" b="0" i="0">
                <a:solidFill>
                  <a:srgbClr val="E3E6EA"/>
                </a:solidFill>
                <a:latin typeface="Courier New"/>
              </a:rPr>
              <a:t>                 key=["N"])</a:t>
            </a:r>
          </a:p>
          <a:p>
            <a:pPr algn="l" marL="0" indent="0">
              <a:buNone/>
            </a:pPr>
            <a:r>
              <a:rPr sz="1000" b="0" i="0">
                <a:solidFill>
                  <a:srgbClr val="E3E6EA"/>
                </a:solidFill>
                <a:latin typeface="Courier New"/>
              </a:rPr>
              <a:t>@triton.heuristics({"ALIGNED": lambda a: a["stride"] % a["BLOCK"] == 0})</a:t>
            </a:r>
          </a:p>
          <a:p>
            <a:pPr algn="l" marL="0" indent="0">
              <a:buNone/>
            </a:pPr>
            <a:r>
              <a:rPr sz="1000" b="0" i="0">
                <a:solidFill>
                  <a:srgbClr val="E3E6EA"/>
                </a:solidFill>
                <a:latin typeface="Courier New"/>
              </a:rPr>
              <a:t>@triton.jit</a:t>
            </a:r>
          </a:p>
          <a:p>
            <a:pPr algn="l" marL="0" indent="0">
              <a:buNone/>
            </a:pPr>
            <a:r>
              <a:rPr sz="1000" b="0" i="0">
                <a:solidFill>
                  <a:srgbClr val="E3E6EA"/>
                </a:solidFill>
                <a:latin typeface="Courier New"/>
              </a:rPr>
              <a:t>def aligned_tag(x, out, N, stride, BLOCK: tl.constexpr, ALIGNED: tl.constexpr): ...</a:t>
            </a:r>
          </a:p>
          <a:p>
            <a:pPr algn="l" marL="0" indent="0">
              <a:buNone/>
            </a:pPr>
            <a:r>
              <a:rPr sz="1000" b="0" i="0">
                <a:solidFill>
                  <a:srgbClr val="E3E6EA"/>
                </a:solidFill>
                <a:latin typeface="Courier New"/>
              </a:rPr>
              <a:t/>
            </a:r>
          </a:p>
          <a:p>
            <a:pPr algn="l" marL="0" indent="0">
              <a:buNone/>
            </a:pPr>
            <a:r>
              <a:rPr sz="1000" b="0" i="0">
                <a:solidFill>
                  <a:srgbClr val="E3E6EA"/>
                </a:solidFill>
                <a:latin typeface="Courier New"/>
              </a:rPr>
              <a:t>launch = make_launcher(aligned_tag)</a:t>
            </a:r>
          </a:p>
          <a:p>
            <a:pPr algn="l" marL="0" indent="0">
              <a:buNone/>
            </a:pPr>
            <a:r>
              <a:rPr sz="1000" b="0" i="0">
                <a:solidFill>
                  <a:srgbClr val="E3E6EA"/>
                </a:solidFill>
                <a:latin typeface="Courier New"/>
              </a:rPr>
              <a:t>for stride in (128, 130, 192):</a:t>
            </a:r>
          </a:p>
          <a:p>
            <a:pPr algn="l" marL="0" indent="0">
              <a:buNone/>
            </a:pPr>
            <a:r>
              <a:rPr sz="1000" b="0" i="0">
                <a:solidFill>
                  <a:srgbClr val="E3E6EA"/>
                </a:solidFill>
                <a:latin typeface="Courier New"/>
              </a:rPr>
              <a:t>    launch(dev, stream, 1, x, out, 8, stride)          # N = 8</a:t>
            </a:r>
          </a:p>
        </p:txBody>
      </p:sp>
      <p:sp>
        <p:nvSpPr>
          <p:cNvPr id="6" name="TextBox 5"/>
          <p:cNvSpPr txBox="1"/>
          <p:nvPr/>
        </p:nvSpPr>
        <p:spPr>
          <a:xfrm>
            <a:off x="7900416" y="1371600"/>
            <a:ext cx="3706063" cy="1920240"/>
          </a:xfrm>
          <a:prstGeom prst="rect">
            <a:avLst/>
          </a:prstGeom>
          <a:noFill/>
        </p:spPr>
        <p:txBody>
          <a:bodyPr wrap="square" lIns="0" rIns="0" tIns="0" bIns="0" anchor="t">
            <a:noAutofit/>
          </a:bodyPr>
          <a:lstStyle/>
          <a:p>
            <a:pPr algn="l" marL="201168" indent="-201168">
              <a:spcAft>
                <a:spcPts val="600"/>
              </a:spcAft>
              <a:buClr>
                <a:srgbClr val="7A7F87"/>
              </a:buClr>
              <a:buFont typeface="Arial"/>
              <a:buChar char="•"/>
            </a:pPr>
            <a:r>
              <a:rPr sz="1200" b="1" i="0">
                <a:solidFill>
                  <a:srgbClr val="4A4F57"/>
                </a:solidFill>
                <a:latin typeface="Calibri"/>
              </a:rPr>
              <a:t>ALIGNED </a:t>
            </a:r>
            <a:r>
              <a:rPr sz="1200" b="0" i="0">
                <a:solidFill>
                  <a:srgbClr val="4A4F57"/>
                </a:solidFill>
                <a:latin typeface="Calibri"/>
              </a:rPr>
              <a:t>needs BLOCK, which only tuning for N picks: it cannot be keyed before a lookup.</a:t>
            </a:r>
          </a:p>
          <a:p>
            <a:pPr algn="l" marL="201168" indent="-201168">
              <a:spcAft>
                <a:spcPts val="600"/>
              </a:spcAft>
              <a:buClr>
                <a:srgbClr val="7A7F87"/>
              </a:buClr>
              <a:buFont typeface="Arial"/>
              <a:buChar char="•"/>
            </a:pPr>
            <a:r>
              <a:rPr sz="1200" b="1" i="0">
                <a:solidFill>
                  <a:srgbClr val="4A4F57"/>
                </a:solidFill>
                <a:latin typeface="Calibri"/>
              </a:rPr>
              <a:t>Keying stride </a:t>
            </a:r>
            <a:r>
              <a:rPr sz="1200" b="0" i="0">
                <a:solidFill>
                  <a:srgbClr val="4A4F57"/>
                </a:solidFill>
                <a:latin typeface="Calibri"/>
              </a:rPr>
              <a:t>itself would tune again per stride; Triton tunes once per N.</a:t>
            </a:r>
          </a:p>
          <a:p>
            <a:pPr algn="l" marL="201168" indent="-201168">
              <a:buClr>
                <a:srgbClr val="7A7F87"/>
              </a:buClr>
              <a:buFont typeface="Arial"/>
              <a:buChar char="•"/>
            </a:pPr>
            <a:r>
              <a:rPr sz="1200" b="1" i="0">
                <a:solidFill>
                  <a:srgbClr val="4A4F57"/>
                </a:solidFill>
                <a:latin typeface="Calibri"/>
              </a:rPr>
              <a:t>So: </a:t>
            </a:r>
            <a:r>
              <a:rPr sz="1200" b="0" i="0">
                <a:solidFill>
                  <a:srgbClr val="4A4F57"/>
                </a:solidFill>
                <a:latin typeface="Calibri"/>
              </a:rPr>
              <a:t>level 0 keyed by N holds BLOCK; level 1 keyed by ALIGNED.</a:t>
            </a:r>
          </a:p>
        </p:txBody>
      </p:sp>
      <p:graphicFrame>
        <p:nvGraphicFramePr>
          <p:cNvPr id="7" name="Table 6"/>
          <p:cNvGraphicFramePr>
            <a:graphicFrameLocks noGrp="1"/>
          </p:cNvGraphicFramePr>
          <p:nvPr/>
        </p:nvGraphicFramePr>
        <p:xfrm>
          <a:off x="585216" y="3474720"/>
          <a:ext cx="11018520" cy="1609344"/>
        </p:xfrm>
        <a:graphic>
          <a:graphicData uri="http://schemas.openxmlformats.org/drawingml/2006/table">
            <a:tbl>
              <a:tblPr firstRow="1" bandRow="1">
                <a:tableStyleId>{2D5ABB26-0587-4C30-8999-92F81FD0307C}</a:tableStyleId>
              </a:tblPr>
              <a:tblGrid>
                <a:gridCol w="1463040"/>
                <a:gridCol w="2743200"/>
                <a:gridCol w="2606040"/>
                <a:gridCol w="2377440"/>
                <a:gridCol w="1828800"/>
              </a:tblGrid>
              <a:tr h="402336">
                <a:tc>
                  <a:txBody>
                    <a:bodyPr wrap="square" lIns="0" rIns="0" tIns="0" bIns="0" anchor="ctr">
                      <a:noAutofit/>
                    </a:bodyPr>
                    <a:lstStyle/>
                    <a:p>
                      <a:pPr algn="l" marL="0" indent="0">
                        <a:buNone/>
                      </a:pPr>
                      <a:r>
                        <a:rPr sz="1200" b="1" i="0">
                          <a:solidFill>
                            <a:srgbClr val="1B1F24"/>
                          </a:solidFill>
                          <a:latin typeface="Calibri"/>
                        </a:rPr>
                        <a:t>Call, N = 8</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Level 0: cache[N]</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C computes ALIGNED</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Level 1: child[ALIGNED]</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Python</a:t>
                      </a:r>
                    </a:p>
                  </a:txBody>
                  <a:tcPr marL="73152" marR="73152" marT="27432" marB="27432">
                    <a:solidFill>
                      <a:srgbClr val="E1E5EA"/>
                    </a:solidFill>
                  </a:tcPr>
                </a:tc>
              </a:tr>
              <a:tr h="402336">
                <a:tc>
                  <a:txBody>
                    <a:bodyPr wrap="square" lIns="0" rIns="0" tIns="0" bIns="0" anchor="ctr">
                      <a:noAutofit/>
                    </a:bodyPr>
                    <a:lstStyle/>
                    <a:p>
                      <a:pPr algn="l" marL="0" indent="0">
                        <a:buNone/>
                      </a:pPr>
                      <a:r>
                        <a:rPr sz="1200" b="0" i="0">
                          <a:solidFill>
                            <a:srgbClr val="1B1F24"/>
                          </a:solidFill>
                          <a:latin typeface="Courier New"/>
                        </a:rPr>
                        <a:t>stride 128</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miss → Triton tunes: BLOCK = 64</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ourier New"/>
                        </a:rPr>
                        <a:t>128 % 64 == 0 → 1</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miss → compile (64, 1)</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tune + compile</a:t>
                      </a:r>
                    </a:p>
                  </a:txBody>
                  <a:tcPr marL="73152" marR="73152" marT="27432" marB="27432">
                    <a:solidFill>
                      <a:srgbClr val="F1F3F6"/>
                    </a:solidFill>
                  </a:tcPr>
                </a:tc>
              </a:tr>
              <a:tr h="402336">
                <a:tc>
                  <a:txBody>
                    <a:bodyPr wrap="square" lIns="0" rIns="0" tIns="0" bIns="0" anchor="ctr">
                      <a:noAutofit/>
                    </a:bodyPr>
                    <a:lstStyle/>
                    <a:p>
                      <a:pPr algn="l" marL="0" indent="0">
                        <a:buNone/>
                      </a:pPr>
                      <a:r>
                        <a:rPr sz="1200" b="0" i="0">
                          <a:solidFill>
                            <a:srgbClr val="1B1F24"/>
                          </a:solidFill>
                          <a:latin typeface="Courier New"/>
                        </a:rPr>
                        <a:t>stride 130</a:t>
                      </a:r>
                    </a:p>
                  </a:txBody>
                  <a:tcPr marL="73152" marR="73152" marT="27432" marB="27432">
                    <a:solidFill>
                      <a:srgbClr val="FFFFFF"/>
                    </a:solidFill>
                  </a:tcPr>
                </a:tc>
                <a:tc>
                  <a:txBody>
                    <a:bodyPr wrap="square" lIns="0" rIns="0" tIns="0" bIns="0" anchor="ctr">
                      <a:noAutofit/>
                    </a:bodyPr>
                    <a:lstStyle/>
                    <a:p>
                      <a:pPr algn="l" marL="0" indent="0">
                        <a:buNone/>
                      </a:pPr>
                      <a:r>
                        <a:rPr sz="1200" b="1" i="0">
                          <a:solidFill>
                            <a:srgbClr val="EB6834"/>
                          </a:solidFill>
                          <a:latin typeface="Calibri"/>
                        </a:rPr>
                        <a:t>hit: BLOCK = 64</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ourier New"/>
                        </a:rPr>
                        <a:t>130 % 64 == 2 → 0</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miss → compile (64, 0)</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compile, no re-tune</a:t>
                      </a:r>
                    </a:p>
                  </a:txBody>
                  <a:tcPr marL="73152" marR="73152" marT="27432" marB="27432">
                    <a:solidFill>
                      <a:srgbClr val="FFFFFF"/>
                    </a:solidFill>
                  </a:tcPr>
                </a:tc>
              </a:tr>
              <a:tr h="402336">
                <a:tc>
                  <a:txBody>
                    <a:bodyPr wrap="square" lIns="0" rIns="0" tIns="0" bIns="0" anchor="ctr">
                      <a:noAutofit/>
                    </a:bodyPr>
                    <a:lstStyle/>
                    <a:p>
                      <a:pPr algn="l" marL="0" indent="0">
                        <a:buNone/>
                      </a:pPr>
                      <a:r>
                        <a:rPr sz="1200" b="0" i="0">
                          <a:solidFill>
                            <a:srgbClr val="1B1F24"/>
                          </a:solidFill>
                          <a:latin typeface="Courier New"/>
                        </a:rPr>
                        <a:t>stride 192</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EB6834"/>
                          </a:solidFill>
                          <a:latin typeface="Calibri"/>
                        </a:rPr>
                        <a:t>hit: BLOCK = 64</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ourier New"/>
                        </a:rPr>
                        <a:t>192 % 64 == 0 → 1</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EB6834"/>
                          </a:solidFill>
                          <a:latin typeface="Calibri"/>
                        </a:rPr>
                        <a:t>hit → launch</a:t>
                      </a:r>
                    </a:p>
                  </a:txBody>
                  <a:tcPr marL="73152" marR="73152" marT="27432" marB="27432">
                    <a:solidFill>
                      <a:srgbClr val="F1F3F6"/>
                    </a:solidFill>
                  </a:tcPr>
                </a:tc>
                <a:tc>
                  <a:txBody>
                    <a:bodyPr wrap="square" lIns="0" rIns="0" tIns="0" bIns="0" anchor="ctr">
                      <a:noAutofit/>
                    </a:bodyPr>
                    <a:lstStyle/>
                    <a:p>
                      <a:pPr algn="l" marL="0" indent="0">
                        <a:buNone/>
                      </a:pPr>
                      <a:r>
                        <a:rPr sz="1200" b="1" i="0">
                          <a:solidFill>
                            <a:srgbClr val="EB6834"/>
                          </a:solidFill>
                          <a:latin typeface="Calibri"/>
                        </a:rPr>
                        <a:t>none</a:t>
                      </a:r>
                    </a:p>
                  </a:txBody>
                  <a:tcPr marL="73152" marR="73152" marT="27432" marB="27432">
                    <a:solidFill>
                      <a:srgbClr val="F1F3F6"/>
                    </a:solidFill>
                  </a:tcPr>
                </a:tc>
              </a:tr>
            </a:tbl>
          </a:graphicData>
        </a:graphic>
      </p:graphicFrame>
      <p:sp>
        <p:nvSpPr>
          <p:cNvPr id="8" name="Rectangle 7"/>
          <p:cNvSpPr/>
          <p:nvPr/>
        </p:nvSpPr>
        <p:spPr>
          <a:xfrm>
            <a:off x="585216" y="5349240"/>
            <a:ext cx="3489960" cy="868680"/>
          </a:xfrm>
          <a:prstGeom prst="rect">
            <a:avLst/>
          </a:prstGeom>
          <a:solidFill>
            <a:srgbClr val="F1F3F6"/>
          </a:solidFill>
          <a:ln>
            <a:noFill/>
          </a:ln>
        </p:spPr>
        <p:txBody>
          <a:bodyPr rtlCol="0" anchor="ctr"/>
          <a:lstStyle/>
          <a:p>
            <a:pPr algn="ctr"/>
          </a:p>
        </p:txBody>
      </p:sp>
      <p:sp>
        <p:nvSpPr>
          <p:cNvPr id="9" name="TextBox 8"/>
          <p:cNvSpPr txBox="1"/>
          <p:nvPr/>
        </p:nvSpPr>
        <p:spPr>
          <a:xfrm>
            <a:off x="768096" y="5458968"/>
            <a:ext cx="3124200" cy="434340"/>
          </a:xfrm>
          <a:prstGeom prst="rect">
            <a:avLst/>
          </a:prstGeom>
          <a:noFill/>
        </p:spPr>
        <p:txBody>
          <a:bodyPr wrap="square" lIns="0" rIns="0" tIns="0" bIns="0" anchor="ctr">
            <a:noAutofit/>
          </a:bodyPr>
          <a:lstStyle/>
          <a:p>
            <a:pPr algn="l" marL="0" indent="0">
              <a:buNone/>
            </a:pPr>
            <a:r>
              <a:rPr sz="1800" b="1" i="0">
                <a:solidFill>
                  <a:srgbClr val="EB6834"/>
                </a:solidFill>
                <a:latin typeface="Calibri"/>
              </a:rPr>
              <a:t>+6.2 ns</a:t>
            </a:r>
          </a:p>
        </p:txBody>
      </p:sp>
      <p:sp>
        <p:nvSpPr>
          <p:cNvPr id="10" name="TextBox 9"/>
          <p:cNvSpPr txBox="1"/>
          <p:nvPr/>
        </p:nvSpPr>
        <p:spPr>
          <a:xfrm>
            <a:off x="768096" y="5893307"/>
            <a:ext cx="3124200" cy="251459"/>
          </a:xfrm>
          <a:prstGeom prst="rect">
            <a:avLst/>
          </a:prstGeom>
          <a:noFill/>
        </p:spPr>
        <p:txBody>
          <a:bodyPr wrap="square" lIns="0" rIns="0" tIns="0" bIns="0" anchor="t">
            <a:noAutofit/>
          </a:bodyPr>
          <a:lstStyle/>
          <a:p>
            <a:pPr algn="l" marL="0" indent="0">
              <a:buNone/>
            </a:pPr>
            <a:r>
              <a:rPr sz="1100" b="0" i="0">
                <a:solidFill>
                  <a:srgbClr val="4A4F57"/>
                </a:solidFill>
                <a:latin typeface="Calibri"/>
              </a:rPr>
              <a:t>tuned hit vs plain intj, MI308X</a:t>
            </a:r>
          </a:p>
        </p:txBody>
      </p:sp>
      <p:sp>
        <p:nvSpPr>
          <p:cNvPr id="11" name="Rectangle 10"/>
          <p:cNvSpPr/>
          <p:nvPr/>
        </p:nvSpPr>
        <p:spPr>
          <a:xfrm>
            <a:off x="4349496" y="5349240"/>
            <a:ext cx="3489960" cy="868680"/>
          </a:xfrm>
          <a:prstGeom prst="rect">
            <a:avLst/>
          </a:prstGeom>
          <a:solidFill>
            <a:srgbClr val="F1F3F6"/>
          </a:solidFill>
          <a:ln>
            <a:noFill/>
          </a:ln>
        </p:spPr>
        <p:txBody>
          <a:bodyPr rtlCol="0" anchor="ctr"/>
          <a:lstStyle/>
          <a:p>
            <a:pPr algn="ctr"/>
          </a:p>
        </p:txBody>
      </p:sp>
      <p:sp>
        <p:nvSpPr>
          <p:cNvPr id="12" name="TextBox 11"/>
          <p:cNvSpPr txBox="1"/>
          <p:nvPr/>
        </p:nvSpPr>
        <p:spPr>
          <a:xfrm>
            <a:off x="4532376" y="5458968"/>
            <a:ext cx="3124200" cy="434340"/>
          </a:xfrm>
          <a:prstGeom prst="rect">
            <a:avLst/>
          </a:prstGeom>
          <a:noFill/>
        </p:spPr>
        <p:txBody>
          <a:bodyPr wrap="square" lIns="0" rIns="0" tIns="0" bIns="0" anchor="ctr">
            <a:noAutofit/>
          </a:bodyPr>
          <a:lstStyle/>
          <a:p>
            <a:pPr algn="l" marL="0" indent="0">
              <a:buNone/>
            </a:pPr>
            <a:r>
              <a:rPr sz="1800" b="1" i="0">
                <a:solidFill>
                  <a:srgbClr val="EB6834"/>
                </a:solidFill>
                <a:latin typeface="Calibri"/>
              </a:rPr>
              <a:t>2.46 ns</a:t>
            </a:r>
          </a:p>
        </p:txBody>
      </p:sp>
      <p:sp>
        <p:nvSpPr>
          <p:cNvPr id="13" name="TextBox 12"/>
          <p:cNvSpPr txBox="1"/>
          <p:nvPr/>
        </p:nvSpPr>
        <p:spPr>
          <a:xfrm>
            <a:off x="4532376" y="5893307"/>
            <a:ext cx="3124200" cy="251459"/>
          </a:xfrm>
          <a:prstGeom prst="rect">
            <a:avLst/>
          </a:prstGeom>
          <a:noFill/>
        </p:spPr>
        <p:txBody>
          <a:bodyPr wrap="square" lIns="0" rIns="0" tIns="0" bIns="0" anchor="t">
            <a:noAutofit/>
          </a:bodyPr>
          <a:lstStyle/>
          <a:p>
            <a:pPr algn="l" marL="0" indent="0">
              <a:buNone/>
            </a:pPr>
            <a:r>
              <a:rPr sz="1100" b="0" i="0">
                <a:solidFill>
                  <a:srgbClr val="4A4F57"/>
                </a:solidFill>
                <a:latin typeface="Calibri"/>
              </a:rPr>
              <a:t>child-map hit, map-only benchmark</a:t>
            </a:r>
          </a:p>
        </p:txBody>
      </p:sp>
      <p:sp>
        <p:nvSpPr>
          <p:cNvPr id="14" name="Rectangle 13"/>
          <p:cNvSpPr/>
          <p:nvPr/>
        </p:nvSpPr>
        <p:spPr>
          <a:xfrm>
            <a:off x="8113776" y="5349240"/>
            <a:ext cx="3489960" cy="868680"/>
          </a:xfrm>
          <a:prstGeom prst="rect">
            <a:avLst/>
          </a:prstGeom>
          <a:solidFill>
            <a:srgbClr val="F1F3F6"/>
          </a:solidFill>
          <a:ln>
            <a:noFill/>
          </a:ln>
        </p:spPr>
        <p:txBody>
          <a:bodyPr rtlCol="0" anchor="ctr"/>
          <a:lstStyle/>
          <a:p>
            <a:pPr algn="ctr"/>
          </a:p>
        </p:txBody>
      </p:sp>
      <p:sp>
        <p:nvSpPr>
          <p:cNvPr id="15" name="TextBox 14"/>
          <p:cNvSpPr txBox="1"/>
          <p:nvPr/>
        </p:nvSpPr>
        <p:spPr>
          <a:xfrm>
            <a:off x="8296656" y="5458968"/>
            <a:ext cx="3124200" cy="434340"/>
          </a:xfrm>
          <a:prstGeom prst="rect">
            <a:avLst/>
          </a:prstGeom>
          <a:noFill/>
        </p:spPr>
        <p:txBody>
          <a:bodyPr wrap="square" lIns="0" rIns="0" tIns="0" bIns="0" anchor="ctr">
            <a:noAutofit/>
          </a:bodyPr>
          <a:lstStyle/>
          <a:p>
            <a:pPr algn="l" marL="0" indent="0">
              <a:buNone/>
            </a:pPr>
            <a:r>
              <a:rPr sz="1800" b="1" i="0">
                <a:solidFill>
                  <a:srgbClr val="EB6834"/>
                </a:solidFill>
                <a:latin typeface="Calibri"/>
              </a:rPr>
              <a:t>40 cases</a:t>
            </a:r>
          </a:p>
        </p:txBody>
      </p:sp>
      <p:sp>
        <p:nvSpPr>
          <p:cNvPr id="16" name="TextBox 15"/>
          <p:cNvSpPr txBox="1"/>
          <p:nvPr/>
        </p:nvSpPr>
        <p:spPr>
          <a:xfrm>
            <a:off x="8296656" y="5893307"/>
            <a:ext cx="3124200" cy="251459"/>
          </a:xfrm>
          <a:prstGeom prst="rect">
            <a:avLst/>
          </a:prstGeom>
          <a:noFill/>
        </p:spPr>
        <p:txBody>
          <a:bodyPr wrap="square" lIns="0" rIns="0" tIns="0" bIns="0" anchor="t">
            <a:noAutofit/>
          </a:bodyPr>
          <a:lstStyle/>
          <a:p>
            <a:pPr algn="l" marL="0" indent="0">
              <a:buNone/>
            </a:pPr>
            <a:r>
              <a:rPr sz="1100" b="0" i="0">
                <a:solidFill>
                  <a:srgbClr val="4A4F57"/>
                </a:solidFill>
                <a:latin typeface="Calibri"/>
              </a:rPr>
              <a:t>never-coarser test, plus its mutation test</a:t>
            </a:r>
          </a:p>
        </p:txBody>
      </p:sp>
      <p:sp>
        <p:nvSpPr>
          <p:cNvPr id="17" name="TextBox 16"/>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tests/test_tuned.py::test_two_level_chain, intj/tuning.py, docs/superpowers/specs/2026-09-26-autotune-heuristics-design.md, journal 2026-09-26_autotune-task5.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Reading CPython, PyTorch and Triton internals, version-gated</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18</a:t>
            </a:r>
          </a:p>
        </p:txBody>
      </p:sp>
      <p:sp>
        <p:nvSpPr>
          <p:cNvPr id="4" name="TextBox 3"/>
          <p:cNvSpPr txBox="1"/>
          <p:nvPr/>
        </p:nvSpPr>
        <p:spPr>
          <a:xfrm>
            <a:off x="585216" y="1371600"/>
            <a:ext cx="11018520" cy="292608"/>
          </a:xfrm>
          <a:prstGeom prst="rect">
            <a:avLst/>
          </a:prstGeom>
          <a:noFill/>
        </p:spPr>
        <p:txBody>
          <a:bodyPr wrap="square" lIns="0" rIns="0" tIns="0" bIns="0" anchor="t">
            <a:noAutofit/>
          </a:bodyPr>
          <a:lstStyle/>
          <a:p>
            <a:pPr algn="l" marL="0" indent="0">
              <a:buNone/>
            </a:pPr>
            <a:r>
              <a:rPr sz="1400" b="1" i="0">
                <a:solidFill>
                  <a:srgbClr val="1B1F24"/>
                </a:solidFill>
                <a:latin typeface="Calibri"/>
              </a:rPr>
              <a:t>Torch access mode: intj args -&gt; spec-key per call, 3 tensors, MI308X</a:t>
            </a:r>
          </a:p>
        </p:txBody>
      </p:sp>
      <p:sp>
        <p:nvSpPr>
          <p:cNvPr id="5" name="Rectangle 4"/>
          <p:cNvSpPr/>
          <p:nvPr/>
        </p:nvSpPr>
        <p:spPr>
          <a:xfrm>
            <a:off x="585216" y="1737360"/>
            <a:ext cx="3489960" cy="1097280"/>
          </a:xfrm>
          <a:prstGeom prst="rect">
            <a:avLst/>
          </a:prstGeom>
          <a:solidFill>
            <a:srgbClr val="F1F3F6"/>
          </a:solidFill>
          <a:ln>
            <a:noFill/>
          </a:ln>
        </p:spPr>
        <p:txBody>
          <a:bodyPr rtlCol="0" anchor="ctr"/>
          <a:lstStyle/>
          <a:p>
            <a:pPr algn="ctr"/>
          </a:p>
        </p:txBody>
      </p:sp>
      <p:sp>
        <p:nvSpPr>
          <p:cNvPr id="6" name="TextBox 5"/>
          <p:cNvSpPr txBox="1"/>
          <p:nvPr/>
        </p:nvSpPr>
        <p:spPr>
          <a:xfrm>
            <a:off x="768096" y="1828800"/>
            <a:ext cx="2026920" cy="320040"/>
          </a:xfrm>
          <a:prstGeom prst="rect">
            <a:avLst/>
          </a:prstGeom>
          <a:noFill/>
        </p:spPr>
        <p:txBody>
          <a:bodyPr wrap="square" lIns="0" rIns="0" tIns="0" bIns="0" anchor="t">
            <a:noAutofit/>
          </a:bodyPr>
          <a:lstStyle/>
          <a:p>
            <a:pPr algn="l" marL="0" indent="0">
              <a:buNone/>
            </a:pPr>
            <a:r>
              <a:rPr sz="1300" b="1" i="0">
                <a:solidFill>
                  <a:srgbClr val="1B1F24"/>
                </a:solidFill>
                <a:latin typeface="Courier New"/>
              </a:rPr>
              <a:t>INTERPRETER</a:t>
            </a:r>
          </a:p>
        </p:txBody>
      </p:sp>
      <p:sp>
        <p:nvSpPr>
          <p:cNvPr id="7" name="TextBox 6"/>
          <p:cNvSpPr txBox="1"/>
          <p:nvPr/>
        </p:nvSpPr>
        <p:spPr>
          <a:xfrm>
            <a:off x="2749296" y="1783080"/>
            <a:ext cx="1143000" cy="411480"/>
          </a:xfrm>
          <a:prstGeom prst="rect">
            <a:avLst/>
          </a:prstGeom>
          <a:noFill/>
        </p:spPr>
        <p:txBody>
          <a:bodyPr wrap="square" lIns="0" rIns="0" tIns="0" bIns="0" anchor="t">
            <a:noAutofit/>
          </a:bodyPr>
          <a:lstStyle/>
          <a:p>
            <a:pPr algn="r" marL="0" indent="0">
              <a:buNone/>
            </a:pPr>
            <a:r>
              <a:rPr sz="2000" b="1" i="0">
                <a:solidFill>
                  <a:srgbClr val="7A7F87"/>
                </a:solidFill>
                <a:latin typeface="Calibri"/>
              </a:rPr>
              <a:t>923 ns</a:t>
            </a:r>
          </a:p>
        </p:txBody>
      </p:sp>
      <p:sp>
        <p:nvSpPr>
          <p:cNvPr id="8" name="TextBox 7"/>
          <p:cNvSpPr txBox="1"/>
          <p:nvPr/>
        </p:nvSpPr>
        <p:spPr>
          <a:xfrm>
            <a:off x="768096" y="2240280"/>
            <a:ext cx="3124200" cy="5486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pointer and storage size through CPython calls</a:t>
            </a:r>
          </a:p>
        </p:txBody>
      </p:sp>
      <p:sp>
        <p:nvSpPr>
          <p:cNvPr id="9" name="Rectangle 8"/>
          <p:cNvSpPr/>
          <p:nvPr/>
        </p:nvSpPr>
        <p:spPr>
          <a:xfrm>
            <a:off x="4349496" y="1737360"/>
            <a:ext cx="3489960" cy="1097280"/>
          </a:xfrm>
          <a:prstGeom prst="rect">
            <a:avLst/>
          </a:prstGeom>
          <a:solidFill>
            <a:srgbClr val="F1F3F6"/>
          </a:solidFill>
          <a:ln>
            <a:noFill/>
          </a:ln>
        </p:spPr>
        <p:txBody>
          <a:bodyPr rtlCol="0" anchor="ctr"/>
          <a:lstStyle/>
          <a:p>
            <a:pPr algn="ctr"/>
          </a:p>
        </p:txBody>
      </p:sp>
      <p:sp>
        <p:nvSpPr>
          <p:cNvPr id="10" name="TextBox 9"/>
          <p:cNvSpPr txBox="1"/>
          <p:nvPr/>
        </p:nvSpPr>
        <p:spPr>
          <a:xfrm>
            <a:off x="4532376" y="1828800"/>
            <a:ext cx="2026920" cy="320040"/>
          </a:xfrm>
          <a:prstGeom prst="rect">
            <a:avLst/>
          </a:prstGeom>
          <a:noFill/>
        </p:spPr>
        <p:txBody>
          <a:bodyPr wrap="square" lIns="0" rIns="0" tIns="0" bIns="0" anchor="t">
            <a:noAutofit/>
          </a:bodyPr>
          <a:lstStyle/>
          <a:p>
            <a:pPr algn="l" marL="0" indent="0">
              <a:buNone/>
            </a:pPr>
            <a:r>
              <a:rPr sz="1300" b="1" i="0">
                <a:solidFill>
                  <a:srgbClr val="1B1F24"/>
                </a:solidFill>
                <a:latin typeface="Courier New"/>
              </a:rPr>
              <a:t>RUNTIME_SHIM</a:t>
            </a:r>
          </a:p>
        </p:txBody>
      </p:sp>
      <p:sp>
        <p:nvSpPr>
          <p:cNvPr id="11" name="TextBox 10"/>
          <p:cNvSpPr txBox="1"/>
          <p:nvPr/>
        </p:nvSpPr>
        <p:spPr>
          <a:xfrm>
            <a:off x="6513576" y="1783080"/>
            <a:ext cx="1143000" cy="411480"/>
          </a:xfrm>
          <a:prstGeom prst="rect">
            <a:avLst/>
          </a:prstGeom>
          <a:noFill/>
        </p:spPr>
        <p:txBody>
          <a:bodyPr wrap="square" lIns="0" rIns="0" tIns="0" bIns="0" anchor="t">
            <a:noAutofit/>
          </a:bodyPr>
          <a:lstStyle/>
          <a:p>
            <a:pPr algn="r" marL="0" indent="0">
              <a:buNone/>
            </a:pPr>
            <a:r>
              <a:rPr sz="2000" b="1" i="0">
                <a:solidFill>
                  <a:srgbClr val="EB6834"/>
                </a:solidFill>
                <a:latin typeface="Calibri"/>
              </a:rPr>
              <a:t>92 ns</a:t>
            </a:r>
          </a:p>
        </p:txBody>
      </p:sp>
      <p:sp>
        <p:nvSpPr>
          <p:cNvPr id="12" name="TextBox 11"/>
          <p:cNvSpPr txBox="1"/>
          <p:nvPr/>
        </p:nvSpPr>
        <p:spPr>
          <a:xfrm>
            <a:off x="4532376" y="2240280"/>
            <a:ext cx="3124200" cy="5486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torch's structs at offsets from a verified table</a:t>
            </a:r>
          </a:p>
        </p:txBody>
      </p:sp>
      <p:sp>
        <p:nvSpPr>
          <p:cNvPr id="13" name="Rectangle 12"/>
          <p:cNvSpPr/>
          <p:nvPr/>
        </p:nvSpPr>
        <p:spPr>
          <a:xfrm>
            <a:off x="8113776" y="1737360"/>
            <a:ext cx="3489960" cy="1097280"/>
          </a:xfrm>
          <a:prstGeom prst="rect">
            <a:avLst/>
          </a:prstGeom>
          <a:solidFill>
            <a:srgbClr val="F1F3F6"/>
          </a:solidFill>
          <a:ln>
            <a:noFill/>
          </a:ln>
        </p:spPr>
        <p:txBody>
          <a:bodyPr rtlCol="0" anchor="ctr"/>
          <a:lstStyle/>
          <a:p>
            <a:pPr algn="ctr"/>
          </a:p>
        </p:txBody>
      </p:sp>
      <p:sp>
        <p:nvSpPr>
          <p:cNvPr id="14" name="TextBox 13"/>
          <p:cNvSpPr txBox="1"/>
          <p:nvPr/>
        </p:nvSpPr>
        <p:spPr>
          <a:xfrm>
            <a:off x="8296656" y="1828800"/>
            <a:ext cx="2026920" cy="320040"/>
          </a:xfrm>
          <a:prstGeom prst="rect">
            <a:avLst/>
          </a:prstGeom>
          <a:noFill/>
        </p:spPr>
        <p:txBody>
          <a:bodyPr wrap="square" lIns="0" rIns="0" tIns="0" bIns="0" anchor="t">
            <a:noAutofit/>
          </a:bodyPr>
          <a:lstStyle/>
          <a:p>
            <a:pPr algn="l" marL="0" indent="0">
              <a:buNone/>
            </a:pPr>
            <a:r>
              <a:rPr sz="1300" b="1" i="0">
                <a:solidFill>
                  <a:srgbClr val="1B1F24"/>
                </a:solidFill>
                <a:latin typeface="Courier New"/>
              </a:rPr>
              <a:t>STATIC_COMPILE</a:t>
            </a:r>
          </a:p>
        </p:txBody>
      </p:sp>
      <p:sp>
        <p:nvSpPr>
          <p:cNvPr id="15" name="TextBox 14"/>
          <p:cNvSpPr txBox="1"/>
          <p:nvPr/>
        </p:nvSpPr>
        <p:spPr>
          <a:xfrm>
            <a:off x="10277856" y="1783080"/>
            <a:ext cx="1143000" cy="411480"/>
          </a:xfrm>
          <a:prstGeom prst="rect">
            <a:avLst/>
          </a:prstGeom>
          <a:noFill/>
        </p:spPr>
        <p:txBody>
          <a:bodyPr wrap="square" lIns="0" rIns="0" tIns="0" bIns="0" anchor="t">
            <a:noAutofit/>
          </a:bodyPr>
          <a:lstStyle/>
          <a:p>
            <a:pPr algn="r" marL="0" indent="0">
              <a:buNone/>
            </a:pPr>
            <a:r>
              <a:rPr sz="2000" b="1" i="0">
                <a:solidFill>
                  <a:srgbClr val="EB6834"/>
                </a:solidFill>
                <a:latin typeface="Calibri"/>
              </a:rPr>
              <a:t>94 ns</a:t>
            </a:r>
          </a:p>
        </p:txBody>
      </p:sp>
      <p:sp>
        <p:nvSpPr>
          <p:cNvPr id="16" name="TextBox 15"/>
          <p:cNvSpPr txBox="1"/>
          <p:nvPr/>
        </p:nvSpPr>
        <p:spPr>
          <a:xfrm>
            <a:off x="8296656" y="2240280"/>
            <a:ext cx="3124200" cy="5486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compiled against torch's headers (the default)</a:t>
            </a:r>
          </a:p>
        </p:txBody>
      </p:sp>
      <p:graphicFrame>
        <p:nvGraphicFramePr>
          <p:cNvPr id="17" name="Table 16"/>
          <p:cNvGraphicFramePr>
            <a:graphicFrameLocks noGrp="1"/>
          </p:cNvGraphicFramePr>
          <p:nvPr/>
        </p:nvGraphicFramePr>
        <p:xfrm>
          <a:off x="585216" y="3017520"/>
          <a:ext cx="11018520" cy="2286000"/>
        </p:xfrm>
        <a:graphic>
          <a:graphicData uri="http://schemas.openxmlformats.org/drawingml/2006/table">
            <a:tbl>
              <a:tblPr firstRow="1" bandRow="1">
                <a:tableStyleId>{2D5ABB26-0587-4C30-8999-92F81FD0307C}</a:tableStyleId>
              </a:tblPr>
              <a:tblGrid>
                <a:gridCol w="1600200"/>
                <a:gridCol w="4572000"/>
                <a:gridCol w="4846320"/>
              </a:tblGrid>
              <a:tr h="457200">
                <a:tc>
                  <a:txBody>
                    <a:bodyPr wrap="square" lIns="0" rIns="0" tIns="0" bIns="0" anchor="ctr">
                      <a:noAutofit/>
                    </a:bodyPr>
                    <a:lstStyle/>
                    <a:p>
                      <a:pPr algn="l" marL="0" indent="0">
                        <a:buNone/>
                      </a:pPr>
                      <a:r>
                        <a:rPr sz="1200" b="1" i="0">
                          <a:solidFill>
                            <a:srgbClr val="1B1F24"/>
                          </a:solidFill>
                          <a:latin typeface="Calibri"/>
                        </a:rPr>
                        <a:t>Dependency</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What intj reads</a:t>
                      </a:r>
                    </a:p>
                  </a:txBody>
                  <a:tcPr marL="73152" marR="73152" marT="27432" marB="27432">
                    <a:solidFill>
                      <a:srgbClr val="E1E5EA"/>
                    </a:solidFill>
                  </a:tcPr>
                </a:tc>
                <a:tc>
                  <a:txBody>
                    <a:bodyPr wrap="square" lIns="0" rIns="0" tIns="0" bIns="0" anchor="ctr">
                      <a:noAutofit/>
                    </a:bodyPr>
                    <a:lstStyle/>
                    <a:p>
                      <a:pPr algn="l" marL="0" indent="0">
                        <a:buNone/>
                      </a:pPr>
                      <a:r>
                        <a:rPr sz="1200" b="1" i="0">
                          <a:solidFill>
                            <a:srgbClr val="1B1F24"/>
                          </a:solidFill>
                          <a:latin typeface="Calibri"/>
                        </a:rPr>
                        <a:t>How it is guarded</a:t>
                      </a:r>
                    </a:p>
                  </a:txBody>
                  <a:tcPr marL="73152" marR="73152" marT="27432" marB="27432">
                    <a:solidFill>
                      <a:srgbClr val="E1E5EA"/>
                    </a:solidFill>
                  </a:tcPr>
                </a:tc>
              </a:tr>
              <a:tr h="457200">
                <a:tc>
                  <a:txBody>
                    <a:bodyPr wrap="square" lIns="0" rIns="0" tIns="0" bIns="0" anchor="ctr">
                      <a:noAutofit/>
                    </a:bodyPr>
                    <a:lstStyle/>
                    <a:p>
                      <a:pPr algn="l" marL="0" indent="0">
                        <a:buNone/>
                      </a:pPr>
                      <a:r>
                        <a:rPr sz="1200" b="0" i="0">
                          <a:solidFill>
                            <a:srgbClr val="1B1F24"/>
                          </a:solidFill>
                          <a:latin typeface="Calibri"/>
                        </a:rPr>
                        <a:t>CPython int</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ob_digit (≤ 3.11); lv_tag, PyUnstable_Long_* (3.12+)</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PY_VERSION_HEX branches, 30-bit static_assert, boundary tests</a:t>
                      </a:r>
                    </a:p>
                  </a:txBody>
                  <a:tcPr marL="73152" marR="73152" marT="27432" marB="27432">
                    <a:solidFill>
                      <a:srgbClr val="F1F3F6"/>
                    </a:solidFill>
                  </a:tcPr>
                </a:tc>
              </a:tr>
              <a:tr h="457200">
                <a:tc>
                  <a:txBody>
                    <a:bodyPr wrap="square" lIns="0" rIns="0" tIns="0" bIns="0" anchor="ctr">
                      <a:noAutofit/>
                    </a:bodyPr>
                    <a:lstStyle/>
                    <a:p>
                      <a:pPr algn="l" marL="0" indent="0">
                        <a:buNone/>
                      </a:pPr>
                      <a:r>
                        <a:rPr sz="1200" b="0" i="0">
                          <a:solidFill>
                            <a:srgbClr val="1B1F24"/>
                          </a:solidFill>
                          <a:latin typeface="Calibri"/>
                        </a:rPr>
                        <a:t>CPython calls</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vectorcall; the ml_meth swap; sizeof(PyObject) 16 / 32 (free-threaded)</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allowlist 3.8–3.14, 3.13t, 3.14t; module keyed by exact version + build</a:t>
                      </a:r>
                    </a:p>
                  </a:txBody>
                  <a:tcPr marL="73152" marR="73152" marT="27432" marB="27432">
                    <a:solidFill>
                      <a:srgbClr val="FFFFFF"/>
                    </a:solidFill>
                  </a:tcPr>
                </a:tc>
              </a:tr>
              <a:tr h="457200">
                <a:tc>
                  <a:txBody>
                    <a:bodyPr wrap="square" lIns="0" rIns="0" tIns="0" bIns="0" anchor="ctr">
                      <a:noAutofit/>
                    </a:bodyPr>
                    <a:lstStyle/>
                    <a:p>
                      <a:pPr algn="l" marL="0" indent="0">
                        <a:buNone/>
                      </a:pPr>
                      <a:r>
                        <a:rPr sz="1200" b="0" i="0">
                          <a:solidFill>
                            <a:srgbClr val="1B1F24"/>
                          </a:solidFill>
                          <a:latin typeface="Calibri"/>
                        </a:rPr>
                        <a:t>Torch tensor</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cdata; TensorImpl storage, offset, numel, dtype</a:t>
                      </a:r>
                    </a:p>
                  </a:txBody>
                  <a:tcPr marL="73152" marR="73152" marT="27432" marB="27432">
                    <a:solidFill>
                      <a:srgbClr val="F1F3F6"/>
                    </a:solidFill>
                  </a:tcPr>
                </a:tc>
                <a:tc>
                  <a:txBody>
                    <a:bodyPr wrap="square" lIns="0" rIns="0" tIns="0" bIns="0" anchor="ctr">
                      <a:noAutofit/>
                    </a:bodyPr>
                    <a:lstStyle/>
                    <a:p>
                      <a:pPr algn="l" marL="0" indent="0">
                        <a:buNone/>
                      </a:pPr>
                      <a:r>
                        <a:rPr sz="1200" b="0" i="0">
                          <a:solidFill>
                            <a:srgbClr val="1B1F24"/>
                          </a:solidFill>
                          <a:latin typeface="Calibri"/>
                        </a:rPr>
                        <a:t>13 measured layouts (2.2–2.14), checked from C++; offset check at load</a:t>
                      </a:r>
                    </a:p>
                  </a:txBody>
                  <a:tcPr marL="73152" marR="73152" marT="27432" marB="27432">
                    <a:solidFill>
                      <a:srgbClr val="F1F3F6"/>
                    </a:solidFill>
                  </a:tcPr>
                </a:tc>
              </a:tr>
              <a:tr h="457200">
                <a:tc>
                  <a:txBody>
                    <a:bodyPr wrap="square" lIns="0" rIns="0" tIns="0" bIns="0" anchor="ctr">
                      <a:noAutofit/>
                    </a:bodyPr>
                    <a:lstStyle/>
                    <a:p>
                      <a:pPr algn="l" marL="0" indent="0">
                        <a:buNone/>
                      </a:pPr>
                      <a:r>
                        <a:rPr sz="1200" b="0" i="0">
                          <a:solidFill>
                            <a:srgbClr val="1B1F24"/>
                          </a:solidFill>
                          <a:latin typeface="Calibri"/>
                        </a:rPr>
                        <a:t>Triton</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native_specialize_impl, canonicalize_dtype, 3 knobs</a:t>
                      </a:r>
                    </a:p>
                  </a:txBody>
                  <a:tcPr marL="73152" marR="73152" marT="27432" marB="27432">
                    <a:solidFill>
                      <a:srgbClr val="FFFFFF"/>
                    </a:solidFill>
                  </a:tcPr>
                </a:tc>
                <a:tc>
                  <a:txBody>
                    <a:bodyPr wrap="square" lIns="0" rIns="0" tIns="0" bIns="0" anchor="ctr">
                      <a:noAutofit/>
                    </a:bodyPr>
                    <a:lstStyle/>
                    <a:p>
                      <a:pPr algn="l" marL="0" indent="0">
                        <a:buNone/>
                      </a:pPr>
                      <a:r>
                        <a:rPr sz="1200" b="0" i="0">
                          <a:solidFill>
                            <a:srgbClr val="1B1F24"/>
                          </a:solidFill>
                          <a:latin typeface="Calibri"/>
                        </a:rPr>
                        <a:t>≥ 3.7 gate; version + libtriton.so in the key; never-coarser tests</a:t>
                      </a:r>
                    </a:p>
                  </a:txBody>
                  <a:tcPr marL="73152" marR="73152" marT="27432" marB="27432">
                    <a:solidFill>
                      <a:srgbClr val="FFFFFF"/>
                    </a:solidFill>
                  </a:tcPr>
                </a:tc>
              </a:tr>
            </a:tbl>
          </a:graphicData>
        </a:graphic>
      </p:graphicFrame>
      <p:sp>
        <p:nvSpPr>
          <p:cNvPr id="18" name="TextBox 17"/>
          <p:cNvSpPr txBox="1"/>
          <p:nvPr/>
        </p:nvSpPr>
        <p:spPr>
          <a:xfrm>
            <a:off x="585216" y="5440680"/>
            <a:ext cx="11018520" cy="685800"/>
          </a:xfrm>
          <a:prstGeom prst="rect">
            <a:avLst/>
          </a:prstGeom>
          <a:noFill/>
        </p:spPr>
        <p:txBody>
          <a:bodyPr wrap="square" lIns="0" rIns="0" tIns="0" bIns="0" anchor="t">
            <a:noAutofit/>
          </a:bodyPr>
          <a:lstStyle/>
          <a:p>
            <a:pPr algn="l" marL="0" indent="0">
              <a:buNone/>
            </a:pPr>
            <a:r>
              <a:rPr sz="1300" b="1" i="0">
                <a:solidFill>
                  <a:srgbClr val="1B1F24"/>
                </a:solidFill>
                <a:latin typeface="Calibri"/>
              </a:rPr>
              <a:t>Layouts drift: </a:t>
            </a:r>
            <a:r>
              <a:rPr sz="1300" b="0" i="0">
                <a:solidFill>
                  <a:srgbClr val="4A4F57"/>
                </a:solidFill>
                <a:latin typeface="Calibri"/>
              </a:rPr>
              <a:t>cdata moved 8 → 0 at torch 2.10, storage_offset 152 → 144 at 2.13. An unknown version is refused, never borrowed from a neighbour. Offsets are x86-64 only.</a:t>
            </a:r>
          </a:p>
        </p:txBody>
      </p:sp>
      <p:sp>
        <p:nvSpPr>
          <p:cNvPr id="19" name="TextBox 18"/>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CONCETPS.md, intj/python_intf/, intj/torch_intf/torch_abi.toml, intj/_imports.py, TODO.md. intj args -&gt; spec-key per call: data/headline_decode_by_access_mode.csv.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Test matrix: 149 GPU-free CI jobs, the full suite on two GPUs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19</a:t>
            </a:r>
          </a:p>
        </p:txBody>
      </p:sp>
      <p:sp>
        <p:nvSpPr>
          <p:cNvPr id="4" name="Rectangle 3"/>
          <p:cNvSpPr/>
          <p:nvPr/>
        </p:nvSpPr>
        <p:spPr>
          <a:xfrm>
            <a:off x="585216" y="1417320"/>
            <a:ext cx="2548890" cy="1097280"/>
          </a:xfrm>
          <a:prstGeom prst="rect">
            <a:avLst/>
          </a:prstGeom>
          <a:solidFill>
            <a:srgbClr val="F1F3F6"/>
          </a:solidFill>
          <a:ln>
            <a:noFill/>
          </a:ln>
        </p:spPr>
        <p:txBody>
          <a:bodyPr rtlCol="0" anchor="ctr"/>
          <a:lstStyle/>
          <a:p>
            <a:pPr algn="ctr"/>
          </a:p>
        </p:txBody>
      </p:sp>
      <p:sp>
        <p:nvSpPr>
          <p:cNvPr id="5" name="TextBox 4"/>
          <p:cNvSpPr txBox="1"/>
          <p:nvPr/>
        </p:nvSpPr>
        <p:spPr>
          <a:xfrm>
            <a:off x="768096" y="1527048"/>
            <a:ext cx="2183130" cy="54864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15</a:t>
            </a:r>
          </a:p>
        </p:txBody>
      </p:sp>
      <p:sp>
        <p:nvSpPr>
          <p:cNvPr id="6" name="TextBox 5"/>
          <p:cNvSpPr txBox="1"/>
          <p:nvPr/>
        </p:nvSpPr>
        <p:spPr>
          <a:xfrm>
            <a:off x="768096" y="2075688"/>
            <a:ext cx="2183130" cy="365759"/>
          </a:xfrm>
          <a:prstGeom prst="rect">
            <a:avLst/>
          </a:prstGeom>
          <a:noFill/>
        </p:spPr>
        <p:txBody>
          <a:bodyPr wrap="square" lIns="0" rIns="0" tIns="0" bIns="0" anchor="t">
            <a:noAutofit/>
          </a:bodyPr>
          <a:lstStyle/>
          <a:p>
            <a:pPr algn="l" marL="0" indent="0">
              <a:buNone/>
            </a:pPr>
            <a:r>
              <a:rPr sz="1200" b="0" i="0">
                <a:solidFill>
                  <a:srgbClr val="4A4F57"/>
                </a:solidFill>
                <a:latin typeface="Calibri"/>
              </a:rPr>
              <a:t>OS × Python cells on 6 base images</a:t>
            </a:r>
          </a:p>
        </p:txBody>
      </p:sp>
      <p:sp>
        <p:nvSpPr>
          <p:cNvPr id="7" name="Rectangle 6"/>
          <p:cNvSpPr/>
          <p:nvPr/>
        </p:nvSpPr>
        <p:spPr>
          <a:xfrm>
            <a:off x="3408426" y="1417320"/>
            <a:ext cx="2548890" cy="1097280"/>
          </a:xfrm>
          <a:prstGeom prst="rect">
            <a:avLst/>
          </a:prstGeom>
          <a:solidFill>
            <a:srgbClr val="F1F3F6"/>
          </a:solidFill>
          <a:ln>
            <a:noFill/>
          </a:ln>
        </p:spPr>
        <p:txBody>
          <a:bodyPr rtlCol="0" anchor="ctr"/>
          <a:lstStyle/>
          <a:p>
            <a:pPr algn="ctr"/>
          </a:p>
        </p:txBody>
      </p:sp>
      <p:sp>
        <p:nvSpPr>
          <p:cNvPr id="8" name="TextBox 7"/>
          <p:cNvSpPr txBox="1"/>
          <p:nvPr/>
        </p:nvSpPr>
        <p:spPr>
          <a:xfrm>
            <a:off x="3591306" y="1527048"/>
            <a:ext cx="2183130" cy="54864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13</a:t>
            </a:r>
          </a:p>
        </p:txBody>
      </p:sp>
      <p:sp>
        <p:nvSpPr>
          <p:cNvPr id="9" name="TextBox 8"/>
          <p:cNvSpPr txBox="1"/>
          <p:nvPr/>
        </p:nvSpPr>
        <p:spPr>
          <a:xfrm>
            <a:off x="3591306" y="2075688"/>
            <a:ext cx="2183130" cy="365759"/>
          </a:xfrm>
          <a:prstGeom prst="rect">
            <a:avLst/>
          </a:prstGeom>
          <a:noFill/>
        </p:spPr>
        <p:txBody>
          <a:bodyPr wrap="square" lIns="0" rIns="0" tIns="0" bIns="0" anchor="t">
            <a:noAutofit/>
          </a:bodyPr>
          <a:lstStyle/>
          <a:p>
            <a:pPr algn="l" marL="0" indent="0">
              <a:buNone/>
            </a:pPr>
            <a:r>
              <a:rPr sz="1200" b="0" i="0">
                <a:solidFill>
                  <a:srgbClr val="4A4F57"/>
                </a:solidFill>
                <a:latin typeface="Calibri"/>
              </a:rPr>
              <a:t>torch pins, 2.2 → 2.14</a:t>
            </a:r>
          </a:p>
        </p:txBody>
      </p:sp>
      <p:sp>
        <p:nvSpPr>
          <p:cNvPr id="10" name="Rectangle 9"/>
          <p:cNvSpPr/>
          <p:nvPr/>
        </p:nvSpPr>
        <p:spPr>
          <a:xfrm>
            <a:off x="6231636" y="1417320"/>
            <a:ext cx="2548890" cy="1097280"/>
          </a:xfrm>
          <a:prstGeom prst="rect">
            <a:avLst/>
          </a:prstGeom>
          <a:solidFill>
            <a:srgbClr val="F1F3F6"/>
          </a:solidFill>
          <a:ln>
            <a:noFill/>
          </a:ln>
        </p:spPr>
        <p:txBody>
          <a:bodyPr rtlCol="0" anchor="ctr"/>
          <a:lstStyle/>
          <a:p>
            <a:pPr algn="ctr"/>
          </a:p>
        </p:txBody>
      </p:sp>
      <p:sp>
        <p:nvSpPr>
          <p:cNvPr id="11" name="TextBox 10"/>
          <p:cNvSpPr txBox="1"/>
          <p:nvPr/>
        </p:nvSpPr>
        <p:spPr>
          <a:xfrm>
            <a:off x="6414516" y="1527048"/>
            <a:ext cx="2183130" cy="54864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149</a:t>
            </a:r>
          </a:p>
        </p:txBody>
      </p:sp>
      <p:sp>
        <p:nvSpPr>
          <p:cNvPr id="12" name="TextBox 11"/>
          <p:cNvSpPr txBox="1"/>
          <p:nvPr/>
        </p:nvSpPr>
        <p:spPr>
          <a:xfrm>
            <a:off x="6414516" y="2075688"/>
            <a:ext cx="2183130" cy="365759"/>
          </a:xfrm>
          <a:prstGeom prst="rect">
            <a:avLst/>
          </a:prstGeom>
          <a:noFill/>
        </p:spPr>
        <p:txBody>
          <a:bodyPr wrap="square" lIns="0" rIns="0" tIns="0" bIns="0" anchor="t">
            <a:noAutofit/>
          </a:bodyPr>
          <a:lstStyle/>
          <a:p>
            <a:pPr algn="l" marL="0" indent="0">
              <a:buNone/>
            </a:pPr>
            <a:r>
              <a:rPr sz="1200" b="0" i="0">
                <a:solidFill>
                  <a:srgbClr val="4A4F57"/>
                </a:solidFill>
                <a:latin typeface="Calibri"/>
              </a:rPr>
              <a:t>jobs, each in all 3 access modes</a:t>
            </a:r>
          </a:p>
        </p:txBody>
      </p:sp>
      <p:sp>
        <p:nvSpPr>
          <p:cNvPr id="13" name="Rectangle 12"/>
          <p:cNvSpPr/>
          <p:nvPr/>
        </p:nvSpPr>
        <p:spPr>
          <a:xfrm>
            <a:off x="9054846" y="1417320"/>
            <a:ext cx="2548890" cy="1097280"/>
          </a:xfrm>
          <a:prstGeom prst="rect">
            <a:avLst/>
          </a:prstGeom>
          <a:solidFill>
            <a:srgbClr val="F1F3F6"/>
          </a:solidFill>
          <a:ln>
            <a:noFill/>
          </a:ln>
        </p:spPr>
        <p:txBody>
          <a:bodyPr rtlCol="0" anchor="ctr"/>
          <a:lstStyle/>
          <a:p>
            <a:pPr algn="ctr"/>
          </a:p>
        </p:txBody>
      </p:sp>
      <p:sp>
        <p:nvSpPr>
          <p:cNvPr id="14" name="TextBox 13"/>
          <p:cNvSpPr txBox="1"/>
          <p:nvPr/>
        </p:nvSpPr>
        <p:spPr>
          <a:xfrm>
            <a:off x="9237726" y="1527048"/>
            <a:ext cx="2183130" cy="548640"/>
          </a:xfrm>
          <a:prstGeom prst="rect">
            <a:avLst/>
          </a:prstGeom>
          <a:noFill/>
        </p:spPr>
        <p:txBody>
          <a:bodyPr wrap="square" lIns="0" rIns="0" tIns="0" bIns="0" anchor="ctr">
            <a:noAutofit/>
          </a:bodyPr>
          <a:lstStyle/>
          <a:p>
            <a:pPr algn="l" marL="0" indent="0">
              <a:buNone/>
            </a:pPr>
            <a:r>
              <a:rPr sz="2800" b="1" i="0">
                <a:solidFill>
                  <a:srgbClr val="EB6834"/>
                </a:solidFill>
                <a:latin typeface="Calibri"/>
              </a:rPr>
              <a:t>1,075</a:t>
            </a:r>
          </a:p>
        </p:txBody>
      </p:sp>
      <p:sp>
        <p:nvSpPr>
          <p:cNvPr id="15" name="TextBox 14"/>
          <p:cNvSpPr txBox="1"/>
          <p:nvPr/>
        </p:nvSpPr>
        <p:spPr>
          <a:xfrm>
            <a:off x="9237726" y="2075688"/>
            <a:ext cx="2183130" cy="365759"/>
          </a:xfrm>
          <a:prstGeom prst="rect">
            <a:avLst/>
          </a:prstGeom>
          <a:noFill/>
        </p:spPr>
        <p:txBody>
          <a:bodyPr wrap="square" lIns="0" rIns="0" tIns="0" bIns="0" anchor="t">
            <a:noAutofit/>
          </a:bodyPr>
          <a:lstStyle/>
          <a:p>
            <a:pPr algn="l" marL="0" indent="0">
              <a:buNone/>
            </a:pPr>
            <a:r>
              <a:rPr sz="1200" b="0" i="0">
                <a:solidFill>
                  <a:srgbClr val="4A4F57"/>
                </a:solidFill>
                <a:latin typeface="Calibri"/>
              </a:rPr>
              <a:t>tests collected on gfx942</a:t>
            </a:r>
          </a:p>
        </p:txBody>
      </p:sp>
      <p:graphicFrame>
        <p:nvGraphicFramePr>
          <p:cNvPr id="16" name="Table 15"/>
          <p:cNvGraphicFramePr>
            <a:graphicFrameLocks noGrp="1"/>
          </p:cNvGraphicFramePr>
          <p:nvPr/>
        </p:nvGraphicFramePr>
        <p:xfrm>
          <a:off x="585216" y="2743200"/>
          <a:ext cx="4846320" cy="2468880"/>
        </p:xfrm>
        <a:graphic>
          <a:graphicData uri="http://schemas.openxmlformats.org/drawingml/2006/table">
            <a:tbl>
              <a:tblPr firstRow="1" bandRow="1">
                <a:tableStyleId>{2D5ABB26-0587-4C30-8999-92F81FD0307C}</a:tableStyleId>
              </a:tblPr>
              <a:tblGrid>
                <a:gridCol w="2011680"/>
                <a:gridCol w="1188720"/>
                <a:gridCol w="1645920"/>
              </a:tblGrid>
              <a:tr h="411480">
                <a:tc>
                  <a:txBody>
                    <a:bodyPr wrap="square" lIns="0" rIns="0" tIns="0" bIns="0" anchor="ctr">
                      <a:noAutofit/>
                    </a:bodyPr>
                    <a:lstStyle/>
                    <a:p>
                      <a:pPr algn="l" marL="0" indent="0">
                        <a:buNone/>
                      </a:pPr>
                      <a:r>
                        <a:rPr sz="1300" b="1" i="0">
                          <a:solidFill>
                            <a:srgbClr val="1B1F24"/>
                          </a:solidFill>
                          <a:latin typeface="Calibri"/>
                        </a:rPr>
                        <a:t>Python</a:t>
                      </a:r>
                    </a:p>
                  </a:txBody>
                  <a:tcPr marL="73152" marR="73152" marT="27432" marB="27432">
                    <a:solidFill>
                      <a:srgbClr val="E1E5EA"/>
                    </a:solidFill>
                  </a:tcPr>
                </a:tc>
                <a:tc>
                  <a:txBody>
                    <a:bodyPr wrap="square" lIns="0" rIns="0" tIns="0" bIns="0" anchor="ctr">
                      <a:noAutofit/>
                    </a:bodyPr>
                    <a:lstStyle/>
                    <a:p>
                      <a:pPr algn="l" marL="0" indent="0">
                        <a:buNone/>
                      </a:pPr>
                      <a:r>
                        <a:rPr sz="1300" b="1" i="0">
                          <a:solidFill>
                            <a:srgbClr val="1B1F24"/>
                          </a:solidFill>
                          <a:latin typeface="Calibri"/>
                        </a:rPr>
                        <a:t>Cells</a:t>
                      </a:r>
                    </a:p>
                  </a:txBody>
                  <a:tcPr marL="73152" marR="73152" marT="27432" marB="27432">
                    <a:solidFill>
                      <a:srgbClr val="E1E5EA"/>
                    </a:solidFill>
                  </a:tcPr>
                </a:tc>
                <a:tc>
                  <a:txBody>
                    <a:bodyPr wrap="square" lIns="0" rIns="0" tIns="0" bIns="0" anchor="ctr">
                      <a:noAutofit/>
                    </a:bodyPr>
                    <a:lstStyle/>
                    <a:p>
                      <a:pPr algn="l" marL="0" indent="0">
                        <a:buNone/>
                      </a:pPr>
                      <a:r>
                        <a:rPr sz="1300" b="1" i="0">
                          <a:solidFill>
                            <a:srgbClr val="1B1F24"/>
                          </a:solidFill>
                          <a:latin typeface="Calibri"/>
                        </a:rPr>
                        <a:t>Torch pins</a:t>
                      </a:r>
                    </a:p>
                  </a:txBody>
                  <a:tcPr marL="73152" marR="73152" marT="27432" marB="27432">
                    <a:solidFill>
                      <a:srgbClr val="E1E5EA"/>
                    </a:solidFill>
                  </a:tcPr>
                </a:tc>
              </a:tr>
              <a:tr h="411480">
                <a:tc>
                  <a:txBody>
                    <a:bodyPr wrap="square" lIns="0" rIns="0" tIns="0" bIns="0" anchor="ctr">
                      <a:noAutofit/>
                    </a:bodyPr>
                    <a:lstStyle/>
                    <a:p>
                      <a:pPr algn="l" marL="0" indent="0">
                        <a:buNone/>
                      </a:pPr>
                      <a:r>
                        <a:rPr sz="1300" b="0" i="0">
                          <a:solidFill>
                            <a:srgbClr val="1B1F24"/>
                          </a:solidFill>
                          <a:latin typeface="Calibri"/>
                        </a:rPr>
                        <a:t>3.8</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1</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2.2–2.4</a:t>
                      </a:r>
                    </a:p>
                  </a:txBody>
                  <a:tcPr marL="73152" marR="73152" marT="27432" marB="27432">
                    <a:solidFill>
                      <a:srgbClr val="F1F3F6"/>
                    </a:solidFill>
                  </a:tcPr>
                </a:tc>
              </a:tr>
              <a:tr h="411480">
                <a:tc>
                  <a:txBody>
                    <a:bodyPr wrap="square" lIns="0" rIns="0" tIns="0" bIns="0" anchor="ctr">
                      <a:noAutofit/>
                    </a:bodyPr>
                    <a:lstStyle/>
                    <a:p>
                      <a:pPr algn="l" marL="0" indent="0">
                        <a:buNone/>
                      </a:pPr>
                      <a:r>
                        <a:rPr sz="1300" b="0" i="0">
                          <a:solidFill>
                            <a:srgbClr val="1B1F24"/>
                          </a:solidFill>
                          <a:latin typeface="Calibri"/>
                        </a:rPr>
                        <a:t>3.9</a:t>
                      </a:r>
                    </a:p>
                  </a:txBody>
                  <a:tcPr marL="73152" marR="73152" marT="27432" marB="27432">
                    <a:solidFill>
                      <a:srgbClr val="FFFFFF"/>
                    </a:solidFill>
                  </a:tcPr>
                </a:tc>
                <a:tc>
                  <a:txBody>
                    <a:bodyPr wrap="square" lIns="0" rIns="0" tIns="0" bIns="0" anchor="ctr">
                      <a:noAutofit/>
                    </a:bodyPr>
                    <a:lstStyle/>
                    <a:p>
                      <a:pPr algn="l" marL="0" indent="0">
                        <a:buNone/>
                      </a:pPr>
                      <a:r>
                        <a:rPr sz="1300" b="0" i="0">
                          <a:solidFill>
                            <a:srgbClr val="1B1F24"/>
                          </a:solidFill>
                          <a:latin typeface="Calibri"/>
                        </a:rPr>
                        <a:t>2</a:t>
                      </a:r>
                    </a:p>
                  </a:txBody>
                  <a:tcPr marL="73152" marR="73152" marT="27432" marB="27432">
                    <a:solidFill>
                      <a:srgbClr val="FFFFFF"/>
                    </a:solidFill>
                  </a:tcPr>
                </a:tc>
                <a:tc>
                  <a:txBody>
                    <a:bodyPr wrap="square" lIns="0" rIns="0" tIns="0" bIns="0" anchor="ctr">
                      <a:noAutofit/>
                    </a:bodyPr>
                    <a:lstStyle/>
                    <a:p>
                      <a:pPr algn="l" marL="0" indent="0">
                        <a:buNone/>
                      </a:pPr>
                      <a:r>
                        <a:rPr sz="1300" b="0" i="0">
                          <a:solidFill>
                            <a:srgbClr val="1B1F24"/>
                          </a:solidFill>
                          <a:latin typeface="Calibri"/>
                        </a:rPr>
                        <a:t>2.2–2.8</a:t>
                      </a:r>
                    </a:p>
                  </a:txBody>
                  <a:tcPr marL="73152" marR="73152" marT="27432" marB="27432">
                    <a:solidFill>
                      <a:srgbClr val="FFFFFF"/>
                    </a:solidFill>
                  </a:tcPr>
                </a:tc>
              </a:tr>
              <a:tr h="411480">
                <a:tc>
                  <a:txBody>
                    <a:bodyPr wrap="square" lIns="0" rIns="0" tIns="0" bIns="0" anchor="ctr">
                      <a:noAutofit/>
                    </a:bodyPr>
                    <a:lstStyle/>
                    <a:p>
                      <a:pPr algn="l" marL="0" indent="0">
                        <a:buNone/>
                      </a:pPr>
                      <a:r>
                        <a:rPr sz="1300" b="0" i="0">
                          <a:solidFill>
                            <a:srgbClr val="1B1F24"/>
                          </a:solidFill>
                          <a:latin typeface="Calibri"/>
                        </a:rPr>
                        <a:t>3.10 / 3.11 / 3.12</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2 / 3 / 3</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2.2–2.14</a:t>
                      </a:r>
                    </a:p>
                  </a:txBody>
                  <a:tcPr marL="73152" marR="73152" marT="27432" marB="27432">
                    <a:solidFill>
                      <a:srgbClr val="F1F3F6"/>
                    </a:solidFill>
                  </a:tcPr>
                </a:tc>
              </a:tr>
              <a:tr h="411480">
                <a:tc>
                  <a:txBody>
                    <a:bodyPr wrap="square" lIns="0" rIns="0" tIns="0" bIns="0" anchor="ctr">
                      <a:noAutofit/>
                    </a:bodyPr>
                    <a:lstStyle/>
                    <a:p>
                      <a:pPr algn="l" marL="0" indent="0">
                        <a:buNone/>
                      </a:pPr>
                      <a:r>
                        <a:rPr sz="1300" b="0" i="0">
                          <a:solidFill>
                            <a:srgbClr val="1B1F24"/>
                          </a:solidFill>
                          <a:latin typeface="Calibri"/>
                        </a:rPr>
                        <a:t>3.13</a:t>
                      </a:r>
                    </a:p>
                  </a:txBody>
                  <a:tcPr marL="73152" marR="73152" marT="27432" marB="27432">
                    <a:solidFill>
                      <a:srgbClr val="FFFFFF"/>
                    </a:solidFill>
                  </a:tcPr>
                </a:tc>
                <a:tc>
                  <a:txBody>
                    <a:bodyPr wrap="square" lIns="0" rIns="0" tIns="0" bIns="0" anchor="ctr">
                      <a:noAutofit/>
                    </a:bodyPr>
                    <a:lstStyle/>
                    <a:p>
                      <a:pPr algn="l" marL="0" indent="0">
                        <a:buNone/>
                      </a:pPr>
                      <a:r>
                        <a:rPr sz="1300" b="0" i="0">
                          <a:solidFill>
                            <a:srgbClr val="1B1F24"/>
                          </a:solidFill>
                          <a:latin typeface="Calibri"/>
                        </a:rPr>
                        <a:t>1</a:t>
                      </a:r>
                    </a:p>
                  </a:txBody>
                  <a:tcPr marL="73152" marR="73152" marT="27432" marB="27432">
                    <a:solidFill>
                      <a:srgbClr val="FFFFFF"/>
                    </a:solidFill>
                  </a:tcPr>
                </a:tc>
                <a:tc>
                  <a:txBody>
                    <a:bodyPr wrap="square" lIns="0" rIns="0" tIns="0" bIns="0" anchor="ctr">
                      <a:noAutofit/>
                    </a:bodyPr>
                    <a:lstStyle/>
                    <a:p>
                      <a:pPr algn="l" marL="0" indent="0">
                        <a:buNone/>
                      </a:pPr>
                      <a:r>
                        <a:rPr sz="1300" b="0" i="0">
                          <a:solidFill>
                            <a:srgbClr val="1B1F24"/>
                          </a:solidFill>
                          <a:latin typeface="Calibri"/>
                        </a:rPr>
                        <a:t>2.5–2.14</a:t>
                      </a:r>
                    </a:p>
                  </a:txBody>
                  <a:tcPr marL="73152" marR="73152" marT="27432" marB="27432">
                    <a:solidFill>
                      <a:srgbClr val="FFFFFF"/>
                    </a:solidFill>
                  </a:tcPr>
                </a:tc>
              </a:tr>
              <a:tr h="411480">
                <a:tc>
                  <a:txBody>
                    <a:bodyPr wrap="square" lIns="0" rIns="0" tIns="0" bIns="0" anchor="ctr">
                      <a:noAutofit/>
                    </a:bodyPr>
                    <a:lstStyle/>
                    <a:p>
                      <a:pPr algn="l" marL="0" indent="0">
                        <a:buNone/>
                      </a:pPr>
                      <a:r>
                        <a:rPr sz="1300" b="0" i="0">
                          <a:solidFill>
                            <a:srgbClr val="1B1F24"/>
                          </a:solidFill>
                          <a:latin typeface="Calibri"/>
                        </a:rPr>
                        <a:t>3.14 / 3.14t</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2 / 1</a:t>
                      </a:r>
                    </a:p>
                  </a:txBody>
                  <a:tcPr marL="73152" marR="73152" marT="27432" marB="27432">
                    <a:solidFill>
                      <a:srgbClr val="F1F3F6"/>
                    </a:solidFill>
                  </a:tcPr>
                </a:tc>
                <a:tc>
                  <a:txBody>
                    <a:bodyPr wrap="square" lIns="0" rIns="0" tIns="0" bIns="0" anchor="ctr">
                      <a:noAutofit/>
                    </a:bodyPr>
                    <a:lstStyle/>
                    <a:p>
                      <a:pPr algn="l" marL="0" indent="0">
                        <a:buNone/>
                      </a:pPr>
                      <a:r>
                        <a:rPr sz="1300" b="0" i="0">
                          <a:solidFill>
                            <a:srgbClr val="1B1F24"/>
                          </a:solidFill>
                          <a:latin typeface="Calibri"/>
                        </a:rPr>
                        <a:t>2.9–2.14</a:t>
                      </a:r>
                    </a:p>
                  </a:txBody>
                  <a:tcPr marL="73152" marR="73152" marT="27432" marB="27432">
                    <a:solidFill>
                      <a:srgbClr val="F1F3F6"/>
                    </a:solidFill>
                  </a:tcPr>
                </a:tc>
              </a:tr>
            </a:tbl>
          </a:graphicData>
        </a:graphic>
      </p:graphicFrame>
      <p:sp>
        <p:nvSpPr>
          <p:cNvPr id="17" name="TextBox 16"/>
          <p:cNvSpPr txBox="1"/>
          <p:nvPr/>
        </p:nvSpPr>
        <p:spPr>
          <a:xfrm>
            <a:off x="585216" y="5349240"/>
            <a:ext cx="4846320" cy="685800"/>
          </a:xfrm>
          <a:prstGeom prst="rect">
            <a:avLst/>
          </a:prstGeom>
          <a:noFill/>
        </p:spPr>
        <p:txBody>
          <a:bodyPr wrap="square" lIns="0" rIns="0" tIns="0" bIns="0" anchor="t">
            <a:noAutofit/>
          </a:bodyPr>
          <a:lstStyle/>
          <a:p>
            <a:pPr algn="l" marL="0" indent="0">
              <a:buNone/>
            </a:pPr>
            <a:r>
              <a:rPr sz="1200" b="0" i="0">
                <a:solidFill>
                  <a:srgbClr val="7A7F87"/>
                </a:solidFill>
                <a:latin typeface="Calibri"/>
              </a:rPr>
              <a:t>Ubuntu 22.04 / 24.04 / 26.04, Debian 12, AlmaLinux 9, manylinux_2_28. 3.13t: local script only.</a:t>
            </a:r>
          </a:p>
        </p:txBody>
      </p:sp>
      <p:sp>
        <p:nvSpPr>
          <p:cNvPr id="18" name="Rectangle 17"/>
          <p:cNvSpPr/>
          <p:nvPr/>
        </p:nvSpPr>
        <p:spPr>
          <a:xfrm>
            <a:off x="5715000" y="2743200"/>
            <a:ext cx="5891479" cy="45720"/>
          </a:xfrm>
          <a:prstGeom prst="rect">
            <a:avLst/>
          </a:prstGeom>
          <a:solidFill>
            <a:srgbClr val="EB6834"/>
          </a:solidFill>
          <a:ln>
            <a:noFill/>
          </a:ln>
        </p:spPr>
        <p:txBody>
          <a:bodyPr rtlCol="0" anchor="ctr"/>
          <a:lstStyle/>
          <a:p>
            <a:pPr algn="ctr"/>
          </a:p>
        </p:txBody>
      </p:sp>
      <p:sp>
        <p:nvSpPr>
          <p:cNvPr id="19" name="Rectangle 18"/>
          <p:cNvSpPr/>
          <p:nvPr/>
        </p:nvSpPr>
        <p:spPr>
          <a:xfrm>
            <a:off x="5715000" y="2788920"/>
            <a:ext cx="5891479" cy="411480"/>
          </a:xfrm>
          <a:prstGeom prst="rect">
            <a:avLst/>
          </a:prstGeom>
          <a:solidFill>
            <a:srgbClr val="E1E5EA"/>
          </a:solidFill>
          <a:ln>
            <a:noFill/>
          </a:ln>
        </p:spPr>
        <p:txBody>
          <a:bodyPr rtlCol="0" anchor="ctr"/>
          <a:lstStyle/>
          <a:p>
            <a:pPr algn="ctr"/>
          </a:p>
        </p:txBody>
      </p:sp>
      <p:sp>
        <p:nvSpPr>
          <p:cNvPr id="20" name="Rectangle 19"/>
          <p:cNvSpPr/>
          <p:nvPr/>
        </p:nvSpPr>
        <p:spPr>
          <a:xfrm>
            <a:off x="5715000" y="3200400"/>
            <a:ext cx="5891479" cy="2971800"/>
          </a:xfrm>
          <a:prstGeom prst="rect">
            <a:avLst/>
          </a:prstGeom>
          <a:solidFill>
            <a:srgbClr val="F1F3F6"/>
          </a:solidFill>
          <a:ln>
            <a:noFill/>
          </a:ln>
        </p:spPr>
        <p:txBody>
          <a:bodyPr rtlCol="0" anchor="ctr"/>
          <a:lstStyle/>
          <a:p>
            <a:pPr algn="ctr"/>
          </a:p>
        </p:txBody>
      </p:sp>
      <p:sp>
        <p:nvSpPr>
          <p:cNvPr id="21" name="TextBox 20"/>
          <p:cNvSpPr txBox="1"/>
          <p:nvPr/>
        </p:nvSpPr>
        <p:spPr>
          <a:xfrm>
            <a:off x="5897880" y="2788920"/>
            <a:ext cx="5525719" cy="411480"/>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Testing without a GPU</a:t>
            </a:r>
          </a:p>
        </p:txBody>
      </p:sp>
      <p:sp>
        <p:nvSpPr>
          <p:cNvPr id="22" name="TextBox 21"/>
          <p:cNvSpPr txBox="1"/>
          <p:nvPr/>
        </p:nvSpPr>
        <p:spPr>
          <a:xfrm>
            <a:off x="5916168" y="3337560"/>
            <a:ext cx="5489143" cy="2743200"/>
          </a:xfrm>
          <a:prstGeom prst="rect">
            <a:avLst/>
          </a:prstGeom>
          <a:noFill/>
        </p:spPr>
        <p:txBody>
          <a:bodyPr wrap="square" lIns="0" rIns="0" tIns="0" bIns="0" anchor="t">
            <a:noAutofit/>
          </a:bodyPr>
          <a:lstStyle/>
          <a:p>
            <a:pPr algn="l" marL="201168" indent="-201168">
              <a:spcAft>
                <a:spcPts val="600"/>
              </a:spcAft>
              <a:buClr>
                <a:srgbClr val="7A7F87"/>
              </a:buClr>
              <a:buFont typeface="Arial"/>
              <a:buChar char="•"/>
            </a:pPr>
            <a:r>
              <a:rPr sz="1200" b="1" i="0">
                <a:solidFill>
                  <a:srgbClr val="4A4F57"/>
                </a:solidFill>
                <a:latin typeface="Calibri"/>
              </a:rPr>
              <a:t>Stub driver: </a:t>
            </a:r>
            <a:r>
              <a:rPr sz="1200" b="0" i="0">
                <a:solidFill>
                  <a:srgbClr val="4A4F57"/>
                </a:solidFill>
                <a:latin typeface="Calibri"/>
              </a:rPr>
              <a:t>the real rendered module, built with cc, records grid, block, stream and params.</a:t>
            </a:r>
          </a:p>
          <a:p>
            <a:pPr algn="l" marL="201168" indent="-201168">
              <a:spcAft>
                <a:spcPts val="600"/>
              </a:spcAft>
              <a:buClr>
                <a:srgbClr val="7A7F87"/>
              </a:buClr>
              <a:buFont typeface="Arial"/>
              <a:buChar char="•"/>
            </a:pPr>
            <a:r>
              <a:rPr sz="1200" b="1" i="0">
                <a:solidFill>
                  <a:srgbClr val="4A4F57"/>
                </a:solidFill>
                <a:latin typeface="Calibri"/>
              </a:rPr>
              <a:t>no_gpu=True: </a:t>
            </a:r>
            <a:r>
              <a:rPr sz="1200" b="0" i="0">
                <a:solidFill>
                  <a:srgbClr val="4A4F57"/>
                </a:solidFill>
                <a:latin typeface="Calibri"/>
              </a:rPr>
              <a:t>no target query, no driver dlopen; only intj args -&gt; spec-key and the cache lookup run.</a:t>
            </a:r>
          </a:p>
          <a:p>
            <a:pPr algn="l" marL="201168" indent="-201168">
              <a:spcAft>
                <a:spcPts val="600"/>
              </a:spcAft>
              <a:buClr>
                <a:srgbClr val="7A7F87"/>
              </a:buClr>
              <a:buFont typeface="Arial"/>
              <a:buChar char="•"/>
            </a:pPr>
            <a:r>
              <a:rPr sz="1200" b="1" i="0">
                <a:solidFill>
                  <a:srgbClr val="4A4F57"/>
                </a:solidFill>
                <a:latin typeface="Calibri"/>
              </a:rPr>
              <a:t>Fake driver: </a:t>
            </a:r>
            <a:r>
              <a:rPr sz="1200" b="0" i="0">
                <a:solidFill>
                  <a:srgbClr val="4A4F57"/>
                </a:solidFill>
                <a:latin typeface="Calibri"/>
              </a:rPr>
              <a:t>tests patch the driver to device 0, stream 0, a hip / host target.</a:t>
            </a:r>
          </a:p>
          <a:p>
            <a:pPr algn="l" marL="201168" indent="-201168">
              <a:spcAft>
                <a:spcPts val="600"/>
              </a:spcAft>
              <a:buClr>
                <a:srgbClr val="7A7F87"/>
              </a:buClr>
              <a:buFont typeface="Arial"/>
              <a:buChar char="•"/>
            </a:pPr>
            <a:r>
              <a:rPr sz="1200" b="1" i="0">
                <a:solidFill>
                  <a:srgbClr val="4A4F57"/>
                </a:solidFill>
                <a:latin typeface="Calibri"/>
              </a:rPr>
              <a:t>No-GPU-query proof: </a:t>
            </a:r>
            <a:r>
              <a:rPr sz="1200" b="0" i="0">
                <a:solidFill>
                  <a:srgbClr val="4A4F57"/>
                </a:solidFill>
                <a:latin typeface="Calibri"/>
              </a:rPr>
              <a:t>the target query is patched to raise.</a:t>
            </a:r>
          </a:p>
          <a:p>
            <a:pPr algn="l" marL="201168" indent="-201168">
              <a:buClr>
                <a:srgbClr val="7A7F87"/>
              </a:buClr>
              <a:buFont typeface="Arial"/>
              <a:buChar char="•"/>
            </a:pPr>
            <a:r>
              <a:rPr sz="1200" b="1" i="0">
                <a:solidFill>
                  <a:srgbClr val="4A4F57"/>
                </a:solidFill>
                <a:latin typeface="Calibri"/>
              </a:rPr>
              <a:t>On GPUs: </a:t>
            </a:r>
            <a:r>
              <a:rPr sz="1200" b="0" i="0">
                <a:solidFill>
                  <a:srgbClr val="4A4F57"/>
                </a:solidFill>
                <a:latin typeface="Calibri"/>
              </a:rPr>
              <a:t>full suite on MI308X (triton 3.7.1, 3.8.0) and RTX 4080 SUPER (869 passed, 21 skipped at 9682f5c).</a:t>
            </a:r>
          </a:p>
        </p:txBody>
      </p:sp>
      <p:sp>
        <p:nvSpPr>
          <p:cNvPr id="23" name="TextBox 22"/>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ci/matrix.json, ci/image.py, ci/AGENTS.md, tests/test_runtime.py, tests/test_compat.py, README.md.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Micro optimization: the call, and a map built for 1–8 entries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20</a:t>
            </a:r>
          </a:p>
        </p:txBody>
      </p:sp>
      <p:sp>
        <p:nvSpPr>
          <p:cNvPr id="4" name="Rectangle 3"/>
          <p:cNvSpPr/>
          <p:nvPr/>
        </p:nvSpPr>
        <p:spPr>
          <a:xfrm>
            <a:off x="585216" y="1371600"/>
            <a:ext cx="5372100" cy="1600200"/>
          </a:xfrm>
          <a:prstGeom prst="rect">
            <a:avLst/>
          </a:prstGeom>
          <a:solidFill>
            <a:srgbClr val="F1F3F6"/>
          </a:solidFill>
          <a:ln>
            <a:noFill/>
          </a:ln>
        </p:spPr>
        <p:txBody>
          <a:bodyPr rtlCol="0" anchor="ctr"/>
          <a:lstStyle/>
          <a:p>
            <a:pPr algn="ctr"/>
          </a:p>
        </p:txBody>
      </p:sp>
      <p:sp>
        <p:nvSpPr>
          <p:cNvPr id="5" name="Oval 4"/>
          <p:cNvSpPr/>
          <p:nvPr/>
        </p:nvSpPr>
        <p:spPr>
          <a:xfrm>
            <a:off x="768096" y="1554480"/>
            <a:ext cx="384048" cy="384048"/>
          </a:xfrm>
          <a:prstGeom prst="ellipse">
            <a:avLst/>
          </a:prstGeom>
          <a:solidFill>
            <a:srgbClr val="EB6834"/>
          </a:solidFill>
          <a:ln>
            <a:noFill/>
          </a:ln>
        </p:spPr>
        <p:txBody>
          <a:bodyPr rtlCol="0" anchor="ctr" wrap="square" lIns="0" rIns="0" tIns="0" bIns="0">
            <a:noAutofit/>
          </a:bodyPr>
          <a:lstStyle/>
          <a:p>
            <a:pPr algn="ctr" marL="0" indent="0">
              <a:buNone/>
            </a:pPr>
            <a:r>
              <a:rPr sz="1400" b="1" i="0">
                <a:solidFill>
                  <a:srgbClr val="1B1F24"/>
                </a:solidFill>
                <a:latin typeface="Calibri"/>
              </a:rPr>
              <a:t>1</a:t>
            </a:r>
          </a:p>
        </p:txBody>
      </p:sp>
      <p:sp>
        <p:nvSpPr>
          <p:cNvPr id="6" name="TextBox 5"/>
          <p:cNvSpPr txBox="1"/>
          <p:nvPr/>
        </p:nvSpPr>
        <p:spPr>
          <a:xfrm>
            <a:off x="1271016" y="1554480"/>
            <a:ext cx="2354580" cy="384048"/>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Specialized entry + FASTCALL</a:t>
            </a:r>
          </a:p>
        </p:txBody>
      </p:sp>
      <p:sp>
        <p:nvSpPr>
          <p:cNvPr id="7" name="TextBox 6"/>
          <p:cNvSpPr txBox="1"/>
          <p:nvPr/>
        </p:nvSpPr>
        <p:spPr>
          <a:xfrm>
            <a:off x="3579875" y="1481328"/>
            <a:ext cx="2194560" cy="457200"/>
          </a:xfrm>
          <a:prstGeom prst="rect">
            <a:avLst/>
          </a:prstGeom>
          <a:noFill/>
        </p:spPr>
        <p:txBody>
          <a:bodyPr wrap="square" lIns="0" rIns="0" tIns="0" bIns="0" anchor="ctr">
            <a:noAutofit/>
          </a:bodyPr>
          <a:lstStyle/>
          <a:p>
            <a:pPr algn="r" marL="0" indent="0">
              <a:buNone/>
            </a:pPr>
            <a:r>
              <a:rPr sz="2000" b="1" i="0">
                <a:solidFill>
                  <a:srgbClr val="EB6834"/>
                </a:solidFill>
                <a:latin typeface="Calibri"/>
              </a:rPr>
              <a:t>183 → 118 ns</a:t>
            </a:r>
          </a:p>
        </p:txBody>
      </p:sp>
      <p:sp>
        <p:nvSpPr>
          <p:cNvPr id="8" name="TextBox 7"/>
          <p:cNvSpPr txBox="1"/>
          <p:nvPr/>
        </p:nvSpPr>
        <p:spPr>
          <a:xfrm>
            <a:off x="2574035" y="1956816"/>
            <a:ext cx="3200400" cy="274320"/>
          </a:xfrm>
          <a:prstGeom prst="rect">
            <a:avLst/>
          </a:prstGeom>
          <a:noFill/>
        </p:spPr>
        <p:txBody>
          <a:bodyPr wrap="square" lIns="0" rIns="0" tIns="0" bIns="0" anchor="t">
            <a:noAutofit/>
          </a:bodyPr>
          <a:lstStyle/>
          <a:p>
            <a:pPr algn="r" marL="0" indent="0">
              <a:buNone/>
            </a:pPr>
            <a:r>
              <a:rPr sz="1000" b="0" i="0">
                <a:solidFill>
                  <a:srgbClr val="7A7F87"/>
                </a:solidFill>
                <a:latin typeface="Calibri"/>
              </a:rPr>
              <a:t>32 int args, same key (c7c1be5)</a:t>
            </a:r>
          </a:p>
        </p:txBody>
      </p:sp>
      <p:sp>
        <p:nvSpPr>
          <p:cNvPr id="9" name="TextBox 8"/>
          <p:cNvSpPr txBox="1"/>
          <p:nvPr/>
        </p:nvSpPr>
        <p:spPr>
          <a:xfrm>
            <a:off x="813816" y="2286000"/>
            <a:ext cx="4914900" cy="640080"/>
          </a:xfrm>
          <a:prstGeom prst="rect">
            <a:avLst/>
          </a:prstGeom>
          <a:noFill/>
        </p:spPr>
        <p:txBody>
          <a:bodyPr wrap="square" lIns="0" rIns="0" tIns="0" bIns="0" anchor="t">
            <a:noAutofit/>
          </a:bodyPr>
          <a:lstStyle/>
          <a:p>
            <a:pPr algn="l" marL="201168" indent="-201168">
              <a:buClr>
                <a:srgbClr val="7A7F87"/>
              </a:buClr>
              <a:buFont typeface="Arial"/>
              <a:buChar char="•"/>
            </a:pPr>
            <a:r>
              <a:rPr sz="1200" b="0" i="0">
                <a:solidFill>
                  <a:srgbClr val="4A4F57"/>
                </a:solidFill>
                <a:latin typeface="Calibri"/>
              </a:rPr>
              <a:t>METH_FASTCALL lets CPython specialize the call site to CALL_BUILTIN_FAST.</a:t>
            </a:r>
          </a:p>
        </p:txBody>
      </p:sp>
      <p:sp>
        <p:nvSpPr>
          <p:cNvPr id="10" name="Rectangle 9"/>
          <p:cNvSpPr/>
          <p:nvPr/>
        </p:nvSpPr>
        <p:spPr>
          <a:xfrm>
            <a:off x="6231636" y="1371600"/>
            <a:ext cx="5372100" cy="1600200"/>
          </a:xfrm>
          <a:prstGeom prst="rect">
            <a:avLst/>
          </a:prstGeom>
          <a:solidFill>
            <a:srgbClr val="F1F3F6"/>
          </a:solidFill>
          <a:ln>
            <a:noFill/>
          </a:ln>
        </p:spPr>
        <p:txBody>
          <a:bodyPr rtlCol="0" anchor="ctr"/>
          <a:lstStyle/>
          <a:p>
            <a:pPr algn="ctr"/>
          </a:p>
        </p:txBody>
      </p:sp>
      <p:sp>
        <p:nvSpPr>
          <p:cNvPr id="11" name="Oval 10"/>
          <p:cNvSpPr/>
          <p:nvPr/>
        </p:nvSpPr>
        <p:spPr>
          <a:xfrm>
            <a:off x="6414516" y="1554480"/>
            <a:ext cx="384048" cy="384048"/>
          </a:xfrm>
          <a:prstGeom prst="ellipse">
            <a:avLst/>
          </a:prstGeom>
          <a:solidFill>
            <a:srgbClr val="EB6834"/>
          </a:solidFill>
          <a:ln>
            <a:noFill/>
          </a:ln>
        </p:spPr>
        <p:txBody>
          <a:bodyPr rtlCol="0" anchor="ctr" wrap="square" lIns="0" rIns="0" tIns="0" bIns="0">
            <a:noAutofit/>
          </a:bodyPr>
          <a:lstStyle/>
          <a:p>
            <a:pPr algn="ctr" marL="0" indent="0">
              <a:buNone/>
            </a:pPr>
            <a:r>
              <a:rPr sz="1400" b="1" i="0">
                <a:solidFill>
                  <a:srgbClr val="1B1F24"/>
                </a:solidFill>
                <a:latin typeface="Calibri"/>
              </a:rPr>
              <a:t>2</a:t>
            </a:r>
          </a:p>
        </p:txBody>
      </p:sp>
      <p:sp>
        <p:nvSpPr>
          <p:cNvPr id="12" name="TextBox 11"/>
          <p:cNvSpPr txBox="1"/>
          <p:nvPr/>
        </p:nvSpPr>
        <p:spPr>
          <a:xfrm>
            <a:off x="6917436" y="1554480"/>
            <a:ext cx="2354580" cy="384048"/>
          </a:xfrm>
          <a:prstGeom prst="rect">
            <a:avLst/>
          </a:prstGeom>
          <a:noFill/>
        </p:spPr>
        <p:txBody>
          <a:bodyPr wrap="square" lIns="0" rIns="0" tIns="0" bIns="0" anchor="ctr">
            <a:noAutofit/>
          </a:bodyPr>
          <a:lstStyle/>
          <a:p>
            <a:pPr algn="l" marL="0" indent="0">
              <a:buNone/>
            </a:pPr>
            <a:r>
              <a:rPr sz="1400" b="1" i="0">
                <a:solidFill>
                  <a:srgbClr val="1B1F24"/>
                </a:solidFill>
                <a:latin typeface="Calibri"/>
              </a:rPr>
              <a:t>Hash table for a sparse load</a:t>
            </a:r>
          </a:p>
        </p:txBody>
      </p:sp>
      <p:sp>
        <p:nvSpPr>
          <p:cNvPr id="13" name="TextBox 12"/>
          <p:cNvSpPr txBox="1"/>
          <p:nvPr/>
        </p:nvSpPr>
        <p:spPr>
          <a:xfrm>
            <a:off x="9226296" y="1481328"/>
            <a:ext cx="2194560" cy="457200"/>
          </a:xfrm>
          <a:prstGeom prst="rect">
            <a:avLst/>
          </a:prstGeom>
          <a:noFill/>
        </p:spPr>
        <p:txBody>
          <a:bodyPr wrap="square" lIns="0" rIns="0" tIns="0" bIns="0" anchor="ctr">
            <a:noAutofit/>
          </a:bodyPr>
          <a:lstStyle/>
          <a:p>
            <a:pPr algn="r" marL="0" indent="0">
              <a:buNone/>
            </a:pPr>
            <a:r>
              <a:rPr sz="2000" b="1" i="0">
                <a:solidFill>
                  <a:srgbClr val="EB6834"/>
                </a:solidFill>
                <a:latin typeface="Calibri"/>
              </a:rPr>
              <a:t>107 → 69 ns</a:t>
            </a:r>
          </a:p>
        </p:txBody>
      </p:sp>
      <p:sp>
        <p:nvSpPr>
          <p:cNvPr id="14" name="TextBox 13"/>
          <p:cNvSpPr txBox="1"/>
          <p:nvPr/>
        </p:nvSpPr>
        <p:spPr>
          <a:xfrm>
            <a:off x="8220455" y="1956816"/>
            <a:ext cx="3200400" cy="274320"/>
          </a:xfrm>
          <a:prstGeom prst="rect">
            <a:avLst/>
          </a:prstGeom>
          <a:noFill/>
        </p:spPr>
        <p:txBody>
          <a:bodyPr wrap="square" lIns="0" rIns="0" tIns="0" bIns="0" anchor="t">
            <a:noAutofit/>
          </a:bodyPr>
          <a:lstStyle/>
          <a:p>
            <a:pPr algn="r" marL="0" indent="0">
              <a:buNone/>
            </a:pPr>
            <a:r>
              <a:rPr sz="1000" b="0" i="0">
                <a:solidFill>
                  <a:srgbClr val="7A7F87"/>
                </a:solidFill>
                <a:latin typeface="Calibri"/>
              </a:rPr>
              <a:t>32 constexpr args, same key (7ad507d)</a:t>
            </a:r>
          </a:p>
        </p:txBody>
      </p:sp>
      <p:sp>
        <p:nvSpPr>
          <p:cNvPr id="15" name="TextBox 14"/>
          <p:cNvSpPr txBox="1"/>
          <p:nvPr/>
        </p:nvSpPr>
        <p:spPr>
          <a:xfrm>
            <a:off x="6460236" y="2286000"/>
            <a:ext cx="4914900" cy="640080"/>
          </a:xfrm>
          <a:prstGeom prst="rect">
            <a:avLst/>
          </a:prstGeom>
          <a:noFill/>
        </p:spPr>
        <p:txBody>
          <a:bodyPr wrap="square" lIns="0" rIns="0" tIns="0" bIns="0" anchor="t">
            <a:noAutofit/>
          </a:bodyPr>
          <a:lstStyle/>
          <a:p>
            <a:pPr algn="l" marL="201168" indent="-201168">
              <a:spcAft>
                <a:spcPts val="400"/>
              </a:spcAft>
              <a:buClr>
                <a:srgbClr val="7A7F87"/>
              </a:buClr>
              <a:buFont typeface="Arial"/>
              <a:buChar char="•"/>
            </a:pPr>
            <a:r>
              <a:rPr sz="1200" b="0" i="0">
                <a:solidFill>
                  <a:srgbClr val="4A4F57"/>
                </a:solidFill>
                <a:latin typeface="Calibri"/>
              </a:rPr>
              <a:t>Open addressing, values inline, 50% max load; real launchers hold 1–8 entries.</a:t>
            </a:r>
          </a:p>
          <a:p>
            <a:pPr algn="l" marL="201168" indent="-201168">
              <a:buClr>
                <a:srgbClr val="7A7F87"/>
              </a:buClr>
              <a:buFont typeface="Arial"/>
              <a:buChar char="•"/>
            </a:pPr>
            <a:r>
              <a:rPr sz="1200" b="0" i="0">
                <a:solidFill>
                  <a:srgbClr val="4A4F57"/>
                </a:solidFill>
                <a:latin typeface="Calibri"/>
              </a:rPr>
              <a:t>A one-entry memo of the last hit is compared before hashing.</a:t>
            </a:r>
          </a:p>
        </p:txBody>
      </p:sp>
      <p:sp>
        <p:nvSpPr>
          <p:cNvPr id="16" name="TextBox 15"/>
          <p:cNvSpPr txBox="1"/>
          <p:nvPr/>
        </p:nvSpPr>
        <p:spPr>
          <a:xfrm>
            <a:off x="585216" y="3154680"/>
            <a:ext cx="6035040"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Map hit (ns) vs live entries, 2-word key</a:t>
            </a:r>
          </a:p>
        </p:txBody>
      </p:sp>
      <p:sp>
        <p:nvSpPr>
          <p:cNvPr id="17" name="Rectangle 16"/>
          <p:cNvSpPr/>
          <p:nvPr/>
        </p:nvSpPr>
        <p:spPr>
          <a:xfrm>
            <a:off x="585216" y="3502152"/>
            <a:ext cx="155448" cy="155448"/>
          </a:xfrm>
          <a:prstGeom prst="rect">
            <a:avLst/>
          </a:prstGeom>
          <a:solidFill>
            <a:srgbClr val="EB6834"/>
          </a:solidFill>
          <a:ln>
            <a:noFill/>
          </a:ln>
        </p:spPr>
        <p:txBody>
          <a:bodyPr rtlCol="0" anchor="ctr"/>
          <a:lstStyle/>
          <a:p>
            <a:pPr algn="ctr"/>
          </a:p>
        </p:txBody>
      </p:sp>
      <p:sp>
        <p:nvSpPr>
          <p:cNvPr id="18" name="TextBox 17"/>
          <p:cNvSpPr txBox="1"/>
          <p:nvPr/>
        </p:nvSpPr>
        <p:spPr>
          <a:xfrm>
            <a:off x="822960" y="3429000"/>
            <a:ext cx="53949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intj</a:t>
            </a:r>
          </a:p>
        </p:txBody>
      </p:sp>
      <p:sp>
        <p:nvSpPr>
          <p:cNvPr id="19" name="Rectangle 18"/>
          <p:cNvSpPr/>
          <p:nvPr/>
        </p:nvSpPr>
        <p:spPr>
          <a:xfrm>
            <a:off x="1545336" y="3502152"/>
            <a:ext cx="155448" cy="155448"/>
          </a:xfrm>
          <a:prstGeom prst="rect">
            <a:avLst/>
          </a:prstGeom>
          <a:solidFill>
            <a:srgbClr val="1BAF7A"/>
          </a:solidFill>
          <a:ln>
            <a:noFill/>
          </a:ln>
        </p:spPr>
        <p:txBody>
          <a:bodyPr rtlCol="0" anchor="ctr"/>
          <a:lstStyle/>
          <a:p>
            <a:pPr algn="ctr"/>
          </a:p>
        </p:txBody>
      </p:sp>
      <p:sp>
        <p:nvSpPr>
          <p:cNvPr id="20" name="TextBox 19"/>
          <p:cNvSpPr txBox="1"/>
          <p:nvPr/>
        </p:nvSpPr>
        <p:spPr>
          <a:xfrm>
            <a:off x="1783080" y="3429000"/>
            <a:ext cx="131673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tsl::robin_map</a:t>
            </a:r>
          </a:p>
        </p:txBody>
      </p:sp>
      <p:sp>
        <p:nvSpPr>
          <p:cNvPr id="21" name="Rectangle 20"/>
          <p:cNvSpPr/>
          <p:nvPr/>
        </p:nvSpPr>
        <p:spPr>
          <a:xfrm>
            <a:off x="3282696" y="3502152"/>
            <a:ext cx="155448" cy="155448"/>
          </a:xfrm>
          <a:prstGeom prst="rect">
            <a:avLst/>
          </a:prstGeom>
          <a:solidFill>
            <a:srgbClr val="6B7079"/>
          </a:solidFill>
          <a:ln>
            <a:noFill/>
          </a:ln>
        </p:spPr>
        <p:txBody>
          <a:bodyPr rtlCol="0" anchor="ctr"/>
          <a:lstStyle/>
          <a:p>
            <a:pPr algn="ctr"/>
          </a:p>
        </p:txBody>
      </p:sp>
      <p:sp>
        <p:nvSpPr>
          <p:cNvPr id="22" name="TextBox 21"/>
          <p:cNvSpPr txBox="1"/>
          <p:nvPr/>
        </p:nvSpPr>
        <p:spPr>
          <a:xfrm>
            <a:off x="3520439" y="3429000"/>
            <a:ext cx="1705356" cy="292608"/>
          </a:xfrm>
          <a:prstGeom prst="rect">
            <a:avLst/>
          </a:prstGeom>
          <a:noFill/>
        </p:spPr>
        <p:txBody>
          <a:bodyPr wrap="square" lIns="0" rIns="0" tIns="0" bIns="0" anchor="ctr">
            <a:noAutofit/>
          </a:bodyPr>
          <a:lstStyle/>
          <a:p>
            <a:pPr algn="l" marL="0" indent="0">
              <a:buNone/>
            </a:pPr>
            <a:r>
              <a:rPr sz="1100" b="0" i="0">
                <a:solidFill>
                  <a:srgbClr val="4A4F57"/>
                </a:solidFill>
                <a:latin typeface="Calibri"/>
              </a:rPr>
              <a:t>absl::flat_hash_map</a:t>
            </a:r>
          </a:p>
        </p:txBody>
      </p:sp>
      <p:graphicFrame>
        <p:nvGraphicFramePr>
          <p:cNvPr id="23" name="Chart 22"/>
          <p:cNvGraphicFramePr>
            <a:graphicFrameLocks noGrp="1"/>
          </p:cNvGraphicFramePr>
          <p:nvPr/>
        </p:nvGraphicFramePr>
        <p:xfrm>
          <a:off x="493776" y="3703320"/>
          <a:ext cx="6126479" cy="2011680"/>
        </p:xfrm>
        <a:graphic>
          <a:graphicData uri="http://schemas.openxmlformats.org/drawingml/2006/chart">
            <c:chart xmlns:c="http://schemas.openxmlformats.org/drawingml/2006/chart" r:id="rId3"/>
          </a:graphicData>
        </a:graphic>
      </p:graphicFrame>
      <p:sp>
        <p:nvSpPr>
          <p:cNvPr id="24" name="TextBox 23"/>
          <p:cNvSpPr txBox="1"/>
          <p:nvPr/>
        </p:nvSpPr>
        <p:spPr>
          <a:xfrm>
            <a:off x="6940295" y="3154680"/>
            <a:ext cx="4666183"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Hit at 8 entries (ns), by key length</a:t>
            </a:r>
          </a:p>
        </p:txBody>
      </p:sp>
      <p:graphicFrame>
        <p:nvGraphicFramePr>
          <p:cNvPr id="25" name="Table 24"/>
          <p:cNvGraphicFramePr>
            <a:graphicFrameLocks noGrp="1"/>
          </p:cNvGraphicFramePr>
          <p:nvPr/>
        </p:nvGraphicFramePr>
        <p:xfrm>
          <a:off x="6940295" y="3520440"/>
          <a:ext cx="4666182" cy="1536192"/>
        </p:xfrm>
        <a:graphic>
          <a:graphicData uri="http://schemas.openxmlformats.org/drawingml/2006/table">
            <a:tbl>
              <a:tblPr firstRow="1" bandRow="1">
                <a:tableStyleId>{2D5ABB26-0587-4C30-8999-92F81FD0307C}</a:tableStyleId>
              </a:tblPr>
              <a:tblGrid>
                <a:gridCol w="1417320"/>
                <a:gridCol w="1082954"/>
                <a:gridCol w="1082954"/>
                <a:gridCol w="1082954"/>
              </a:tblGrid>
              <a:tr h="384048">
                <a:tc>
                  <a:txBody>
                    <a:bodyPr wrap="square" lIns="0" rIns="0" tIns="0" bIns="0" anchor="ctr">
                      <a:noAutofit/>
                    </a:bodyPr>
                    <a:lstStyle/>
                    <a:p>
                      <a:pPr algn="l" marL="0" indent="0">
                        <a:buNone/>
                      </a:pPr>
                      <a:r>
                        <a:rPr sz="1200" b="1" i="0">
                          <a:solidFill>
                            <a:srgbClr val="1B1F24"/>
                          </a:solidFill>
                          <a:latin typeface="Calibri"/>
                        </a:rPr>
                        <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intj</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tsl</a:t>
                      </a:r>
                    </a:p>
                  </a:txBody>
                  <a:tcPr marL="73152" marR="73152" marT="27432" marB="27432">
                    <a:solidFill>
                      <a:srgbClr val="E1E5EA"/>
                    </a:solidFill>
                  </a:tcPr>
                </a:tc>
                <a:tc>
                  <a:txBody>
                    <a:bodyPr wrap="square" lIns="0" rIns="0" tIns="0" bIns="0" anchor="ctr">
                      <a:noAutofit/>
                    </a:bodyPr>
                    <a:lstStyle/>
                    <a:p>
                      <a:pPr algn="r" marL="0" indent="0">
                        <a:buNone/>
                      </a:pPr>
                      <a:r>
                        <a:rPr sz="1200" b="1" i="0">
                          <a:solidFill>
                            <a:srgbClr val="1B1F24"/>
                          </a:solidFill>
                          <a:latin typeface="Calibri"/>
                        </a:rPr>
                        <a:t>absl</a:t>
                      </a:r>
                    </a:p>
                  </a:txBody>
                  <a:tcPr marL="73152" marR="73152" marT="27432" marB="27432">
                    <a:solidFill>
                      <a:srgbClr val="E1E5EA"/>
                    </a:solidFill>
                  </a:tcPr>
                </a:tc>
              </a:tr>
              <a:tr h="384048">
                <a:tc>
                  <a:txBody>
                    <a:bodyPr wrap="square" lIns="0" rIns="0" tIns="0" bIns="0" anchor="ctr">
                      <a:noAutofit/>
                    </a:bodyPr>
                    <a:lstStyle/>
                    <a:p>
                      <a:pPr algn="l" marL="0" indent="0">
                        <a:buNone/>
                      </a:pPr>
                      <a:r>
                        <a:rPr sz="1200" b="0" i="0">
                          <a:solidFill>
                            <a:srgbClr val="1B1F24"/>
                          </a:solidFill>
                          <a:latin typeface="Calibri"/>
                        </a:rPr>
                        <a:t>1-word key</a:t>
                      </a:r>
                    </a:p>
                  </a:txBody>
                  <a:tcPr marL="73152" marR="73152" marT="27432" marB="27432">
                    <a:solidFill>
                      <a:srgbClr val="F1F3F6"/>
                    </a:solidFill>
                  </a:tcPr>
                </a:tc>
                <a:tc>
                  <a:txBody>
                    <a:bodyPr wrap="square" lIns="0" rIns="0" tIns="0" bIns="0" anchor="ctr">
                      <a:noAutofit/>
                    </a:bodyPr>
                    <a:lstStyle/>
                    <a:p>
                      <a:pPr algn="r" marL="0" indent="0">
                        <a:buNone/>
                      </a:pPr>
                      <a:r>
                        <a:rPr sz="1200" b="1" i="0">
                          <a:solidFill>
                            <a:srgbClr val="EB6834"/>
                          </a:solidFill>
                          <a:latin typeface="Calibri"/>
                        </a:rPr>
                        <a:t>1.59</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2.10</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4.36</a:t>
                      </a:r>
                    </a:p>
                  </a:txBody>
                  <a:tcPr marL="73152" marR="73152" marT="27432" marB="27432">
                    <a:solidFill>
                      <a:srgbClr val="F1F3F6"/>
                    </a:solidFill>
                  </a:tcPr>
                </a:tc>
              </a:tr>
              <a:tr h="384048">
                <a:tc>
                  <a:txBody>
                    <a:bodyPr wrap="square" lIns="0" rIns="0" tIns="0" bIns="0" anchor="ctr">
                      <a:noAutofit/>
                    </a:bodyPr>
                    <a:lstStyle/>
                    <a:p>
                      <a:pPr algn="l" marL="0" indent="0">
                        <a:buNone/>
                      </a:pPr>
                      <a:r>
                        <a:rPr sz="1200" b="0" i="0">
                          <a:solidFill>
                            <a:srgbClr val="1B1F24"/>
                          </a:solidFill>
                          <a:latin typeface="Calibri"/>
                        </a:rPr>
                        <a:t>2-word key</a:t>
                      </a:r>
                    </a:p>
                  </a:txBody>
                  <a:tcPr marL="73152" marR="73152" marT="27432" marB="27432">
                    <a:solidFill>
                      <a:srgbClr val="FFFFFF"/>
                    </a:solidFill>
                  </a:tcPr>
                </a:tc>
                <a:tc>
                  <a:txBody>
                    <a:bodyPr wrap="square" lIns="0" rIns="0" tIns="0" bIns="0" anchor="ctr">
                      <a:noAutofit/>
                    </a:bodyPr>
                    <a:lstStyle/>
                    <a:p>
                      <a:pPr algn="r" marL="0" indent="0">
                        <a:buNone/>
                      </a:pPr>
                      <a:r>
                        <a:rPr sz="1200" b="1" i="0">
                          <a:solidFill>
                            <a:srgbClr val="EB6834"/>
                          </a:solidFill>
                          <a:latin typeface="Calibri"/>
                        </a:rPr>
                        <a:t>1.79</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2.56</a:t>
                      </a:r>
                    </a:p>
                  </a:txBody>
                  <a:tcPr marL="73152" marR="73152" marT="27432" marB="27432">
                    <a:solidFill>
                      <a:srgbClr val="FFFFFF"/>
                    </a:solidFill>
                  </a:tcPr>
                </a:tc>
                <a:tc>
                  <a:txBody>
                    <a:bodyPr wrap="square" lIns="0" rIns="0" tIns="0" bIns="0" anchor="ctr">
                      <a:noAutofit/>
                    </a:bodyPr>
                    <a:lstStyle/>
                    <a:p>
                      <a:pPr algn="r" marL="0" indent="0">
                        <a:buNone/>
                      </a:pPr>
                      <a:r>
                        <a:rPr sz="1200" b="0" i="0">
                          <a:solidFill>
                            <a:srgbClr val="1B1F24"/>
                          </a:solidFill>
                          <a:latin typeface="Calibri"/>
                        </a:rPr>
                        <a:t>5.04</a:t>
                      </a:r>
                    </a:p>
                  </a:txBody>
                  <a:tcPr marL="73152" marR="73152" marT="27432" marB="27432">
                    <a:solidFill>
                      <a:srgbClr val="FFFFFF"/>
                    </a:solidFill>
                  </a:tcPr>
                </a:tc>
              </a:tr>
              <a:tr h="384048">
                <a:tc>
                  <a:txBody>
                    <a:bodyPr wrap="square" lIns="0" rIns="0" tIns="0" bIns="0" anchor="ctr">
                      <a:noAutofit/>
                    </a:bodyPr>
                    <a:lstStyle/>
                    <a:p>
                      <a:pPr algn="l" marL="0" indent="0">
                        <a:buNone/>
                      </a:pPr>
                      <a:r>
                        <a:rPr sz="1200" b="0" i="0">
                          <a:solidFill>
                            <a:srgbClr val="1B1F24"/>
                          </a:solidFill>
                          <a:latin typeface="Calibri"/>
                        </a:rPr>
                        <a:t>5-word key</a:t>
                      </a:r>
                    </a:p>
                  </a:txBody>
                  <a:tcPr marL="73152" marR="73152" marT="27432" marB="27432">
                    <a:solidFill>
                      <a:srgbClr val="F1F3F6"/>
                    </a:solidFill>
                  </a:tcPr>
                </a:tc>
                <a:tc>
                  <a:txBody>
                    <a:bodyPr wrap="square" lIns="0" rIns="0" tIns="0" bIns="0" anchor="ctr">
                      <a:noAutofit/>
                    </a:bodyPr>
                    <a:lstStyle/>
                    <a:p>
                      <a:pPr algn="r" marL="0" indent="0">
                        <a:buNone/>
                      </a:pPr>
                      <a:r>
                        <a:rPr sz="1200" b="1" i="0">
                          <a:solidFill>
                            <a:srgbClr val="EB6834"/>
                          </a:solidFill>
                          <a:latin typeface="Calibri"/>
                        </a:rPr>
                        <a:t>3.20</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3.41</a:t>
                      </a:r>
                    </a:p>
                  </a:txBody>
                  <a:tcPr marL="73152" marR="73152" marT="27432" marB="27432">
                    <a:solidFill>
                      <a:srgbClr val="F1F3F6"/>
                    </a:solidFill>
                  </a:tcPr>
                </a:tc>
                <a:tc>
                  <a:txBody>
                    <a:bodyPr wrap="square" lIns="0" rIns="0" tIns="0" bIns="0" anchor="ctr">
                      <a:noAutofit/>
                    </a:bodyPr>
                    <a:lstStyle/>
                    <a:p>
                      <a:pPr algn="r" marL="0" indent="0">
                        <a:buNone/>
                      </a:pPr>
                      <a:r>
                        <a:rPr sz="1200" b="0" i="0">
                          <a:solidFill>
                            <a:srgbClr val="1B1F24"/>
                          </a:solidFill>
                          <a:latin typeface="Calibri"/>
                        </a:rPr>
                        <a:t>9.48</a:t>
                      </a:r>
                    </a:p>
                  </a:txBody>
                  <a:tcPr marL="73152" marR="73152" marT="27432" marB="27432">
                    <a:solidFill>
                      <a:srgbClr val="F1F3F6"/>
                    </a:solidFill>
                  </a:tcPr>
                </a:tc>
              </a:tr>
            </a:tbl>
          </a:graphicData>
        </a:graphic>
      </p:graphicFrame>
      <p:sp>
        <p:nvSpPr>
          <p:cNvPr id="26" name="TextBox 25"/>
          <p:cNvSpPr txBox="1"/>
          <p:nvPr/>
        </p:nvSpPr>
        <p:spPr>
          <a:xfrm>
            <a:off x="6940295" y="5120640"/>
            <a:ext cx="4666183" cy="548640"/>
          </a:xfrm>
          <a:prstGeom prst="rect">
            <a:avLst/>
          </a:prstGeom>
          <a:noFill/>
        </p:spPr>
        <p:txBody>
          <a:bodyPr wrap="square" lIns="0" rIns="0" tIns="0" bIns="0" anchor="t">
            <a:noAutofit/>
          </a:bodyPr>
          <a:lstStyle/>
          <a:p>
            <a:pPr algn="l" marL="0" indent="0">
              <a:buNone/>
            </a:pPr>
            <a:r>
              <a:rPr sz="1100" b="0" i="0">
                <a:solidFill>
                  <a:srgbClr val="7A7F87"/>
                </a:solidFill>
                <a:latin typeface="Calibri"/>
              </a:rPr>
              <a:t>Same keys, hash precomputed, no last-key memo; MI308X host (Xeon 8480C).</a:t>
            </a:r>
          </a:p>
        </p:txBody>
      </p:sp>
      <p:sp>
        <p:nvSpPr>
          <p:cNvPr id="27" name="Rectangle 26"/>
          <p:cNvSpPr/>
          <p:nvPr/>
        </p:nvSpPr>
        <p:spPr>
          <a:xfrm>
            <a:off x="585216" y="5806440"/>
            <a:ext cx="11018520" cy="429768"/>
          </a:xfrm>
          <a:prstGeom prst="rect">
            <a:avLst/>
          </a:prstGeom>
          <a:solidFill>
            <a:srgbClr val="E1E5EA"/>
          </a:solidFill>
          <a:ln>
            <a:noFill/>
          </a:ln>
        </p:spPr>
        <p:txBody>
          <a:bodyPr rtlCol="0" anchor="ctr"/>
          <a:lstStyle/>
          <a:p>
            <a:pPr algn="ctr"/>
          </a:p>
        </p:txBody>
      </p:sp>
      <p:sp>
        <p:nvSpPr>
          <p:cNvPr id="28" name="TextBox 27"/>
          <p:cNvSpPr txBox="1"/>
          <p:nvPr/>
        </p:nvSpPr>
        <p:spPr>
          <a:xfrm>
            <a:off x="768096" y="5806440"/>
            <a:ext cx="10652760" cy="429768"/>
          </a:xfrm>
          <a:prstGeom prst="rect">
            <a:avLst/>
          </a:prstGeom>
          <a:noFill/>
        </p:spPr>
        <p:txBody>
          <a:bodyPr wrap="square" lIns="0" rIns="0" tIns="0" bIns="0" anchor="ctr">
            <a:noAutofit/>
          </a:bodyPr>
          <a:lstStyle/>
          <a:p>
            <a:pPr algn="l" marL="0" indent="0">
              <a:buNone/>
            </a:pPr>
            <a:r>
              <a:rPr sz="1200" b="1" i="0">
                <a:solidFill>
                  <a:srgbClr val="EB6834"/>
                </a:solidFill>
                <a:latin typeface="Calibri"/>
              </a:rPr>
              <a:t>The loop: </a:t>
            </a:r>
            <a:r>
              <a:rPr sz="1200" b="0" i="0">
                <a:solidFill>
                  <a:srgbClr val="1B1F24"/>
                </a:solidFill>
                <a:latin typeface="Calibri"/>
              </a:rPr>
              <a:t>bench_launch.py --no-gpu | --sweep | --last-key on a pinned core; 5 interleaved processes; a row regresses at &gt; 3% and &gt; 2 ns.</a:t>
            </a:r>
          </a:p>
        </p:txBody>
      </p:sp>
      <p:sp>
        <p:nvSpPr>
          <p:cNvPr id="29" name="TextBox 28"/>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benchmarks/journals/2026-09-28_mix-history_0_6e0d4bc.md (1, 2), data/kernel_cache_map.csv (tests/bench_kernel_cache.cpp, journal 2026-10-14_full-suite_0_bc8caf7.md).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TVM FFI: one unordered_map lookup per argument</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21</a:t>
            </a:r>
          </a:p>
        </p:txBody>
      </p:sp>
      <p:sp>
        <p:nvSpPr>
          <p:cNvPr id="4" name="TextBox 3"/>
          <p:cNvSpPr txBox="1"/>
          <p:nvPr/>
        </p:nvSpPr>
        <p:spPr>
          <a:xfrm>
            <a:off x="585216" y="1371600"/>
            <a:ext cx="5897880"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PyObject* → TVMFFIAny: a hash lookup per argument</a:t>
            </a:r>
          </a:p>
        </p:txBody>
      </p:sp>
      <p:sp>
        <p:nvSpPr>
          <p:cNvPr id="5" name="Rectangle 4"/>
          <p:cNvSpPr/>
          <p:nvPr/>
        </p:nvSpPr>
        <p:spPr>
          <a:xfrm>
            <a:off x="585216" y="1664208"/>
            <a:ext cx="5897880" cy="1965960"/>
          </a:xfrm>
          <a:prstGeom prst="rect">
            <a:avLst/>
          </a:prstGeom>
          <a:solidFill>
            <a:srgbClr val="1F2329"/>
          </a:solidFill>
          <a:ln w="12700">
            <a:solidFill>
              <a:srgbClr val="1F2329"/>
            </a:solidFill>
          </a:ln>
        </p:spPr>
        <p:txBody>
          <a:bodyPr rtlCol="0" anchor="ctr"/>
          <a:lstStyle/>
          <a:p>
            <a:pPr algn="ctr"/>
          </a:p>
        </p:txBody>
      </p:sp>
      <p:sp>
        <p:nvSpPr>
          <p:cNvPr id="6" name="TextBox 5"/>
          <p:cNvSpPr txBox="1"/>
          <p:nvPr/>
        </p:nvSpPr>
        <p:spPr>
          <a:xfrm>
            <a:off x="786384" y="1773936"/>
            <a:ext cx="5495544" cy="1746504"/>
          </a:xfrm>
          <a:prstGeom prst="rect">
            <a:avLst/>
          </a:prstGeom>
          <a:noFill/>
        </p:spPr>
        <p:txBody>
          <a:bodyPr wrap="square" lIns="0" rIns="0" tIns="0" bIns="0" anchor="ctr">
            <a:noAutofit/>
          </a:bodyPr>
          <a:lstStyle/>
          <a:p>
            <a:pPr algn="l" marL="0" indent="0">
              <a:buNone/>
            </a:pPr>
            <a:r>
              <a:rPr sz="1000" b="0" i="0">
                <a:solidFill>
                  <a:srgbClr val="E3E6EA"/>
                </a:solidFill>
                <a:latin typeface="Courier New"/>
              </a:rPr>
              <a:t>// python/tvm_ffi/cython/tvm_ffi_python_helpers.h, SetArgument</a:t>
            </a:r>
          </a:p>
          <a:p>
            <a:pPr algn="l" marL="0" indent="0">
              <a:buNone/>
            </a:pPr>
            <a:r>
              <a:rPr sz="1000" b="0" i="0">
                <a:solidFill>
                  <a:srgbClr val="E3E6EA"/>
                </a:solidFill>
                <a:latin typeface="Courier New"/>
              </a:rPr>
              <a:t>PyTypeObject* py_type = Py_TYPE(py_arg);</a:t>
            </a:r>
          </a:p>
          <a:p>
            <a:pPr algn="l" marL="0" indent="0">
              <a:buNone/>
            </a:pPr>
            <a:r>
              <a:rPr sz="1000" b="0" i="0">
                <a:solidFill>
                  <a:srgbClr val="E3E6EA"/>
                </a:solidFill>
                <a:latin typeface="Courier New"/>
              </a:rPr>
              <a:t>auto it = arg_dispatch_map_.find(py_type);  // unordered_map</a:t>
            </a:r>
          </a:p>
          <a:p>
            <a:pPr algn="l" marL="0" indent="0">
              <a:buNone/>
            </a:pPr>
            <a:r>
              <a:rPr sz="1000" b="0" i="0">
                <a:solidFill>
                  <a:srgbClr val="E3E6EA"/>
                </a:solidFill>
                <a:latin typeface="Courier New"/>
              </a:rPr>
              <a:t>if (TVM_FFI_PREDICT_TRUE(it != arg_dispatch_map_.end())) {</a:t>
            </a:r>
          </a:p>
          <a:p>
            <a:pPr algn="l" marL="0" indent="0">
              <a:buNone/>
            </a:pPr>
            <a:r>
              <a:rPr sz="1000" b="0" i="0">
                <a:solidFill>
                  <a:srgbClr val="E3E6EA"/>
                </a:solidFill>
                <a:latin typeface="Courier New"/>
              </a:rPr>
              <a:t>  TVMFFIPyArgSetter setter = it-&gt;second;</a:t>
            </a:r>
          </a:p>
          <a:p>
            <a:pPr algn="l" marL="0" indent="0">
              <a:buNone/>
            </a:pPr>
            <a:r>
              <a:rPr sz="1000" b="0" i="0">
                <a:solidFill>
                  <a:srgbClr val="E3E6EA"/>
                </a:solidFill>
                <a:latin typeface="Courier New"/>
              </a:rPr>
              <a:t>  // if error happens, propagate it back</a:t>
            </a:r>
          </a:p>
          <a:p>
            <a:pPr algn="l" marL="0" indent="0">
              <a:buNone/>
            </a:pPr>
            <a:r>
              <a:rPr sz="1000" b="0" i="0">
                <a:solidFill>
                  <a:srgbClr val="E3E6EA"/>
                </a:solidFill>
                <a:latin typeface="Courier New"/>
              </a:rPr>
              <a:t>  if (TVM_FFI_PREDICT_FALSE(setter(ctx, py_arg, out) != 0)) return -1;</a:t>
            </a:r>
          </a:p>
          <a:p>
            <a:pPr algn="l" marL="0" indent="0">
              <a:buNone/>
            </a:pPr>
            <a:r>
              <a:rPr sz="1000" b="0" i="0">
                <a:solidFill>
                  <a:srgbClr val="E3E6EA"/>
                </a:solidFill>
                <a:latin typeface="Courier New"/>
              </a:rPr>
              <a:t>} ...</a:t>
            </a:r>
          </a:p>
        </p:txBody>
      </p:sp>
      <p:sp>
        <p:nvSpPr>
          <p:cNvPr id="7" name="TextBox 6"/>
          <p:cNvSpPr txBox="1"/>
          <p:nvPr/>
        </p:nvSpPr>
        <p:spPr>
          <a:xfrm>
            <a:off x="585216" y="3794760"/>
            <a:ext cx="5897880"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TVMFFIAny → DLTensor / int: a type-driven cast, no lookup</a:t>
            </a:r>
          </a:p>
        </p:txBody>
      </p:sp>
      <p:sp>
        <p:nvSpPr>
          <p:cNvPr id="8" name="Rectangle 7"/>
          <p:cNvSpPr/>
          <p:nvPr/>
        </p:nvSpPr>
        <p:spPr>
          <a:xfrm>
            <a:off x="585216" y="4087368"/>
            <a:ext cx="5897880" cy="685800"/>
          </a:xfrm>
          <a:prstGeom prst="rect">
            <a:avLst/>
          </a:prstGeom>
          <a:solidFill>
            <a:srgbClr val="1F2329"/>
          </a:solidFill>
          <a:ln w="12700">
            <a:solidFill>
              <a:srgbClr val="1F2329"/>
            </a:solidFill>
          </a:ln>
        </p:spPr>
        <p:txBody>
          <a:bodyPr rtlCol="0" anchor="ctr"/>
          <a:lstStyle/>
          <a:p>
            <a:pPr algn="ctr"/>
          </a:p>
        </p:txBody>
      </p:sp>
      <p:sp>
        <p:nvSpPr>
          <p:cNvPr id="9" name="TextBox 8"/>
          <p:cNvSpPr txBox="1"/>
          <p:nvPr/>
        </p:nvSpPr>
        <p:spPr>
          <a:xfrm>
            <a:off x="786384" y="4197096"/>
            <a:ext cx="5495544" cy="466344"/>
          </a:xfrm>
          <a:prstGeom prst="rect">
            <a:avLst/>
          </a:prstGeom>
          <a:noFill/>
        </p:spPr>
        <p:txBody>
          <a:bodyPr wrap="square" lIns="0" rIns="0" tIns="0" bIns="0" anchor="ctr">
            <a:noAutofit/>
          </a:bodyPr>
          <a:lstStyle/>
          <a:p>
            <a:pPr algn="l" marL="0" indent="0">
              <a:buNone/>
            </a:pPr>
            <a:r>
              <a:rPr sz="1000" b="0" i="0">
                <a:solidFill>
                  <a:srgbClr val="E3E6EA"/>
                </a:solidFill>
                <a:latin typeface="Courier New"/>
              </a:rPr>
              <a:t>// include/tvm/ffi/any.h</a:t>
            </a:r>
          </a:p>
          <a:p>
            <a:pPr algn="l" marL="0" indent="0">
              <a:buNone/>
            </a:pPr>
            <a:r>
              <a:rPr sz="1000" b="0" i="0">
                <a:solidFill>
                  <a:srgbClr val="E3E6EA"/>
                </a:solidFill>
                <a:latin typeface="Courier New"/>
              </a:rPr>
              <a:t>std::optional&lt;T&gt; opt = TypeTraits&lt;T&gt;::TryCastFromAnyView(&amp;data_);</a:t>
            </a:r>
          </a:p>
        </p:txBody>
      </p:sp>
      <p:sp>
        <p:nvSpPr>
          <p:cNvPr id="10" name="Rectangle 9"/>
          <p:cNvSpPr/>
          <p:nvPr/>
        </p:nvSpPr>
        <p:spPr>
          <a:xfrm>
            <a:off x="585216" y="4956048"/>
            <a:ext cx="5897880" cy="1280160"/>
          </a:xfrm>
          <a:prstGeom prst="rect">
            <a:avLst/>
          </a:prstGeom>
          <a:solidFill>
            <a:srgbClr val="F1F3F6"/>
          </a:solidFill>
          <a:ln>
            <a:noFill/>
          </a:ln>
        </p:spPr>
        <p:txBody>
          <a:bodyPr rtlCol="0" anchor="ctr"/>
          <a:lstStyle/>
          <a:p>
            <a:pPr algn="ctr"/>
          </a:p>
        </p:txBody>
      </p:sp>
      <p:sp>
        <p:nvSpPr>
          <p:cNvPr id="11" name="TextBox 10"/>
          <p:cNvSpPr txBox="1"/>
          <p:nvPr/>
        </p:nvSpPr>
        <p:spPr>
          <a:xfrm>
            <a:off x="768096" y="4956048"/>
            <a:ext cx="5532120" cy="1280160"/>
          </a:xfrm>
          <a:prstGeom prst="rect">
            <a:avLst/>
          </a:prstGeom>
          <a:noFill/>
        </p:spPr>
        <p:txBody>
          <a:bodyPr wrap="square" lIns="0" rIns="0" tIns="0" bIns="0" anchor="ctr">
            <a:noAutofit/>
          </a:bodyPr>
          <a:lstStyle/>
          <a:p>
            <a:pPr algn="l" marL="201168" indent="-201168">
              <a:spcAft>
                <a:spcPts val="400"/>
              </a:spcAft>
              <a:buClr>
                <a:srgbClr val="7A7F87"/>
              </a:buClr>
              <a:buFont typeface="Arial"/>
              <a:buChar char="•"/>
            </a:pPr>
            <a:r>
              <a:rPr sz="1200" b="1" i="0">
                <a:solidFill>
                  <a:srgbClr val="EB6834"/>
                </a:solidFill>
                <a:latin typeface="Calibri"/>
              </a:rPr>
              <a:t>Lookup cost: </a:t>
            </a:r>
            <a:r>
              <a:rPr sz="1200" b="0" i="0">
                <a:solidFill>
                  <a:srgbClr val="4A4F57"/>
                </a:solidFill>
                <a:latin typeface="Calibri"/>
              </a:rPr>
              <a:t>0.9–2.3 ns per argument over a direct type compare, about a tenth of TVM FFI's 13–22 ns per int argument.</a:t>
            </a:r>
          </a:p>
          <a:p>
            <a:pPr algn="l" marL="201168" indent="-201168">
              <a:spcAft>
                <a:spcPts val="400"/>
              </a:spcAft>
              <a:buClr>
                <a:srgbClr val="7A7F87"/>
              </a:buClr>
              <a:buFont typeface="Arial"/>
              <a:buChar char="•"/>
            </a:pPr>
            <a:r>
              <a:rPr sz="1200" b="1" i="0">
                <a:solidFill>
                  <a:srgbClr val="EB6834"/>
                </a:solidFill>
                <a:latin typeface="Calibri"/>
              </a:rPr>
              <a:t>Heavy load: </a:t>
            </a:r>
            <a:r>
              <a:rPr sz="1200" b="0" i="0">
                <a:solidFill>
                  <a:srgbClr val="4A4F57"/>
                </a:solidFill>
                <a:latin typeface="Calibri"/>
              </a:rPr>
              <a:t>1,000+ entries cost the same as 2 in steady state.</a:t>
            </a:r>
          </a:p>
          <a:p>
            <a:pPr algn="l" marL="201168" indent="-201168">
              <a:buClr>
                <a:srgbClr val="7A7F87"/>
              </a:buClr>
              <a:buFont typeface="Arial"/>
              <a:buChar char="•"/>
            </a:pPr>
            <a:r>
              <a:rPr sz="1200" b="1" i="0">
                <a:solidFill>
                  <a:srgbClr val="EB6834"/>
                </a:solidFill>
                <a:latin typeface="Calibri"/>
              </a:rPr>
              <a:t>intj: </a:t>
            </a:r>
            <a:r>
              <a:rPr sz="1200" b="0" i="0">
                <a:solidFill>
                  <a:srgbClr val="4A4F57"/>
                </a:solidFill>
                <a:latin typeface="Calibri"/>
              </a:rPr>
              <a:t>each parameter's check is compiled in; intj args -&gt; spec-key has no lookup.</a:t>
            </a:r>
          </a:p>
        </p:txBody>
      </p:sp>
      <p:sp>
        <p:nvSpPr>
          <p:cNvPr id="12" name="TextBox 11"/>
          <p:cNvSpPr txBox="1"/>
          <p:nvPr/>
        </p:nvSpPr>
        <p:spPr>
          <a:xfrm>
            <a:off x="6803136" y="1371600"/>
            <a:ext cx="4803343"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Isolated, ns per argument (4-argument call)</a:t>
            </a:r>
          </a:p>
        </p:txBody>
      </p:sp>
      <p:graphicFrame>
        <p:nvGraphicFramePr>
          <p:cNvPr id="13" name="Table 12"/>
          <p:cNvGraphicFramePr>
            <a:graphicFrameLocks noGrp="1"/>
          </p:cNvGraphicFramePr>
          <p:nvPr/>
        </p:nvGraphicFramePr>
        <p:xfrm>
          <a:off x="6803136" y="1691640"/>
          <a:ext cx="4803342" cy="1536192"/>
        </p:xfrm>
        <a:graphic>
          <a:graphicData uri="http://schemas.openxmlformats.org/drawingml/2006/table">
            <a:tbl>
              <a:tblPr firstRow="1" bandRow="1">
                <a:tableStyleId>{2D5ABB26-0587-4C30-8999-92F81FD0307C}</a:tableStyleId>
              </a:tblPr>
              <a:tblGrid>
                <a:gridCol w="2148840"/>
                <a:gridCol w="884834"/>
                <a:gridCol w="884834"/>
                <a:gridCol w="884834"/>
              </a:tblGrid>
              <a:tr h="384048">
                <a:tc>
                  <a:txBody>
                    <a:bodyPr wrap="square" lIns="0" rIns="0" tIns="0" bIns="0" anchor="ctr">
                      <a:noAutofit/>
                    </a:bodyPr>
                    <a:lstStyle/>
                    <a:p>
                      <a:pPr algn="l" marL="0" indent="0">
                        <a:buNone/>
                      </a:pPr>
                      <a:r>
                        <a:rPr sz="1100" b="1" i="0">
                          <a:solidFill>
                            <a:srgbClr val="1B1F24"/>
                          </a:solidFill>
                          <a:latin typeface="Calibri"/>
                        </a:rPr>
                        <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MI308X</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MI350X</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RTX 4080 SUPER</a:t>
                      </a:r>
                    </a:p>
                  </a:txBody>
                  <a:tcPr marL="73152" marR="73152" marT="27432" marB="27432">
                    <a:solidFill>
                      <a:srgbClr val="E1E5EA"/>
                    </a:solidFill>
                  </a:tcPr>
                </a:tc>
              </a:tr>
              <a:tr h="384048">
                <a:tc>
                  <a:txBody>
                    <a:bodyPr wrap="square" lIns="0" rIns="0" tIns="0" bIns="0" anchor="ctr">
                      <a:noAutofit/>
                    </a:bodyPr>
                    <a:lstStyle/>
                    <a:p>
                      <a:pPr algn="l" marL="0" indent="0">
                        <a:buNone/>
                      </a:pPr>
                      <a:r>
                        <a:rPr sz="1100" b="0" i="0">
                          <a:solidFill>
                            <a:srgbClr val="1B1F24"/>
                          </a:solidFill>
                          <a:latin typeface="Calibri"/>
                        </a:rPr>
                        <a:t>find, light (6 entries)</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3.46</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2.52</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1.36</a:t>
                      </a:r>
                    </a:p>
                  </a:txBody>
                  <a:tcPr marL="73152" marR="73152" marT="27432" marB="27432">
                    <a:solidFill>
                      <a:srgbClr val="F1F3F6"/>
                    </a:solidFill>
                  </a:tcPr>
                </a:tc>
              </a:tr>
              <a:tr h="384048">
                <a:tc>
                  <a:txBody>
                    <a:bodyPr wrap="square" lIns="0" rIns="0" tIns="0" bIns="0" anchor="ctr">
                      <a:noAutofit/>
                    </a:bodyPr>
                    <a:lstStyle/>
                    <a:p>
                      <a:pPr algn="l" marL="0" indent="0">
                        <a:buNone/>
                      </a:pPr>
                      <a:r>
                        <a:rPr sz="1100" b="0" i="0">
                          <a:solidFill>
                            <a:srgbClr val="1B1F24"/>
                          </a:solidFill>
                          <a:latin typeface="Calibri"/>
                        </a:rPr>
                        <a:t>find, heavy (1,030 entries)</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3.46</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1.86</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1.36</a:t>
                      </a:r>
                    </a:p>
                  </a:txBody>
                  <a:tcPr marL="73152" marR="73152" marT="27432" marB="27432">
                    <a:solidFill>
                      <a:srgbClr val="FFFFFF"/>
                    </a:solidFill>
                  </a:tcPr>
                </a:tc>
              </a:tr>
              <a:tr h="384048">
                <a:tc>
                  <a:txBody>
                    <a:bodyPr wrap="square" lIns="0" rIns="0" tIns="0" bIns="0" anchor="ctr">
                      <a:noAutofit/>
                    </a:bodyPr>
                    <a:lstStyle/>
                    <a:p>
                      <a:pPr algn="l" marL="0" indent="0">
                        <a:buNone/>
                      </a:pPr>
                      <a:r>
                        <a:rPr sz="1100" b="0" i="0">
                          <a:solidFill>
                            <a:srgbClr val="1B1F24"/>
                          </a:solidFill>
                          <a:latin typeface="Calibri"/>
                        </a:rPr>
                        <a:t>direct type compare</a:t>
                      </a:r>
                    </a:p>
                  </a:txBody>
                  <a:tcPr marL="73152" marR="73152" marT="27432" marB="27432">
                    <a:solidFill>
                      <a:srgbClr val="F1F3F6"/>
                    </a:solidFill>
                  </a:tcPr>
                </a:tc>
                <a:tc>
                  <a:txBody>
                    <a:bodyPr wrap="square" lIns="0" rIns="0" tIns="0" bIns="0" anchor="ctr">
                      <a:noAutofit/>
                    </a:bodyPr>
                    <a:lstStyle/>
                    <a:p>
                      <a:pPr algn="r" marL="0" indent="0">
                        <a:buNone/>
                      </a:pPr>
                      <a:r>
                        <a:rPr sz="1100" b="1" i="0">
                          <a:solidFill>
                            <a:srgbClr val="EB6834"/>
                          </a:solidFill>
                          <a:latin typeface="Calibri"/>
                        </a:rPr>
                        <a:t>1.17</a:t>
                      </a:r>
                    </a:p>
                  </a:txBody>
                  <a:tcPr marL="73152" marR="73152" marT="27432" marB="27432">
                    <a:solidFill>
                      <a:srgbClr val="F1F3F6"/>
                    </a:solidFill>
                  </a:tcPr>
                </a:tc>
                <a:tc>
                  <a:txBody>
                    <a:bodyPr wrap="square" lIns="0" rIns="0" tIns="0" bIns="0" anchor="ctr">
                      <a:noAutofit/>
                    </a:bodyPr>
                    <a:lstStyle/>
                    <a:p>
                      <a:pPr algn="r" marL="0" indent="0">
                        <a:buNone/>
                      </a:pPr>
                      <a:r>
                        <a:rPr sz="1100" b="1" i="0">
                          <a:solidFill>
                            <a:srgbClr val="EB6834"/>
                          </a:solidFill>
                          <a:latin typeface="Calibri"/>
                        </a:rPr>
                        <a:t>0.53</a:t>
                      </a:r>
                    </a:p>
                  </a:txBody>
                  <a:tcPr marL="73152" marR="73152" marT="27432" marB="27432">
                    <a:solidFill>
                      <a:srgbClr val="F1F3F6"/>
                    </a:solidFill>
                  </a:tcPr>
                </a:tc>
                <a:tc>
                  <a:txBody>
                    <a:bodyPr wrap="square" lIns="0" rIns="0" tIns="0" bIns="0" anchor="ctr">
                      <a:noAutofit/>
                    </a:bodyPr>
                    <a:lstStyle/>
                    <a:p>
                      <a:pPr algn="r" marL="0" indent="0">
                        <a:buNone/>
                      </a:pPr>
                      <a:r>
                        <a:rPr sz="1100" b="1" i="0">
                          <a:solidFill>
                            <a:srgbClr val="EB6834"/>
                          </a:solidFill>
                          <a:latin typeface="Calibri"/>
                        </a:rPr>
                        <a:t>0.46</a:t>
                      </a:r>
                    </a:p>
                  </a:txBody>
                  <a:tcPr marL="73152" marR="73152" marT="27432" marB="27432">
                    <a:solidFill>
                      <a:srgbClr val="F1F3F6"/>
                    </a:solidFill>
                  </a:tcPr>
                </a:tc>
              </a:tr>
            </a:tbl>
          </a:graphicData>
        </a:graphic>
      </p:graphicFrame>
      <p:sp>
        <p:nvSpPr>
          <p:cNvPr id="14" name="TextBox 13"/>
          <p:cNvSpPr txBox="1"/>
          <p:nvPr/>
        </p:nvSpPr>
        <p:spPr>
          <a:xfrm>
            <a:off x="6803136" y="3383280"/>
            <a:ext cx="4803343" cy="274320"/>
          </a:xfrm>
          <a:prstGeom prst="rect">
            <a:avLst/>
          </a:prstGeom>
          <a:noFill/>
        </p:spPr>
        <p:txBody>
          <a:bodyPr wrap="square" lIns="0" rIns="0" tIns="0" bIns="0" anchor="t">
            <a:noAutofit/>
          </a:bodyPr>
          <a:lstStyle/>
          <a:p>
            <a:pPr algn="l" marL="0" indent="0">
              <a:buNone/>
            </a:pPr>
            <a:r>
              <a:rPr sz="1300" b="1" i="0">
                <a:solidFill>
                  <a:srgbClr val="1B1F24"/>
                </a:solidFill>
                <a:latin typeface="Calibri"/>
              </a:rPr>
              <a:t>testing.nop, ns per call (map: 2 / 1,026 types)</a:t>
            </a:r>
          </a:p>
        </p:txBody>
      </p:sp>
      <p:graphicFrame>
        <p:nvGraphicFramePr>
          <p:cNvPr id="15" name="Table 14"/>
          <p:cNvGraphicFramePr>
            <a:graphicFrameLocks noGrp="1"/>
          </p:cNvGraphicFramePr>
          <p:nvPr/>
        </p:nvGraphicFramePr>
        <p:xfrm>
          <a:off x="6803136" y="3703320"/>
          <a:ext cx="4803342" cy="1920240"/>
        </p:xfrm>
        <a:graphic>
          <a:graphicData uri="http://schemas.openxmlformats.org/drawingml/2006/table">
            <a:tbl>
              <a:tblPr firstRow="1" bandRow="1">
                <a:tableStyleId>{2D5ABB26-0587-4C30-8999-92F81FD0307C}</a:tableStyleId>
              </a:tblPr>
              <a:tblGrid>
                <a:gridCol w="2148840"/>
                <a:gridCol w="884834"/>
                <a:gridCol w="884834"/>
                <a:gridCol w="884834"/>
              </a:tblGrid>
              <a:tr h="384048">
                <a:tc>
                  <a:txBody>
                    <a:bodyPr wrap="square" lIns="0" rIns="0" tIns="0" bIns="0" anchor="ctr">
                      <a:noAutofit/>
                    </a:bodyPr>
                    <a:lstStyle/>
                    <a:p>
                      <a:pPr algn="l" marL="0" indent="0">
                        <a:buNone/>
                      </a:pPr>
                      <a:r>
                        <a:rPr sz="1100" b="1" i="0">
                          <a:solidFill>
                            <a:srgbClr val="1B1F24"/>
                          </a:solidFill>
                          <a:latin typeface="Calibri"/>
                        </a:rPr>
                        <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MI308X</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MI350X</a:t>
                      </a:r>
                    </a:p>
                  </a:txBody>
                  <a:tcPr marL="73152" marR="73152" marT="27432" marB="27432">
                    <a:solidFill>
                      <a:srgbClr val="E1E5EA"/>
                    </a:solidFill>
                  </a:tcPr>
                </a:tc>
                <a:tc>
                  <a:txBody>
                    <a:bodyPr wrap="square" lIns="0" rIns="0" tIns="0" bIns="0" anchor="ctr">
                      <a:noAutofit/>
                    </a:bodyPr>
                    <a:lstStyle/>
                    <a:p>
                      <a:pPr algn="r" marL="0" indent="0">
                        <a:buNone/>
                      </a:pPr>
                      <a:r>
                        <a:rPr sz="1100" b="1" i="0">
                          <a:solidFill>
                            <a:srgbClr val="1B1F24"/>
                          </a:solidFill>
                          <a:latin typeface="Calibri"/>
                        </a:rPr>
                        <a:t>RTX 4080 SUPER</a:t>
                      </a:r>
                    </a:p>
                  </a:txBody>
                  <a:tcPr marL="73152" marR="73152" marT="27432" marB="27432">
                    <a:solidFill>
                      <a:srgbClr val="E1E5EA"/>
                    </a:solidFill>
                  </a:tcPr>
                </a:tc>
              </a:tr>
              <a:tr h="384048">
                <a:tc>
                  <a:txBody>
                    <a:bodyPr wrap="square" lIns="0" rIns="0" tIns="0" bIns="0" anchor="ctr">
                      <a:noAutofit/>
                    </a:bodyPr>
                    <a:lstStyle/>
                    <a:p>
                      <a:pPr algn="l" marL="0" indent="0">
                        <a:buNone/>
                      </a:pPr>
                      <a:r>
                        <a:rPr sz="1000" b="0" i="0">
                          <a:solidFill>
                            <a:srgbClr val="1B1F24"/>
                          </a:solidFill>
                          <a:latin typeface="Courier New"/>
                        </a:rPr>
                        <a:t>nop()</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102</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62</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69</a:t>
                      </a:r>
                    </a:p>
                  </a:txBody>
                  <a:tcPr marL="73152" marR="73152" marT="27432" marB="27432">
                    <a:solidFill>
                      <a:srgbClr val="F1F3F6"/>
                    </a:solidFill>
                  </a:tcPr>
                </a:tc>
              </a:tr>
              <a:tr h="384048">
                <a:tc>
                  <a:txBody>
                    <a:bodyPr wrap="square" lIns="0" rIns="0" tIns="0" bIns="0" anchor="ctr">
                      <a:noAutofit/>
                    </a:bodyPr>
                    <a:lstStyle/>
                    <a:p>
                      <a:pPr algn="l" marL="0" indent="0">
                        <a:buNone/>
                      </a:pPr>
                      <a:r>
                        <a:rPr sz="1000" b="0" i="0">
                          <a:solidFill>
                            <a:srgbClr val="1B1F24"/>
                          </a:solidFill>
                          <a:latin typeface="Courier New"/>
                        </a:rPr>
                        <a:t>nop(i, i, i, i), light</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191</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116</a:t>
                      </a:r>
                    </a:p>
                  </a:txBody>
                  <a:tcPr marL="73152" marR="73152" marT="27432" marB="27432">
                    <a:solidFill>
                      <a:srgbClr val="FFFFFF"/>
                    </a:solidFill>
                  </a:tcPr>
                </a:tc>
                <a:tc>
                  <a:txBody>
                    <a:bodyPr wrap="square" lIns="0" rIns="0" tIns="0" bIns="0" anchor="ctr">
                      <a:noAutofit/>
                    </a:bodyPr>
                    <a:lstStyle/>
                    <a:p>
                      <a:pPr algn="r" marL="0" indent="0">
                        <a:buNone/>
                      </a:pPr>
                      <a:r>
                        <a:rPr sz="1100" b="0" i="0">
                          <a:solidFill>
                            <a:srgbClr val="1B1F24"/>
                          </a:solidFill>
                          <a:latin typeface="Calibri"/>
                        </a:rPr>
                        <a:t>122</a:t>
                      </a:r>
                    </a:p>
                  </a:txBody>
                  <a:tcPr marL="73152" marR="73152" marT="27432" marB="27432">
                    <a:solidFill>
                      <a:srgbClr val="FFFFFF"/>
                    </a:solidFill>
                  </a:tcPr>
                </a:tc>
              </a:tr>
              <a:tr h="384048">
                <a:tc>
                  <a:txBody>
                    <a:bodyPr wrap="square" lIns="0" rIns="0" tIns="0" bIns="0" anchor="ctr">
                      <a:noAutofit/>
                    </a:bodyPr>
                    <a:lstStyle/>
                    <a:p>
                      <a:pPr algn="l" marL="0" indent="0">
                        <a:buNone/>
                      </a:pPr>
                      <a:r>
                        <a:rPr sz="1000" b="0" i="0">
                          <a:solidFill>
                            <a:srgbClr val="1B1F24"/>
                          </a:solidFill>
                          <a:latin typeface="Courier New"/>
                        </a:rPr>
                        <a:t>nop(i, i, i, i), heavy</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190</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116</a:t>
                      </a:r>
                    </a:p>
                  </a:txBody>
                  <a:tcPr marL="73152" marR="73152" marT="27432" marB="27432">
                    <a:solidFill>
                      <a:srgbClr val="F1F3F6"/>
                    </a:solidFill>
                  </a:tcPr>
                </a:tc>
                <a:tc>
                  <a:txBody>
                    <a:bodyPr wrap="square" lIns="0" rIns="0" tIns="0" bIns="0" anchor="ctr">
                      <a:noAutofit/>
                    </a:bodyPr>
                    <a:lstStyle/>
                    <a:p>
                      <a:pPr algn="r" marL="0" indent="0">
                        <a:buNone/>
                      </a:pPr>
                      <a:r>
                        <a:rPr sz="1100" b="0" i="0">
                          <a:solidFill>
                            <a:srgbClr val="1B1F24"/>
                          </a:solidFill>
                          <a:latin typeface="Calibri"/>
                        </a:rPr>
                        <a:t>123</a:t>
                      </a:r>
                    </a:p>
                  </a:txBody>
                  <a:tcPr marL="73152" marR="73152" marT="27432" marB="27432">
                    <a:solidFill>
                      <a:srgbClr val="F1F3F6"/>
                    </a:solidFill>
                  </a:tcPr>
                </a:tc>
              </a:tr>
              <a:tr h="384048">
                <a:tc>
                  <a:txBody>
                    <a:bodyPr wrap="square" lIns="0" rIns="0" tIns="0" bIns="0" anchor="ctr">
                      <a:noAutofit/>
                    </a:bodyPr>
                    <a:lstStyle/>
                    <a:p>
                      <a:pPr algn="l" marL="0" indent="0">
                        <a:buNone/>
                      </a:pPr>
                      <a:r>
                        <a:rPr sz="1100" b="1" i="0">
                          <a:solidFill>
                            <a:srgbClr val="1B1F24"/>
                          </a:solidFill>
                          <a:latin typeface="Calibri"/>
                        </a:rPr>
                        <a:t>per int argument</a:t>
                      </a:r>
                    </a:p>
                  </a:txBody>
                  <a:tcPr marL="73152" marR="73152" marT="27432" marB="27432">
                    <a:solidFill>
                      <a:srgbClr val="FFFFFF"/>
                    </a:solidFill>
                  </a:tcPr>
                </a:tc>
                <a:tc>
                  <a:txBody>
                    <a:bodyPr wrap="square" lIns="0" rIns="0" tIns="0" bIns="0" anchor="ctr">
                      <a:noAutofit/>
                    </a:bodyPr>
                    <a:lstStyle/>
                    <a:p>
                      <a:pPr algn="r" marL="0" indent="0">
                        <a:buNone/>
                      </a:pPr>
                      <a:r>
                        <a:rPr sz="1100" b="1" i="0">
                          <a:solidFill>
                            <a:srgbClr val="1B1F24"/>
                          </a:solidFill>
                          <a:latin typeface="Calibri"/>
                        </a:rPr>
                        <a:t>22.0</a:t>
                      </a:r>
                    </a:p>
                  </a:txBody>
                  <a:tcPr marL="73152" marR="73152" marT="27432" marB="27432">
                    <a:solidFill>
                      <a:srgbClr val="FFFFFF"/>
                    </a:solidFill>
                  </a:tcPr>
                </a:tc>
                <a:tc>
                  <a:txBody>
                    <a:bodyPr wrap="square" lIns="0" rIns="0" tIns="0" bIns="0" anchor="ctr">
                      <a:noAutofit/>
                    </a:bodyPr>
                    <a:lstStyle/>
                    <a:p>
                      <a:pPr algn="r" marL="0" indent="0">
                        <a:buNone/>
                      </a:pPr>
                      <a:r>
                        <a:rPr sz="1100" b="1" i="0">
                          <a:solidFill>
                            <a:srgbClr val="1B1F24"/>
                          </a:solidFill>
                          <a:latin typeface="Calibri"/>
                        </a:rPr>
                        <a:t>13.6</a:t>
                      </a:r>
                    </a:p>
                  </a:txBody>
                  <a:tcPr marL="73152" marR="73152" marT="27432" marB="27432">
                    <a:solidFill>
                      <a:srgbClr val="FFFFFF"/>
                    </a:solidFill>
                  </a:tcPr>
                </a:tc>
                <a:tc>
                  <a:txBody>
                    <a:bodyPr wrap="square" lIns="0" rIns="0" tIns="0" bIns="0" anchor="ctr">
                      <a:noAutofit/>
                    </a:bodyPr>
                    <a:lstStyle/>
                    <a:p>
                      <a:pPr algn="r" marL="0" indent="0">
                        <a:buNone/>
                      </a:pPr>
                      <a:r>
                        <a:rPr sz="1100" b="1" i="0">
                          <a:solidFill>
                            <a:srgbClr val="1B1F24"/>
                          </a:solidFill>
                          <a:latin typeface="Calibri"/>
                        </a:rPr>
                        <a:t>13.4</a:t>
                      </a:r>
                    </a:p>
                  </a:txBody>
                  <a:tcPr marL="73152" marR="73152" marT="27432" marB="27432">
                    <a:solidFill>
                      <a:srgbClr val="FFFFFF"/>
                    </a:solidFill>
                  </a:tcPr>
                </a:tc>
              </a:tr>
            </a:tbl>
          </a:graphicData>
        </a:graphic>
      </p:graphicFrame>
      <p:sp>
        <p:nvSpPr>
          <p:cNvPr id="16" name="TextBox 15"/>
          <p:cNvSpPr txBox="1"/>
          <p:nvPr/>
        </p:nvSpPr>
        <p:spPr>
          <a:xfrm>
            <a:off x="6803136" y="5715000"/>
            <a:ext cx="4803343" cy="502920"/>
          </a:xfrm>
          <a:prstGeom prst="rect">
            <a:avLst/>
          </a:prstGeom>
          <a:noFill/>
        </p:spPr>
        <p:txBody>
          <a:bodyPr wrap="square" lIns="0" rIns="0" tIns="0" bIns="0" anchor="t">
            <a:noAutofit/>
          </a:bodyPr>
          <a:lstStyle/>
          <a:p>
            <a:pPr algn="l" marL="0" indent="0">
              <a:buNone/>
            </a:pPr>
            <a:r>
              <a:rPr sz="1000" b="0" i="0">
                <a:solidFill>
                  <a:srgbClr val="7A7F87"/>
                </a:solidFill>
                <a:latin typeface="Calibri"/>
              </a:rPr>
              <a:t>Median of 3 processes per machine; isolated rows built with the machine's g++.</a:t>
            </a:r>
          </a:p>
        </p:txBody>
      </p:sp>
      <p:sp>
        <p:nvSpPr>
          <p:cNvPr id="17" name="TextBox 16"/>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data/ffi_dispatch.csv (scripts/bench_unordered_map_lookup.cpp, scripts/bench_ffi_dispatch.py), apache-tvm-ffi 0.1.14.post1 tvm_ffi_python_helpers.h, include/tvm/ffi/any.h.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Annotation: state facts, compile exactly those</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22</a:t>
            </a:r>
          </a:p>
        </p:txBody>
      </p:sp>
      <p:sp>
        <p:nvSpPr>
          <p:cNvPr id="4" name="Rectangle 3"/>
          <p:cNvSpPr/>
          <p:nvPr/>
        </p:nvSpPr>
        <p:spPr>
          <a:xfrm>
            <a:off x="585216" y="1371600"/>
            <a:ext cx="5760720" cy="2697480"/>
          </a:xfrm>
          <a:prstGeom prst="rect">
            <a:avLst/>
          </a:prstGeom>
          <a:solidFill>
            <a:srgbClr val="1F2329"/>
          </a:solidFill>
          <a:ln w="12700">
            <a:solidFill>
              <a:srgbClr val="1F2329"/>
            </a:solidFill>
          </a:ln>
        </p:spPr>
        <p:txBody>
          <a:bodyPr rtlCol="0" anchor="ctr"/>
          <a:lstStyle/>
          <a:p>
            <a:pPr algn="ctr"/>
          </a:p>
        </p:txBody>
      </p:sp>
      <p:sp>
        <p:nvSpPr>
          <p:cNvPr id="5" name="TextBox 4"/>
          <p:cNvSpPr txBox="1"/>
          <p:nvPr/>
        </p:nvSpPr>
        <p:spPr>
          <a:xfrm>
            <a:off x="786384" y="1481328"/>
            <a:ext cx="5358383" cy="2478024"/>
          </a:xfrm>
          <a:prstGeom prst="rect">
            <a:avLst/>
          </a:prstGeom>
          <a:noFill/>
        </p:spPr>
        <p:txBody>
          <a:bodyPr wrap="square" lIns="0" rIns="0" tIns="0" bIns="0" anchor="ctr">
            <a:noAutofit/>
          </a:bodyPr>
          <a:lstStyle/>
          <a:p>
            <a:pPr algn="l" marL="0" indent="0">
              <a:buNone/>
            </a:pPr>
            <a:r>
              <a:rPr sz="1200" b="0" i="0">
                <a:solidFill>
                  <a:srgbClr val="E3E6EA"/>
                </a:solidFill>
                <a:latin typeface="Courier New"/>
              </a:rPr>
              <a:t>launch = make_launcher(kernel, extra_annotation={</a:t>
            </a:r>
          </a:p>
          <a:p>
            <a:pPr algn="l" marL="0" indent="0">
              <a:buNone/>
            </a:pPr>
            <a:r>
              <a:rPr sz="1200" b="0" i="0">
                <a:solidFill>
                  <a:srgbClr val="E3E6EA"/>
                </a:solidFill>
                <a:latin typeface="Courier New"/>
              </a:rPr>
              <a:t>  "x": Argument(type=tl.pointer_type(tl.float32),</a:t>
            </a:r>
          </a:p>
          <a:p>
            <a:pPr algn="l" marL="0" indent="0">
              <a:buNone/>
            </a:pPr>
            <a:r>
              <a:rPr sz="1200" b="0" i="0">
                <a:solidFill>
                  <a:srgbClr val="E3E6EA"/>
                </a:solidFill>
                <a:latin typeface="Courier New"/>
              </a:rPr>
              <a:t>                specialize=NEVER,</a:t>
            </a:r>
          </a:p>
          <a:p>
            <a:pPr algn="l" marL="0" indent="0">
              <a:buNone/>
            </a:pPr>
            <a:r>
              <a:rPr sz="1200" b="0" i="0">
                <a:solidFill>
                  <a:srgbClr val="E3E6EA"/>
                </a:solidFill>
                <a:latin typeface="Courier New"/>
              </a:rPr>
              <a:t>                bind_value=BindValue.TENSOR),</a:t>
            </a:r>
          </a:p>
          <a:p>
            <a:pPr algn="l" marL="0" indent="0">
              <a:buNone/>
            </a:pPr>
            <a:r>
              <a:rPr sz="1200" b="0" i="0">
                <a:solidFill>
                  <a:srgbClr val="E3E6EA"/>
                </a:solidFill>
                <a:latin typeface="Courier New"/>
              </a:rPr>
              <a:t>  "BLOCK": Constexpr(type=tl.int64,</a:t>
            </a:r>
          </a:p>
          <a:p>
            <a:pPr algn="l" marL="0" indent="0">
              <a:buNone/>
            </a:pPr>
            <a:r>
              <a:rPr sz="1200" b="0" i="0">
                <a:solidFill>
                  <a:srgbClr val="E3E6EA"/>
                </a:solidFill>
                <a:latin typeface="Courier New"/>
              </a:rPr>
              <a:t>                     power_of_two_or_zero=True)})</a:t>
            </a:r>
          </a:p>
          <a:p>
            <a:pPr algn="l" marL="0" indent="0">
              <a:buNone/>
            </a:pPr>
            <a:r>
              <a:rPr sz="1200" b="0" i="0">
                <a:solidFill>
                  <a:srgbClr val="E3E6EA"/>
                </a:solidFill>
                <a:latin typeface="Courier New"/>
              </a:rPr>
              <a:t>bound = launch.__self__.bind(x=tensor)</a:t>
            </a:r>
          </a:p>
          <a:p>
            <a:pPr algn="l" marL="0" indent="0">
              <a:buNone/>
            </a:pPr>
            <a:r>
              <a:rPr sz="1200" b="0" i="0">
                <a:solidFill>
                  <a:srgbClr val="E3E6EA"/>
                </a:solidFill>
                <a:latin typeface="Courier New"/>
              </a:rPr>
              <a:t>bound(device, stream, grid, *rest)</a:t>
            </a:r>
          </a:p>
          <a:p>
            <a:pPr algn="l" marL="0" indent="0">
              <a:buNone/>
            </a:pPr>
            <a:r>
              <a:rPr sz="1200" b="0" i="0">
                <a:solidFill>
                  <a:srgbClr val="E3E6EA"/>
                </a:solidFill>
                <a:latin typeface="Courier New"/>
              </a:rPr>
              <a:t/>
            </a:r>
          </a:p>
          <a:p>
            <a:pPr algn="l" marL="0" indent="0">
              <a:buNone/>
            </a:pPr>
            <a:r>
              <a:rPr sz="1200" b="0" i="0">
                <a:solidFill>
                  <a:srgbClr val="E3E6EA"/>
                </a:solidFill>
                <a:latin typeface="Courier New"/>
              </a:rPr>
              <a:t># AITER pa_mqa_logits</a:t>
            </a:r>
          </a:p>
          <a:p>
            <a:pPr algn="l" marL="0" indent="0">
              <a:buNone/>
            </a:pPr>
            <a:r>
              <a:rPr sz="1200" b="0" i="0">
                <a:solidFill>
                  <a:srgbClr val="E3E6EA"/>
                </a:solidFill>
                <a:latin typeface="Courier New"/>
              </a:rPr>
              <a:t>kv = Exactly(Aligned(16)) if padded else NEVER</a:t>
            </a:r>
          </a:p>
        </p:txBody>
      </p:sp>
      <p:sp>
        <p:nvSpPr>
          <p:cNvPr id="6" name="Rectangle 5"/>
          <p:cNvSpPr/>
          <p:nvPr/>
        </p:nvSpPr>
        <p:spPr>
          <a:xfrm>
            <a:off x="585216" y="4251960"/>
            <a:ext cx="2743200" cy="777240"/>
          </a:xfrm>
          <a:prstGeom prst="rect">
            <a:avLst/>
          </a:prstGeom>
          <a:solidFill>
            <a:srgbClr val="F1F3F6"/>
          </a:solidFill>
          <a:ln>
            <a:noFill/>
          </a:ln>
        </p:spPr>
        <p:txBody>
          <a:bodyPr rtlCol="0" anchor="ctr"/>
          <a:lstStyle/>
          <a:p>
            <a:pPr algn="ctr"/>
          </a:p>
        </p:txBody>
      </p:sp>
      <p:sp>
        <p:nvSpPr>
          <p:cNvPr id="7" name="TextBox 6"/>
          <p:cNvSpPr txBox="1"/>
          <p:nvPr/>
        </p:nvSpPr>
        <p:spPr>
          <a:xfrm>
            <a:off x="749808" y="4343400"/>
            <a:ext cx="2414016" cy="274320"/>
          </a:xfrm>
          <a:prstGeom prst="rect">
            <a:avLst/>
          </a:prstGeom>
          <a:noFill/>
        </p:spPr>
        <p:txBody>
          <a:bodyPr wrap="square" lIns="0" rIns="0" tIns="0" bIns="0" anchor="t">
            <a:noAutofit/>
          </a:bodyPr>
          <a:lstStyle/>
          <a:p>
            <a:pPr algn="l" marL="0" indent="0">
              <a:buNone/>
            </a:pPr>
            <a:r>
              <a:rPr sz="1300" b="1" i="0">
                <a:solidFill>
                  <a:srgbClr val="EB6834"/>
                </a:solidFill>
                <a:latin typeface="Courier New"/>
              </a:rPr>
              <a:t>AUTO</a:t>
            </a:r>
          </a:p>
        </p:txBody>
      </p:sp>
      <p:sp>
        <p:nvSpPr>
          <p:cNvPr id="8" name="TextBox 7"/>
          <p:cNvSpPr txBox="1"/>
          <p:nvPr/>
        </p:nvSpPr>
        <p:spPr>
          <a:xfrm>
            <a:off x="749808" y="4663440"/>
            <a:ext cx="2414016" cy="3200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measured per call, keyed</a:t>
            </a:r>
          </a:p>
        </p:txBody>
      </p:sp>
      <p:sp>
        <p:nvSpPr>
          <p:cNvPr id="9" name="Rectangle 8"/>
          <p:cNvSpPr/>
          <p:nvPr/>
        </p:nvSpPr>
        <p:spPr>
          <a:xfrm>
            <a:off x="3602736" y="4251960"/>
            <a:ext cx="2743200" cy="777240"/>
          </a:xfrm>
          <a:prstGeom prst="rect">
            <a:avLst/>
          </a:prstGeom>
          <a:solidFill>
            <a:srgbClr val="F1F3F6"/>
          </a:solidFill>
          <a:ln>
            <a:noFill/>
          </a:ln>
        </p:spPr>
        <p:txBody>
          <a:bodyPr rtlCol="0" anchor="ctr"/>
          <a:lstStyle/>
          <a:p>
            <a:pPr algn="ctr"/>
          </a:p>
        </p:txBody>
      </p:sp>
      <p:sp>
        <p:nvSpPr>
          <p:cNvPr id="10" name="TextBox 9"/>
          <p:cNvSpPr txBox="1"/>
          <p:nvPr/>
        </p:nvSpPr>
        <p:spPr>
          <a:xfrm>
            <a:off x="3767328" y="4343400"/>
            <a:ext cx="2414016" cy="274320"/>
          </a:xfrm>
          <a:prstGeom prst="rect">
            <a:avLst/>
          </a:prstGeom>
          <a:noFill/>
        </p:spPr>
        <p:txBody>
          <a:bodyPr wrap="square" lIns="0" rIns="0" tIns="0" bIns="0" anchor="t">
            <a:noAutofit/>
          </a:bodyPr>
          <a:lstStyle/>
          <a:p>
            <a:pPr algn="l" marL="0" indent="0">
              <a:buNone/>
            </a:pPr>
            <a:r>
              <a:rPr sz="1300" b="1" i="0">
                <a:solidFill>
                  <a:srgbClr val="EB6834"/>
                </a:solidFill>
                <a:latin typeface="Courier New"/>
              </a:rPr>
              <a:t>NEVER</a:t>
            </a:r>
          </a:p>
        </p:txBody>
      </p:sp>
      <p:sp>
        <p:nvSpPr>
          <p:cNvPr id="11" name="TextBox 10"/>
          <p:cNvSpPr txBox="1"/>
          <p:nvPr/>
        </p:nvSpPr>
        <p:spPr>
          <a:xfrm>
            <a:off x="3767328" y="4663440"/>
            <a:ext cx="2414016" cy="3200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not specialized</a:t>
            </a:r>
          </a:p>
        </p:txBody>
      </p:sp>
      <p:sp>
        <p:nvSpPr>
          <p:cNvPr id="12" name="Rectangle 11"/>
          <p:cNvSpPr/>
          <p:nvPr/>
        </p:nvSpPr>
        <p:spPr>
          <a:xfrm>
            <a:off x="585216" y="5166360"/>
            <a:ext cx="2743200" cy="777240"/>
          </a:xfrm>
          <a:prstGeom prst="rect">
            <a:avLst/>
          </a:prstGeom>
          <a:solidFill>
            <a:srgbClr val="F1F3F6"/>
          </a:solidFill>
          <a:ln>
            <a:noFill/>
          </a:ln>
        </p:spPr>
        <p:txBody>
          <a:bodyPr rtlCol="0" anchor="ctr"/>
          <a:lstStyle/>
          <a:p>
            <a:pPr algn="ctr"/>
          </a:p>
        </p:txBody>
      </p:sp>
      <p:sp>
        <p:nvSpPr>
          <p:cNvPr id="13" name="TextBox 12"/>
          <p:cNvSpPr txBox="1"/>
          <p:nvPr/>
        </p:nvSpPr>
        <p:spPr>
          <a:xfrm>
            <a:off x="749808" y="5257800"/>
            <a:ext cx="2414016" cy="274320"/>
          </a:xfrm>
          <a:prstGeom prst="rect">
            <a:avLst/>
          </a:prstGeom>
          <a:noFill/>
        </p:spPr>
        <p:txBody>
          <a:bodyPr wrap="square" lIns="0" rIns="0" tIns="0" bIns="0" anchor="t">
            <a:noAutofit/>
          </a:bodyPr>
          <a:lstStyle/>
          <a:p>
            <a:pPr algn="l" marL="0" indent="0">
              <a:buNone/>
            </a:pPr>
            <a:r>
              <a:rPr sz="1300" b="1" i="0">
                <a:solidFill>
                  <a:srgbClr val="EB6834"/>
                </a:solidFill>
                <a:latin typeface="Courier New"/>
              </a:rPr>
              <a:t>Assume</a:t>
            </a:r>
          </a:p>
        </p:txBody>
      </p:sp>
      <p:sp>
        <p:nvSpPr>
          <p:cNvPr id="14" name="TextBox 13"/>
          <p:cNvSpPr txBox="1"/>
          <p:nvPr/>
        </p:nvSpPr>
        <p:spPr>
          <a:xfrm>
            <a:off x="749808" y="5577840"/>
            <a:ext cx="2414016" cy="3200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listed facts promised, rest AUTO</a:t>
            </a:r>
          </a:p>
        </p:txBody>
      </p:sp>
      <p:sp>
        <p:nvSpPr>
          <p:cNvPr id="15" name="Rectangle 14"/>
          <p:cNvSpPr/>
          <p:nvPr/>
        </p:nvSpPr>
        <p:spPr>
          <a:xfrm>
            <a:off x="3602736" y="5166360"/>
            <a:ext cx="2743200" cy="777240"/>
          </a:xfrm>
          <a:prstGeom prst="rect">
            <a:avLst/>
          </a:prstGeom>
          <a:solidFill>
            <a:srgbClr val="F1F3F6"/>
          </a:solidFill>
          <a:ln>
            <a:noFill/>
          </a:ln>
        </p:spPr>
        <p:txBody>
          <a:bodyPr rtlCol="0" anchor="ctr"/>
          <a:lstStyle/>
          <a:p>
            <a:pPr algn="ctr"/>
          </a:p>
        </p:txBody>
      </p:sp>
      <p:sp>
        <p:nvSpPr>
          <p:cNvPr id="16" name="TextBox 15"/>
          <p:cNvSpPr txBox="1"/>
          <p:nvPr/>
        </p:nvSpPr>
        <p:spPr>
          <a:xfrm>
            <a:off x="3767328" y="5257800"/>
            <a:ext cx="2414016" cy="274320"/>
          </a:xfrm>
          <a:prstGeom prst="rect">
            <a:avLst/>
          </a:prstGeom>
          <a:noFill/>
        </p:spPr>
        <p:txBody>
          <a:bodyPr wrap="square" lIns="0" rIns="0" tIns="0" bIns="0" anchor="t">
            <a:noAutofit/>
          </a:bodyPr>
          <a:lstStyle/>
          <a:p>
            <a:pPr algn="l" marL="0" indent="0">
              <a:buNone/>
            </a:pPr>
            <a:r>
              <a:rPr sz="1300" b="1" i="0">
                <a:solidFill>
                  <a:srgbClr val="EB6834"/>
                </a:solidFill>
                <a:latin typeface="Courier New"/>
              </a:rPr>
              <a:t>Exactly</a:t>
            </a:r>
          </a:p>
        </p:txBody>
      </p:sp>
      <p:sp>
        <p:nvSpPr>
          <p:cNvPr id="17" name="TextBox 16"/>
          <p:cNvSpPr txBox="1"/>
          <p:nvPr/>
        </p:nvSpPr>
        <p:spPr>
          <a:xfrm>
            <a:off x="3767328" y="5577840"/>
            <a:ext cx="2414016" cy="320040"/>
          </a:xfrm>
          <a:prstGeom prst="rect">
            <a:avLst/>
          </a:prstGeom>
          <a:noFill/>
        </p:spPr>
        <p:txBody>
          <a:bodyPr wrap="square" lIns="0" rIns="0" tIns="0" bIns="0" anchor="t">
            <a:noAutofit/>
          </a:bodyPr>
          <a:lstStyle/>
          <a:p>
            <a:pPr algn="l" marL="0" indent="0">
              <a:buNone/>
            </a:pPr>
            <a:r>
              <a:rPr sz="1200" b="0" i="0">
                <a:solidFill>
                  <a:srgbClr val="4A4F57"/>
                </a:solidFill>
                <a:latin typeface="Calibri"/>
              </a:rPr>
              <a:t>listed facts promised, rest NEVER</a:t>
            </a:r>
          </a:p>
        </p:txBody>
      </p:sp>
      <p:sp>
        <p:nvSpPr>
          <p:cNvPr id="18" name="TextBox 17"/>
          <p:cNvSpPr txBox="1"/>
          <p:nvPr/>
        </p:nvSpPr>
        <p:spPr>
          <a:xfrm>
            <a:off x="6629400" y="1417320"/>
            <a:ext cx="4977079" cy="3017520"/>
          </a:xfrm>
          <a:prstGeom prst="rect">
            <a:avLst/>
          </a:prstGeom>
          <a:noFill/>
        </p:spPr>
        <p:txBody>
          <a:bodyPr wrap="square" lIns="0" rIns="0" tIns="0" bIns="0" anchor="t">
            <a:noAutofit/>
          </a:bodyPr>
          <a:lstStyle/>
          <a:p>
            <a:pPr algn="l" marL="201168" indent="-201168">
              <a:spcAft>
                <a:spcPts val="800"/>
              </a:spcAft>
              <a:buClr>
                <a:srgbClr val="7A7F87"/>
              </a:buClr>
              <a:buFont typeface="Arial"/>
              <a:buChar char="•"/>
            </a:pPr>
            <a:r>
              <a:rPr sz="1300" b="1" i="0">
                <a:solidFill>
                  <a:srgbClr val="4A4F57"/>
                </a:solidFill>
                <a:latin typeface="Calibri"/>
              </a:rPr>
              <a:t>Facts: </a:t>
            </a:r>
            <a:r>
              <a:rPr sz="1300" b="0" i="0">
                <a:solidFill>
                  <a:srgbClr val="4A4F57"/>
                </a:solidFill>
                <a:latin typeface="Calibri"/>
              </a:rPr>
              <a:t>EqualTo(1), Aligned(16), PointerRange(32); a torch.Tensor annotation makes the argument tensor-only.</a:t>
            </a:r>
          </a:p>
          <a:p>
            <a:pPr algn="l" marL="201168" indent="-201168">
              <a:spcAft>
                <a:spcPts val="800"/>
              </a:spcAft>
              <a:buClr>
                <a:srgbClr val="7A7F87"/>
              </a:buClr>
              <a:buFont typeface="Arial"/>
              <a:buChar char="•"/>
            </a:pPr>
            <a:r>
              <a:rPr sz="1300" b="1" i="0">
                <a:solidFill>
                  <a:srgbClr val="4A4F57"/>
                </a:solidFill>
                <a:latin typeface="Calibri"/>
              </a:rPr>
              <a:t>Smaller key: </a:t>
            </a:r>
            <a:r>
              <a:rPr sz="1300" b="0" i="0">
                <a:solidFill>
                  <a:srgbClr val="4A4F57"/>
                </a:solidFill>
                <a:latin typeface="Calibri"/>
              </a:rPr>
              <a:t>Exactly and NEVER add 0 key bytes; baked and bound values leave the call.</a:t>
            </a:r>
          </a:p>
          <a:p>
            <a:pPr algn="l" marL="201168" indent="-201168">
              <a:spcAft>
                <a:spcPts val="800"/>
              </a:spcAft>
              <a:buClr>
                <a:srgbClr val="7A7F87"/>
              </a:buClr>
              <a:buFont typeface="Arial"/>
              <a:buChar char="•"/>
            </a:pPr>
            <a:r>
              <a:rPr sz="1300" b="1" i="0">
                <a:solidFill>
                  <a:srgbClr val="4A4F57"/>
                </a:solidFill>
                <a:latin typeface="Calibri"/>
              </a:rPr>
              <a:t>Power of two or zero: </a:t>
            </a:r>
            <a:r>
              <a:rPr sz="1300" b="0" i="0">
                <a:solidFill>
                  <a:srgbClr val="4A4F57"/>
                </a:solidFill>
                <a:latin typeface="Calibri"/>
              </a:rPr>
              <a:t>Constexpr(power_of_two_or_zero=True) keys a BLOCK-style constexpr in 1 byte, not an 8-byte word: 0 → 0, 2**k → k+1, −2**k → 0x80 | (k+1).</a:t>
            </a:r>
          </a:p>
          <a:p>
            <a:pPr algn="l" marL="201168" indent="-201168">
              <a:spcAft>
                <a:spcPts val="800"/>
              </a:spcAft>
              <a:buClr>
                <a:srgbClr val="7A7F87"/>
              </a:buClr>
              <a:buFont typeface="Arial"/>
              <a:buChar char="•"/>
            </a:pPr>
            <a:r>
              <a:rPr sz="1300" b="1" i="0">
                <a:solidFill>
                  <a:srgbClr val="4A4F57"/>
                </a:solidFill>
                <a:latin typeface="Calibri"/>
              </a:rPr>
              <a:t>Exact binaries: </a:t>
            </a:r>
            <a:r>
              <a:rPr sz="1300" b="0" i="0">
                <a:solidFill>
                  <a:srgbClr val="4A4F57"/>
                </a:solidFill>
                <a:latin typeface="Calibri"/>
              </a:rPr>
              <a:t>AITER's pa_mqa_logits needs 6 Triton compiles instead of 15, identical HSACO on gfx942 and gfx950.</a:t>
            </a:r>
          </a:p>
          <a:p>
            <a:pPr algn="l" marL="201168" indent="-201168">
              <a:buClr>
                <a:srgbClr val="7A7F87"/>
              </a:buClr>
              <a:buFont typeface="Arial"/>
              <a:buChar char="•"/>
            </a:pPr>
            <a:r>
              <a:rPr sz="1300" b="1" i="0">
                <a:solidFill>
                  <a:srgbClr val="4A4F57"/>
                </a:solidFill>
                <a:latin typeface="Calibri"/>
              </a:rPr>
              <a:t>Price, trust: </a:t>
            </a:r>
            <a:r>
              <a:rPr sz="1300" b="0" i="0">
                <a:solidFill>
                  <a:srgbClr val="4A4F57"/>
                </a:solidFill>
                <a:latin typeface="Calibri"/>
              </a:rPr>
              <a:t>a false promise selects the wrong binary unless verify_annotation=True. Upstream's Aligned(16) on a stride of 36 was one.</a:t>
            </a:r>
          </a:p>
        </p:txBody>
      </p:sp>
      <p:sp>
        <p:nvSpPr>
          <p:cNvPr id="19" name="TextBox 18"/>
          <p:cNvSpPr txBox="1"/>
          <p:nvPr/>
        </p:nvSpPr>
        <p:spPr>
          <a:xfrm>
            <a:off x="6629400" y="4572000"/>
            <a:ext cx="4977079" cy="274320"/>
          </a:xfrm>
          <a:prstGeom prst="rect">
            <a:avLst/>
          </a:prstGeom>
          <a:noFill/>
        </p:spPr>
        <p:txBody>
          <a:bodyPr wrap="square" lIns="0" rIns="0" tIns="0" bIns="0" anchor="t">
            <a:noAutofit/>
          </a:bodyPr>
          <a:lstStyle/>
          <a:p>
            <a:pPr algn="l" marL="0" indent="0">
              <a:buNone/>
            </a:pPr>
            <a:r>
              <a:rPr sz="1200" b="1" i="0">
                <a:solidFill>
                  <a:srgbClr val="1B1F24"/>
                </a:solidFill>
                <a:latin typeface="Calibri"/>
              </a:rPr>
              <a:t>Host-only ns per call, MI308X</a:t>
            </a:r>
          </a:p>
        </p:txBody>
      </p:sp>
      <p:graphicFrame>
        <p:nvGraphicFramePr>
          <p:cNvPr id="20" name="Table 19"/>
          <p:cNvGraphicFramePr>
            <a:graphicFrameLocks noGrp="1"/>
          </p:cNvGraphicFramePr>
          <p:nvPr/>
        </p:nvGraphicFramePr>
        <p:xfrm>
          <a:off x="6629400" y="4892040"/>
          <a:ext cx="4977079" cy="768096"/>
        </p:xfrm>
        <a:graphic>
          <a:graphicData uri="http://schemas.openxmlformats.org/drawingml/2006/table">
            <a:tbl>
              <a:tblPr firstRow="1" bandRow="1">
                <a:tableStyleId>{2D5ABB26-0587-4C30-8999-92F81FD0307C}</a:tableStyleId>
              </a:tblPr>
              <a:tblGrid>
                <a:gridCol w="960120"/>
                <a:gridCol w="960120"/>
                <a:gridCol w="1600200"/>
                <a:gridCol w="1456639"/>
              </a:tblGrid>
              <a:tr h="384048">
                <a:tc>
                  <a:txBody>
                    <a:bodyPr wrap="square" lIns="0" rIns="0" tIns="0" bIns="0" anchor="ctr">
                      <a:noAutofit/>
                    </a:bodyPr>
                    <a:lstStyle/>
                    <a:p>
                      <a:pPr algn="ctr" marL="0" indent="0">
                        <a:buNone/>
                      </a:pPr>
                      <a:r>
                        <a:rPr sz="1200" b="1" i="0">
                          <a:solidFill>
                            <a:srgbClr val="1B1F24"/>
                          </a:solidFill>
                          <a:latin typeface="Calibri"/>
                        </a:rPr>
                        <a:t>none</a:t>
                      </a:r>
                    </a:p>
                  </a:txBody>
                  <a:tcPr marL="73152" marR="73152" marT="27432" marB="27432">
                    <a:solidFill>
                      <a:srgbClr val="E1E5EA"/>
                    </a:solidFill>
                  </a:tcPr>
                </a:tc>
                <a:tc>
                  <a:txBody>
                    <a:bodyPr wrap="square" lIns="0" rIns="0" tIns="0" bIns="0" anchor="ctr">
                      <a:noAutofit/>
                    </a:bodyPr>
                    <a:lstStyle/>
                    <a:p>
                      <a:pPr algn="ctr" marL="0" indent="0">
                        <a:buNone/>
                      </a:pPr>
                      <a:r>
                        <a:rPr sz="1200" b="1" i="0">
                          <a:solidFill>
                            <a:srgbClr val="1B1F24"/>
                          </a:solidFill>
                          <a:latin typeface="Calibri"/>
                        </a:rPr>
                        <a:t>baked</a:t>
                      </a:r>
                    </a:p>
                  </a:txBody>
                  <a:tcPr marL="73152" marR="73152" marT="27432" marB="27432">
                    <a:solidFill>
                      <a:srgbClr val="E1E5EA"/>
                    </a:solidFill>
                  </a:tcPr>
                </a:tc>
                <a:tc>
                  <a:txBody>
                    <a:bodyPr wrap="square" lIns="0" rIns="0" tIns="0" bIns="0" anchor="ctr">
                      <a:noAutofit/>
                    </a:bodyPr>
                    <a:lstStyle/>
                    <a:p>
                      <a:pPr algn="ctr" marL="0" indent="0">
                        <a:buNone/>
                      </a:pPr>
                      <a:r>
                        <a:rPr sz="1200" b="1" i="0">
                          <a:solidFill>
                            <a:srgbClr val="1B1F24"/>
                          </a:solidFill>
                          <a:latin typeface="Calibri"/>
                        </a:rPr>
                        <a:t>tensor-annotated</a:t>
                      </a:r>
                    </a:p>
                  </a:txBody>
                  <a:tcPr marL="73152" marR="73152" marT="27432" marB="27432">
                    <a:solidFill>
                      <a:srgbClr val="E1E5EA"/>
                    </a:solidFill>
                  </a:tcPr>
                </a:tc>
                <a:tc>
                  <a:txBody>
                    <a:bodyPr wrap="square" lIns="0" rIns="0" tIns="0" bIns="0" anchor="ctr">
                      <a:noAutofit/>
                    </a:bodyPr>
                    <a:lstStyle/>
                    <a:p>
                      <a:pPr algn="ctr" marL="0" indent="0">
                        <a:buNone/>
                      </a:pPr>
                      <a:r>
                        <a:rPr sz="1200" b="1" i="0">
                          <a:solidFill>
                            <a:srgbClr val="1B1F24"/>
                          </a:solidFill>
                          <a:latin typeface="Calibri"/>
                        </a:rPr>
                        <a:t>typed int</a:t>
                      </a:r>
                    </a:p>
                  </a:txBody>
                  <a:tcPr marL="73152" marR="73152" marT="27432" marB="27432">
                    <a:solidFill>
                      <a:srgbClr val="E1E5EA"/>
                    </a:solidFill>
                  </a:tcPr>
                </a:tc>
              </a:tr>
              <a:tr h="384048">
                <a:tc>
                  <a:txBody>
                    <a:bodyPr wrap="square" lIns="0" rIns="0" tIns="0" bIns="0" anchor="ctr">
                      <a:noAutofit/>
                    </a:bodyPr>
                    <a:lstStyle/>
                    <a:p>
                      <a:pPr algn="ctr" marL="0" indent="0">
                        <a:buNone/>
                      </a:pPr>
                      <a:r>
                        <a:rPr sz="1200" b="0" i="0">
                          <a:solidFill>
                            <a:srgbClr val="1B1F24"/>
                          </a:solidFill>
                          <a:latin typeface="Calibri"/>
                        </a:rPr>
                        <a:t>39.8</a:t>
                      </a:r>
                    </a:p>
                  </a:txBody>
                  <a:tcPr marL="73152" marR="73152" marT="27432" marB="27432">
                    <a:solidFill>
                      <a:srgbClr val="F1F3F6"/>
                    </a:solidFill>
                  </a:tcPr>
                </a:tc>
                <a:tc>
                  <a:txBody>
                    <a:bodyPr wrap="square" lIns="0" rIns="0" tIns="0" bIns="0" anchor="ctr">
                      <a:noAutofit/>
                    </a:bodyPr>
                    <a:lstStyle/>
                    <a:p>
                      <a:pPr algn="ctr" marL="0" indent="0">
                        <a:buNone/>
                      </a:pPr>
                      <a:r>
                        <a:rPr sz="1200" b="1" i="0">
                          <a:solidFill>
                            <a:srgbClr val="EB6834"/>
                          </a:solidFill>
                          <a:latin typeface="Calibri"/>
                        </a:rPr>
                        <a:t>37.5</a:t>
                      </a:r>
                    </a:p>
                  </a:txBody>
                  <a:tcPr marL="73152" marR="73152" marT="27432" marB="27432">
                    <a:solidFill>
                      <a:srgbClr val="F1F3F6"/>
                    </a:solidFill>
                  </a:tcPr>
                </a:tc>
                <a:tc>
                  <a:txBody>
                    <a:bodyPr wrap="square" lIns="0" rIns="0" tIns="0" bIns="0" anchor="ctr">
                      <a:noAutofit/>
                    </a:bodyPr>
                    <a:lstStyle/>
                    <a:p>
                      <a:pPr algn="ctr" marL="0" indent="0">
                        <a:buNone/>
                      </a:pPr>
                      <a:r>
                        <a:rPr sz="1200" b="0" i="0">
                          <a:solidFill>
                            <a:srgbClr val="1B1F24"/>
                          </a:solidFill>
                          <a:latin typeface="Calibri"/>
                        </a:rPr>
                        <a:t>39.4</a:t>
                      </a:r>
                    </a:p>
                  </a:txBody>
                  <a:tcPr marL="73152" marR="73152" marT="27432" marB="27432">
                    <a:solidFill>
                      <a:srgbClr val="F1F3F6"/>
                    </a:solidFill>
                  </a:tcPr>
                </a:tc>
                <a:tc>
                  <a:txBody>
                    <a:bodyPr wrap="square" lIns="0" rIns="0" tIns="0" bIns="0" anchor="ctr">
                      <a:noAutofit/>
                    </a:bodyPr>
                    <a:lstStyle/>
                    <a:p>
                      <a:pPr algn="ctr" marL="0" indent="0">
                        <a:buNone/>
                      </a:pPr>
                      <a:r>
                        <a:rPr sz="1200" b="0" i="0">
                          <a:solidFill>
                            <a:srgbClr val="1B1F24"/>
                          </a:solidFill>
                          <a:latin typeface="Calibri"/>
                        </a:rPr>
                        <a:t>43.7</a:t>
                      </a:r>
                    </a:p>
                  </a:txBody>
                  <a:tcPr marL="73152" marR="73152" marT="27432" marB="27432">
                    <a:solidFill>
                      <a:srgbClr val="F1F3F6"/>
                    </a:solidFill>
                  </a:tcPr>
                </a:tc>
              </a:tr>
            </a:tbl>
          </a:graphicData>
        </a:graphic>
      </p:graphicFrame>
      <p:sp>
        <p:nvSpPr>
          <p:cNvPr id="21" name="TextBox 20"/>
          <p:cNvSpPr txBox="1"/>
          <p:nvPr/>
        </p:nvSpPr>
        <p:spPr>
          <a:xfrm>
            <a:off x="6629400" y="5760720"/>
            <a:ext cx="4977079" cy="411480"/>
          </a:xfrm>
          <a:prstGeom prst="rect">
            <a:avLst/>
          </a:prstGeom>
          <a:noFill/>
        </p:spPr>
        <p:txBody>
          <a:bodyPr wrap="square" lIns="0" rIns="0" tIns="0" bIns="0" anchor="t">
            <a:noAutofit/>
          </a:bodyPr>
          <a:lstStyle/>
          <a:p>
            <a:pPr algn="l" marL="0" indent="0">
              <a:buNone/>
            </a:pPr>
            <a:r>
              <a:rPr sz="1200" b="0" i="1">
                <a:solidFill>
                  <a:srgbClr val="7A7F87"/>
                </a:solidFill>
                <a:latin typeface="Calibri"/>
              </a:rPr>
              <a:t>Host time is about neutral; the win is the key and the binaries.</a:t>
            </a:r>
          </a:p>
        </p:txBody>
      </p:sp>
      <p:sp>
        <p:nvSpPr>
          <p:cNvPr id="22" name="TextBox 21"/>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docs/Usage.md, intj/annotation.py, tests/test_annotation.py, benchmarks/journals/2026-10-14_full-suite_0_bc8caf7.md, aiter docs/intj_launch_exceptions.md.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85216" y="502920"/>
            <a:ext cx="11018520" cy="548640"/>
          </a:xfrm>
        </p:spPr>
        <p:txBody>
          <a:bodyPr wrap="square" lIns="0" rIns="0" tIns="0" bIns="0" anchor="t">
            <a:noAutofit/>
          </a:bodyPr>
          <a:lstStyle/>
          <a:p>
            <a:pPr algn="l" marL="0" indent="0">
              <a:buNone/>
            </a:pPr>
            <a:r>
              <a:rPr sz="2800" b="1" i="0">
                <a:solidFill>
                  <a:srgbClr val="1B1F24"/>
                </a:solidFill>
                <a:latin typeface="Arial"/>
              </a:rPr>
              <a:t>Discussion: next steps</a:t>
            </a:r>
          </a:p>
        </p:txBody>
      </p:sp>
      <p:sp>
        <p:nvSpPr>
          <p:cNvPr id="3" name="TextBox 2"/>
          <p:cNvSpPr txBox="1"/>
          <p:nvPr/>
        </p:nvSpPr>
        <p:spPr>
          <a:xfrm>
            <a:off x="11057839" y="6336792"/>
            <a:ext cx="548640" cy="228600"/>
          </a:xfrm>
          <a:prstGeom prst="rect">
            <a:avLst/>
          </a:prstGeom>
          <a:noFill/>
        </p:spPr>
        <p:txBody>
          <a:bodyPr wrap="square" lIns="0" rIns="0" tIns="0" bIns="0" anchor="ctr">
            <a:noAutofit/>
          </a:bodyPr>
          <a:lstStyle/>
          <a:p>
            <a:pPr algn="r" marL="0" indent="0">
              <a:buNone/>
            </a:pPr>
            <a:r>
              <a:rPr sz="1000" b="0" i="0">
                <a:solidFill>
                  <a:srgbClr val="7A7F87"/>
                </a:solidFill>
                <a:latin typeface="Calibri"/>
              </a:rPr>
              <a:t>23</a:t>
            </a:r>
          </a:p>
        </p:txBody>
      </p:sp>
      <p:sp>
        <p:nvSpPr>
          <p:cNvPr id="4" name="Rectangle 3"/>
          <p:cNvSpPr/>
          <p:nvPr/>
        </p:nvSpPr>
        <p:spPr>
          <a:xfrm>
            <a:off x="585216" y="1463040"/>
            <a:ext cx="5326380" cy="45720"/>
          </a:xfrm>
          <a:prstGeom prst="rect">
            <a:avLst/>
          </a:prstGeom>
          <a:solidFill>
            <a:srgbClr val="EB6834"/>
          </a:solidFill>
          <a:ln>
            <a:noFill/>
          </a:ln>
        </p:spPr>
        <p:txBody>
          <a:bodyPr rtlCol="0" anchor="ctr"/>
          <a:lstStyle/>
          <a:p>
            <a:pPr algn="ctr"/>
          </a:p>
        </p:txBody>
      </p:sp>
      <p:sp>
        <p:nvSpPr>
          <p:cNvPr id="5" name="Rectangle 4"/>
          <p:cNvSpPr/>
          <p:nvPr/>
        </p:nvSpPr>
        <p:spPr>
          <a:xfrm>
            <a:off x="585216" y="1508760"/>
            <a:ext cx="5326380" cy="685800"/>
          </a:xfrm>
          <a:prstGeom prst="rect">
            <a:avLst/>
          </a:prstGeom>
          <a:solidFill>
            <a:srgbClr val="E1E5EA"/>
          </a:solidFill>
          <a:ln>
            <a:noFill/>
          </a:ln>
        </p:spPr>
        <p:txBody>
          <a:bodyPr rtlCol="0" anchor="ctr"/>
          <a:lstStyle/>
          <a:p>
            <a:pPr algn="ctr"/>
          </a:p>
        </p:txBody>
      </p:sp>
      <p:sp>
        <p:nvSpPr>
          <p:cNvPr id="6" name="Rectangle 5"/>
          <p:cNvSpPr/>
          <p:nvPr/>
        </p:nvSpPr>
        <p:spPr>
          <a:xfrm>
            <a:off x="585216" y="2194560"/>
            <a:ext cx="5326380" cy="2286000"/>
          </a:xfrm>
          <a:prstGeom prst="rect">
            <a:avLst/>
          </a:prstGeom>
          <a:solidFill>
            <a:srgbClr val="F1F3F6"/>
          </a:solidFill>
          <a:ln>
            <a:noFill/>
          </a:ln>
        </p:spPr>
        <p:txBody>
          <a:bodyPr rtlCol="0" anchor="ctr"/>
          <a:lstStyle/>
          <a:p>
            <a:pPr algn="ctr"/>
          </a:p>
        </p:txBody>
      </p:sp>
      <p:sp>
        <p:nvSpPr>
          <p:cNvPr id="7" name="TextBox 6"/>
          <p:cNvSpPr txBox="1"/>
          <p:nvPr/>
        </p:nvSpPr>
        <p:spPr>
          <a:xfrm>
            <a:off x="768096" y="1508760"/>
            <a:ext cx="4960620" cy="685800"/>
          </a:xfrm>
          <a:prstGeom prst="rect">
            <a:avLst/>
          </a:prstGeom>
          <a:noFill/>
        </p:spPr>
        <p:txBody>
          <a:bodyPr wrap="square" lIns="0" rIns="0" tIns="0" bIns="0" anchor="ctr">
            <a:noAutofit/>
          </a:bodyPr>
          <a:lstStyle/>
          <a:p>
            <a:pPr algn="l" marL="0" indent="0">
              <a:buNone/>
            </a:pPr>
            <a:r>
              <a:rPr sz="1500" b="1" i="0">
                <a:solidFill>
                  <a:srgbClr val="1B1F24"/>
                </a:solidFill>
                <a:latin typeface="Calibri"/>
              </a:rPr>
              <a:t/>
            </a:r>
          </a:p>
        </p:txBody>
      </p:sp>
      <p:sp>
        <p:nvSpPr>
          <p:cNvPr id="8" name="Oval 7"/>
          <p:cNvSpPr/>
          <p:nvPr/>
        </p:nvSpPr>
        <p:spPr>
          <a:xfrm>
            <a:off x="813816" y="1618488"/>
            <a:ext cx="457200" cy="457200"/>
          </a:xfrm>
          <a:prstGeom prst="ellipse">
            <a:avLst/>
          </a:prstGeom>
          <a:solidFill>
            <a:srgbClr val="EB6834"/>
          </a:solidFill>
          <a:ln>
            <a:noFill/>
          </a:ln>
        </p:spPr>
        <p:txBody>
          <a:bodyPr rtlCol="0" anchor="ctr" wrap="square" lIns="0" rIns="0" tIns="0" bIns="0">
            <a:noAutofit/>
          </a:bodyPr>
          <a:lstStyle/>
          <a:p>
            <a:pPr algn="ctr" marL="0" indent="0">
              <a:buNone/>
            </a:pPr>
            <a:r>
              <a:rPr sz="1600" b="1" i="0">
                <a:solidFill>
                  <a:srgbClr val="1B1F24"/>
                </a:solidFill>
                <a:latin typeface="Calibri"/>
              </a:rPr>
              <a:t>1</a:t>
            </a:r>
          </a:p>
        </p:txBody>
      </p:sp>
      <p:sp>
        <p:nvSpPr>
          <p:cNvPr id="9" name="TextBox 8"/>
          <p:cNvSpPr txBox="1"/>
          <p:nvPr/>
        </p:nvSpPr>
        <p:spPr>
          <a:xfrm>
            <a:off x="1453895" y="1508760"/>
            <a:ext cx="4229100" cy="685800"/>
          </a:xfrm>
          <a:prstGeom prst="rect">
            <a:avLst/>
          </a:prstGeom>
          <a:noFill/>
        </p:spPr>
        <p:txBody>
          <a:bodyPr wrap="square" lIns="0" rIns="0" tIns="0" bIns="0" anchor="ctr">
            <a:noAutofit/>
          </a:bodyPr>
          <a:lstStyle/>
          <a:p>
            <a:pPr algn="l" marL="0" indent="0">
              <a:buNone/>
            </a:pPr>
            <a:r>
              <a:rPr sz="2000" b="1" i="0">
                <a:solidFill>
                  <a:srgbClr val="1B1F24"/>
                </a:solidFill>
                <a:latin typeface="Calibri"/>
              </a:rPr>
              <a:t>Merge the AITER PR</a:t>
            </a:r>
          </a:p>
        </p:txBody>
      </p:sp>
      <p:sp>
        <p:nvSpPr>
          <p:cNvPr id="10" name="TextBox 9"/>
          <p:cNvSpPr txBox="1"/>
          <p:nvPr/>
        </p:nvSpPr>
        <p:spPr>
          <a:xfrm>
            <a:off x="859536" y="2468880"/>
            <a:ext cx="4777740" cy="1920239"/>
          </a:xfrm>
          <a:prstGeom prst="rect">
            <a:avLst/>
          </a:prstGeom>
          <a:noFill/>
        </p:spPr>
        <p:txBody>
          <a:bodyPr wrap="square" lIns="0" rIns="0" tIns="0" bIns="0" anchor="t">
            <a:noAutofit/>
          </a:bodyPr>
          <a:lstStyle/>
          <a:p>
            <a:pPr algn="l" marL="201168" indent="-201168">
              <a:spcAft>
                <a:spcPts val="1000"/>
              </a:spcAft>
              <a:buClr>
                <a:srgbClr val="7A7F87"/>
              </a:buClr>
              <a:buFont typeface="Arial"/>
              <a:buChar char="•"/>
            </a:pPr>
            <a:r>
              <a:rPr sz="1500" b="0" i="0">
                <a:solidFill>
                  <a:srgbClr val="4A4F57"/>
                </a:solidFill>
                <a:latin typeface="Calibri"/>
              </a:rPr>
              <a:t>Branch codex/intj-all-launches onto ROCm/aiter main: 109 commits, 426 launchers across 200 files.</a:t>
            </a:r>
          </a:p>
          <a:p>
            <a:pPr algn="l" marL="201168" indent="-201168">
              <a:spcAft>
                <a:spcPts val="1000"/>
              </a:spcAft>
              <a:buClr>
                <a:srgbClr val="7A7F87"/>
              </a:buClr>
              <a:buFont typeface="Arial"/>
              <a:buChar char="•"/>
            </a:pPr>
            <a:r>
              <a:rPr sz="1500" b="0" i="0">
                <a:solidFill>
                  <a:srgbClr val="4A4F57"/>
                </a:solidFill>
                <a:latin typeface="Calibri"/>
              </a:rPr>
              <a:t>247 kernels checked bitwise equal against Triton.</a:t>
            </a:r>
          </a:p>
          <a:p>
            <a:pPr algn="l" marL="201168" indent="-201168">
              <a:buClr>
                <a:srgbClr val="7A7F87"/>
              </a:buClr>
              <a:buFont typeface="Arial"/>
              <a:buChar char="•"/>
            </a:pPr>
            <a:r>
              <a:rPr sz="1500" b="0" i="0">
                <a:solidFill>
                  <a:srgbClr val="4A4F57"/>
                </a:solidFill>
                <a:latin typeface="Calibri"/>
              </a:rPr>
              <a:t>11 launches stay on Triton: num_ctas &gt; 1, Iris, torch.compile, PDL.</a:t>
            </a:r>
          </a:p>
        </p:txBody>
      </p:sp>
      <p:sp>
        <p:nvSpPr>
          <p:cNvPr id="11" name="Rectangle 10"/>
          <p:cNvSpPr/>
          <p:nvPr/>
        </p:nvSpPr>
        <p:spPr>
          <a:xfrm>
            <a:off x="6277356" y="1463040"/>
            <a:ext cx="5326380" cy="45720"/>
          </a:xfrm>
          <a:prstGeom prst="rect">
            <a:avLst/>
          </a:prstGeom>
          <a:solidFill>
            <a:srgbClr val="6B7079"/>
          </a:solidFill>
          <a:ln>
            <a:noFill/>
          </a:ln>
        </p:spPr>
        <p:txBody>
          <a:bodyPr rtlCol="0" anchor="ctr"/>
          <a:lstStyle/>
          <a:p>
            <a:pPr algn="ctr"/>
          </a:p>
        </p:txBody>
      </p:sp>
      <p:sp>
        <p:nvSpPr>
          <p:cNvPr id="12" name="Rectangle 11"/>
          <p:cNvSpPr/>
          <p:nvPr/>
        </p:nvSpPr>
        <p:spPr>
          <a:xfrm>
            <a:off x="6277356" y="1508760"/>
            <a:ext cx="5326380" cy="685800"/>
          </a:xfrm>
          <a:prstGeom prst="rect">
            <a:avLst/>
          </a:prstGeom>
          <a:solidFill>
            <a:srgbClr val="E1E5EA"/>
          </a:solidFill>
          <a:ln>
            <a:noFill/>
          </a:ln>
        </p:spPr>
        <p:txBody>
          <a:bodyPr rtlCol="0" anchor="ctr"/>
          <a:lstStyle/>
          <a:p>
            <a:pPr algn="ctr"/>
          </a:p>
        </p:txBody>
      </p:sp>
      <p:sp>
        <p:nvSpPr>
          <p:cNvPr id="13" name="Rectangle 12"/>
          <p:cNvSpPr/>
          <p:nvPr/>
        </p:nvSpPr>
        <p:spPr>
          <a:xfrm>
            <a:off x="6277356" y="2194560"/>
            <a:ext cx="5326380" cy="2286000"/>
          </a:xfrm>
          <a:prstGeom prst="rect">
            <a:avLst/>
          </a:prstGeom>
          <a:solidFill>
            <a:srgbClr val="F1F3F6"/>
          </a:solidFill>
          <a:ln>
            <a:noFill/>
          </a:ln>
        </p:spPr>
        <p:txBody>
          <a:bodyPr rtlCol="0" anchor="ctr"/>
          <a:lstStyle/>
          <a:p>
            <a:pPr algn="ctr"/>
          </a:p>
        </p:txBody>
      </p:sp>
      <p:sp>
        <p:nvSpPr>
          <p:cNvPr id="14" name="TextBox 13"/>
          <p:cNvSpPr txBox="1"/>
          <p:nvPr/>
        </p:nvSpPr>
        <p:spPr>
          <a:xfrm>
            <a:off x="6460236" y="1508760"/>
            <a:ext cx="4960620" cy="685800"/>
          </a:xfrm>
          <a:prstGeom prst="rect">
            <a:avLst/>
          </a:prstGeom>
          <a:noFill/>
        </p:spPr>
        <p:txBody>
          <a:bodyPr wrap="square" lIns="0" rIns="0" tIns="0" bIns="0" anchor="ctr">
            <a:noAutofit/>
          </a:bodyPr>
          <a:lstStyle/>
          <a:p>
            <a:pPr algn="l" marL="0" indent="0">
              <a:buNone/>
            </a:pPr>
            <a:r>
              <a:rPr sz="1500" b="1" i="0">
                <a:solidFill>
                  <a:srgbClr val="1B1F24"/>
                </a:solidFill>
                <a:latin typeface="Calibri"/>
              </a:rPr>
              <a:t/>
            </a:r>
          </a:p>
        </p:txBody>
      </p:sp>
      <p:sp>
        <p:nvSpPr>
          <p:cNvPr id="15" name="Oval 14"/>
          <p:cNvSpPr/>
          <p:nvPr/>
        </p:nvSpPr>
        <p:spPr>
          <a:xfrm>
            <a:off x="6505956" y="1618488"/>
            <a:ext cx="457200" cy="457200"/>
          </a:xfrm>
          <a:prstGeom prst="ellipse">
            <a:avLst/>
          </a:prstGeom>
          <a:solidFill>
            <a:srgbClr val="EB6834"/>
          </a:solidFill>
          <a:ln>
            <a:noFill/>
          </a:ln>
        </p:spPr>
        <p:txBody>
          <a:bodyPr rtlCol="0" anchor="ctr" wrap="square" lIns="0" rIns="0" tIns="0" bIns="0">
            <a:noAutofit/>
          </a:bodyPr>
          <a:lstStyle/>
          <a:p>
            <a:pPr algn="ctr" marL="0" indent="0">
              <a:buNone/>
            </a:pPr>
            <a:r>
              <a:rPr sz="1600" b="1" i="0">
                <a:solidFill>
                  <a:srgbClr val="1B1F24"/>
                </a:solidFill>
                <a:latin typeface="Calibri"/>
              </a:rPr>
              <a:t>2</a:t>
            </a:r>
          </a:p>
        </p:txBody>
      </p:sp>
      <p:sp>
        <p:nvSpPr>
          <p:cNvPr id="16" name="TextBox 15"/>
          <p:cNvSpPr txBox="1"/>
          <p:nvPr/>
        </p:nvSpPr>
        <p:spPr>
          <a:xfrm>
            <a:off x="7146036" y="1508760"/>
            <a:ext cx="4229100" cy="685800"/>
          </a:xfrm>
          <a:prstGeom prst="rect">
            <a:avLst/>
          </a:prstGeom>
          <a:noFill/>
        </p:spPr>
        <p:txBody>
          <a:bodyPr wrap="square" lIns="0" rIns="0" tIns="0" bIns="0" anchor="ctr">
            <a:noAutofit/>
          </a:bodyPr>
          <a:lstStyle/>
          <a:p>
            <a:pPr algn="l" marL="0" indent="0">
              <a:buNone/>
            </a:pPr>
            <a:r>
              <a:rPr sz="2000" b="1" i="0">
                <a:solidFill>
                  <a:srgbClr val="1B1F24"/>
                </a:solidFill>
                <a:latin typeface="Calibri"/>
              </a:rPr>
              <a:t>Better docs and source code</a:t>
            </a:r>
          </a:p>
        </p:txBody>
      </p:sp>
      <p:sp>
        <p:nvSpPr>
          <p:cNvPr id="17" name="TextBox 16"/>
          <p:cNvSpPr txBox="1"/>
          <p:nvPr/>
        </p:nvSpPr>
        <p:spPr>
          <a:xfrm>
            <a:off x="6551676" y="2468880"/>
            <a:ext cx="4777740" cy="1920239"/>
          </a:xfrm>
          <a:prstGeom prst="rect">
            <a:avLst/>
          </a:prstGeom>
          <a:noFill/>
        </p:spPr>
        <p:txBody>
          <a:bodyPr wrap="square" lIns="0" rIns="0" tIns="0" bIns="0" anchor="t">
            <a:noAutofit/>
          </a:bodyPr>
          <a:lstStyle/>
          <a:p>
            <a:pPr algn="l" marL="201168" indent="-201168">
              <a:spcAft>
                <a:spcPts val="1000"/>
              </a:spcAft>
              <a:buClr>
                <a:srgbClr val="7A7F87"/>
              </a:buClr>
              <a:buFont typeface="Arial"/>
              <a:buChar char="•"/>
            </a:pPr>
            <a:r>
              <a:rPr sz="1500" b="0" i="0">
                <a:solidFill>
                  <a:srgbClr val="4A4F57"/>
                </a:solidFill>
                <a:latin typeface="Calibri"/>
              </a:rPr>
              <a:t>intj is 12.5K lines of source plus 12.9K of tests, mostly agent-generated.</a:t>
            </a:r>
          </a:p>
          <a:p>
            <a:pPr algn="l" marL="201168" indent="-201168">
              <a:spcAft>
                <a:spcPts val="1000"/>
              </a:spcAft>
              <a:buClr>
                <a:srgbClr val="7A7F87"/>
              </a:buClr>
              <a:buFont typeface="Arial"/>
              <a:buChar char="•"/>
            </a:pPr>
            <a:r>
              <a:rPr sz="1500" b="0" i="0">
                <a:solidFill>
                  <a:srgbClr val="4A4F57"/>
                </a:solidFill>
                <a:latin typeface="Calibri"/>
              </a:rPr>
              <a:t>Docs a newcomer can follow from first launch to annotation.</a:t>
            </a:r>
          </a:p>
          <a:p>
            <a:pPr algn="l" marL="201168" indent="-201168">
              <a:buClr>
                <a:srgbClr val="7A7F87"/>
              </a:buClr>
              <a:buFont typeface="Arial"/>
              <a:buChar char="•"/>
            </a:pPr>
            <a:r>
              <a:rPr sz="1500" b="0" i="0">
                <a:solidFill>
                  <a:srgbClr val="4A4F57"/>
                </a:solidFill>
                <a:latin typeface="Calibri"/>
              </a:rPr>
              <a:t>Source a human reviewer can read and own.</a:t>
            </a:r>
          </a:p>
        </p:txBody>
      </p:sp>
      <p:sp>
        <p:nvSpPr>
          <p:cNvPr id="18" name="TextBox 17"/>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7A7F87"/>
                </a:solidFill>
                <a:latin typeface="Calibri"/>
              </a:rPr>
              <a:t>Source: AITER adoption slide (aiter 874d253dd3..5d710e670); git ls-files intj / tests | xargs wc -l.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